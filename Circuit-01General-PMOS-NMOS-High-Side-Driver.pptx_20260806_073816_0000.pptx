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7"/>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Crimson Pro" charset="1" panose="00000000000000000000"/>
      <p:regular r:id="rId30"/>
    </p:embeddedFont>
    <p:embeddedFont>
      <p:font typeface="Heebo" charset="1" panose="00000500000000000000"/>
      <p:regular r:id="rId31"/>
    </p:embeddedFont>
    <p:embeddedFont>
      <p:font typeface="Heebo Bold" charset="1" panose="00000800000000000000"/>
      <p:regular r:id="rId32"/>
    </p:embeddedFont>
    <p:embeddedFont>
      <p:font typeface="Consolas" charset="1" panose="020B0609020204030204"/>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notesMasters/notesMaster1.xml" Type="http://schemas.openxmlformats.org/officeDocument/2006/relationships/notesMaster"/><Relationship Id="rId28" Target="theme/theme2.xml" Type="http://schemas.openxmlformats.org/officeDocument/2006/relationships/theme"/><Relationship Id="rId29" Target="notesSlides/notesSlide1.xml" Type="http://schemas.openxmlformats.org/officeDocument/2006/relationships/note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notesSlides/notesSlide2.xml" Type="http://schemas.openxmlformats.org/officeDocument/2006/relationships/notesSlide"/><Relationship Id="rId34" Target="notesSlides/notesSlide3.xml" Type="http://schemas.openxmlformats.org/officeDocument/2006/relationships/notesSlide"/><Relationship Id="rId35" Target="notesSlides/notesSlide4.xml" Type="http://schemas.openxmlformats.org/officeDocument/2006/relationships/notesSlide"/><Relationship Id="rId36" Target="notesSlides/notesSlide5.xml" Type="http://schemas.openxmlformats.org/officeDocument/2006/relationships/notesSlide"/><Relationship Id="rId37" Target="notesSlides/notesSlide6.xml" Type="http://schemas.openxmlformats.org/officeDocument/2006/relationships/notesSlide"/><Relationship Id="rId38" Target="fonts/font38.fntdata" Type="http://schemas.openxmlformats.org/officeDocument/2006/relationships/font"/><Relationship Id="rId39" Target="notesSlides/notesSlide7.xml" Type="http://schemas.openxmlformats.org/officeDocument/2006/relationships/notesSlide"/><Relationship Id="rId4" Target="theme/theme1.xml" Type="http://schemas.openxmlformats.org/officeDocument/2006/relationships/theme"/><Relationship Id="rId40" Target="notesSlides/notesSlide8.xml" Type="http://schemas.openxmlformats.org/officeDocument/2006/relationships/notesSlide"/><Relationship Id="rId41" Target="notesSlides/notesSlide9.xml" Type="http://schemas.openxmlformats.org/officeDocument/2006/relationships/notesSlide"/><Relationship Id="rId42" Target="notesSlides/notesSlide10.xml" Type="http://schemas.openxmlformats.org/officeDocument/2006/relationships/notesSlide"/><Relationship Id="rId43" Target="notesSlides/notesSlide11.xml" Type="http://schemas.openxmlformats.org/officeDocument/2006/relationships/notesSlide"/><Relationship Id="rId44" Target="notesSlides/notesSlide12.xml" Type="http://schemas.openxmlformats.org/officeDocument/2006/relationships/notesSlide"/><Relationship Id="rId45" Target="notesSlides/notesSlide13.xml" Type="http://schemas.openxmlformats.org/officeDocument/2006/relationships/notesSlide"/><Relationship Id="rId46" Target="notesSlides/notesSlide14.xml" Type="http://schemas.openxmlformats.org/officeDocument/2006/relationships/notesSlide"/><Relationship Id="rId47" Target="notesSlides/notesSlide15.xml" Type="http://schemas.openxmlformats.org/officeDocument/2006/relationships/notesSlide"/><Relationship Id="rId48" Target="notesSlides/notesSlide16.xml" Type="http://schemas.openxmlformats.org/officeDocument/2006/relationships/notesSlide"/><Relationship Id="rId49" Target="notesSlides/notesSlide17.xml" Type="http://schemas.openxmlformats.org/officeDocument/2006/relationships/notesSlide"/><Relationship Id="rId5" Target="tableStyles.xml" Type="http://schemas.openxmlformats.org/officeDocument/2006/relationships/tableStyles"/><Relationship Id="rId50" Target="notesSlides/notesSlide18.xml" Type="http://schemas.openxmlformats.org/officeDocument/2006/relationships/notesSlide"/><Relationship Id="rId51" Target="notesSlides/notesSlide19.xml" Type="http://schemas.openxmlformats.org/officeDocument/2006/relationships/notesSlide"/><Relationship Id="rId52" Target="notesSlides/notesSlide20.xml" Type="http://schemas.openxmlformats.org/officeDocument/2006/relationships/notesSlide"/><Relationship Id="rId53" Target="notesSlides/notesSlide21.xml" Type="http://schemas.openxmlformats.org/officeDocument/2006/relationships/notesSlide"/><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16</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18</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20</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2" Target="../notesSlides/notesSlide2.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3.jpe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 Id="rId8" Target="../media/image6.png" Type="http://schemas.openxmlformats.org/officeDocument/2006/relationships/image"/><Relationship Id="rId9" Target="../media/image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3.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jpeg" Type="http://schemas.openxmlformats.org/officeDocument/2006/relationships/image"/><Relationship Id="rId2" Target="../notesSlides/notesSlide10.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 Id="rId8" Target="../media/image16.png" Type="http://schemas.openxmlformats.org/officeDocument/2006/relationships/image"/><Relationship Id="rId9" Target="../media/image1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1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3.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3.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3.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svg" Type="http://schemas.openxmlformats.org/officeDocument/2006/relationships/image"/><Relationship Id="rId11" Target="../media/image25.png" Type="http://schemas.openxmlformats.org/officeDocument/2006/relationships/image"/><Relationship Id="rId12" Target="../media/image26.svg" Type="http://schemas.openxmlformats.org/officeDocument/2006/relationships/image"/><Relationship Id="rId13" Target="../media/image27.png" Type="http://schemas.openxmlformats.org/officeDocument/2006/relationships/image"/><Relationship Id="rId14" Target="../media/image28.svg" Type="http://schemas.openxmlformats.org/officeDocument/2006/relationships/image"/><Relationship Id="rId15" Target="../media/image29.png" Type="http://schemas.openxmlformats.org/officeDocument/2006/relationships/image"/><Relationship Id="rId16" Target="../media/image30.svg" Type="http://schemas.openxmlformats.org/officeDocument/2006/relationships/image"/><Relationship Id="rId2" Target="../notesSlides/notesSlide14.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19.png" Type="http://schemas.openxmlformats.org/officeDocument/2006/relationships/image"/><Relationship Id="rId6" Target="../media/image20.svg" Type="http://schemas.openxmlformats.org/officeDocument/2006/relationships/image"/><Relationship Id="rId7" Target="../media/image21.png" Type="http://schemas.openxmlformats.org/officeDocument/2006/relationships/image"/><Relationship Id="rId8" Target="../media/image22.svg" Type="http://schemas.openxmlformats.org/officeDocument/2006/relationships/image"/><Relationship Id="rId9" Target="../media/image2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5.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31.jpeg" Type="http://schemas.openxmlformats.org/officeDocument/2006/relationships/image"/><Relationship Id="rId6" Target="../media/image3.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6.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32.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7.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3.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8.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3.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9.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0.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 Id="rId5" Target="../media/image33.png" Type="http://schemas.openxmlformats.org/officeDocument/2006/relationships/image"/><Relationship Id="rId6" Target="../media/image3.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1.xml" Type="http://schemas.openxmlformats.org/officeDocument/2006/relationships/notesSlide"/><Relationship Id="rId3" Target="https://gamma.app/?utm_source=made-with-gamma" TargetMode="External" Type="http://schemas.openxmlformats.org/officeDocument/2006/relationships/hyperlink"/><Relationship Id="rId4"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0F0F1"/>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6" id="6"/>
          <p:cNvGrpSpPr/>
          <p:nvPr/>
        </p:nvGrpSpPr>
        <p:grpSpPr>
          <a:xfrm rot="0">
            <a:off x="16628307" y="9846183"/>
            <a:ext cx="1609020" cy="384353"/>
            <a:chOff x="0" y="0"/>
            <a:chExt cx="2145360" cy="512470"/>
          </a:xfrm>
        </p:grpSpPr>
        <p:sp>
          <p:nvSpPr>
            <p:cNvPr name="Freeform 7" id="7" descr="preencoded.png">
              <a:hlinkClick r:id="rId3" tooltip="https://gamma.app/?utm_source=made-with-gamma"/>
            </p:cNvPr>
            <p:cNvSpPr/>
            <p:nvPr/>
          </p:nvSpPr>
          <p:spPr>
            <a:xfrm flipH="false" flipV="false" rot="0">
              <a:off x="0" y="0"/>
              <a:ext cx="2145411" cy="512445"/>
            </a:xfrm>
            <a:custGeom>
              <a:avLst/>
              <a:gdLst/>
              <a:ahLst/>
              <a:cxnLst/>
              <a:rect r="r" b="b" t="t" l="l"/>
              <a:pathLst>
                <a:path h="512445" w="2145411">
                  <a:moveTo>
                    <a:pt x="0" y="0"/>
                  </a:moveTo>
                  <a:lnTo>
                    <a:pt x="2145411" y="0"/>
                  </a:lnTo>
                  <a:lnTo>
                    <a:pt x="2145411" y="512445"/>
                  </a:lnTo>
                  <a:lnTo>
                    <a:pt x="0" y="512445"/>
                  </a:lnTo>
                  <a:lnTo>
                    <a:pt x="0" y="0"/>
                  </a:lnTo>
                  <a:close/>
                </a:path>
              </a:pathLst>
            </a:custGeom>
            <a:blipFill>
              <a:blip r:embed="rId4"/>
              <a:stretch>
                <a:fillRect l="0" t="0" r="2" b="-4"/>
              </a:stretch>
            </a:blipFill>
          </p:spPr>
        </p:sp>
      </p:grpSp>
      <p:sp>
        <p:nvSpPr>
          <p:cNvPr name="TextBox 8" id="8"/>
          <p:cNvSpPr txBox="true"/>
          <p:nvPr/>
        </p:nvSpPr>
        <p:spPr>
          <a:xfrm rot="0">
            <a:off x="992991" y="1019251"/>
            <a:ext cx="16315868" cy="665759"/>
          </a:xfrm>
          <a:prstGeom prst="rect">
            <a:avLst/>
          </a:prstGeom>
        </p:spPr>
        <p:txBody>
          <a:bodyPr anchor="t" rtlCol="false" tIns="0" lIns="0" bIns="0" rIns="0">
            <a:spAutoFit/>
          </a:bodyPr>
          <a:lstStyle/>
          <a:p>
            <a:pPr algn="l">
              <a:lnSpc>
                <a:spcPts val="4964"/>
              </a:lnSpc>
            </a:pPr>
            <a:r>
              <a:rPr lang="en-US" sz="3978">
                <a:solidFill>
                  <a:srgbClr val="152D47"/>
                </a:solidFill>
                <a:latin typeface="Crimson Pro"/>
                <a:ea typeface="Crimson Pro"/>
                <a:cs typeface="Crimson Pro"/>
                <a:sym typeface="Crimson Pro"/>
              </a:rPr>
              <a:t>Circuit-01:General PMOS–NMOS High-Side Driver</a:t>
            </a:r>
          </a:p>
        </p:txBody>
      </p:sp>
      <p:sp>
        <p:nvSpPr>
          <p:cNvPr name="TextBox 9" id="9"/>
          <p:cNvSpPr txBox="true"/>
          <p:nvPr/>
        </p:nvSpPr>
        <p:spPr>
          <a:xfrm rot="0">
            <a:off x="992991" y="2032359"/>
            <a:ext cx="9086126" cy="337795"/>
          </a:xfrm>
          <a:prstGeom prst="rect">
            <a:avLst/>
          </a:prstGeom>
        </p:spPr>
        <p:txBody>
          <a:bodyPr anchor="t" rtlCol="false" tIns="0" lIns="0" bIns="0" rIns="0">
            <a:spAutoFit/>
          </a:bodyPr>
          <a:lstStyle/>
          <a:p>
            <a:pPr algn="l">
              <a:lnSpc>
                <a:spcPts val="2435"/>
              </a:lnSpc>
            </a:pPr>
            <a:r>
              <a:rPr lang="en-US" sz="1951">
                <a:solidFill>
                  <a:srgbClr val="152D47"/>
                </a:solidFill>
                <a:latin typeface="Crimson Pro"/>
                <a:ea typeface="Crimson Pro"/>
                <a:cs typeface="Crimson Pro"/>
                <a:sym typeface="Crimson Pro"/>
              </a:rPr>
              <a:t>Introduction</a:t>
            </a:r>
          </a:p>
        </p:txBody>
      </p:sp>
      <p:sp>
        <p:nvSpPr>
          <p:cNvPr name="TextBox 10" id="10"/>
          <p:cNvSpPr txBox="true"/>
          <p:nvPr/>
        </p:nvSpPr>
        <p:spPr>
          <a:xfrm rot="0">
            <a:off x="992991" y="2488140"/>
            <a:ext cx="9086126" cy="1710452"/>
          </a:xfrm>
          <a:prstGeom prst="rect">
            <a:avLst/>
          </a:prstGeom>
        </p:spPr>
        <p:txBody>
          <a:bodyPr anchor="t" rtlCol="false" tIns="0" lIns="0" bIns="0" rIns="0">
            <a:spAutoFit/>
          </a:bodyPr>
          <a:lstStyle/>
          <a:p>
            <a:pPr algn="l">
              <a:lnSpc>
                <a:spcPts val="2175"/>
              </a:lnSpc>
            </a:pPr>
            <a:r>
              <a:rPr lang="en-US" sz="1576">
                <a:solidFill>
                  <a:srgbClr val="4C4C4D"/>
                </a:solidFill>
                <a:latin typeface="Heebo"/>
                <a:ea typeface="Heebo"/>
                <a:cs typeface="Heebo"/>
                <a:sym typeface="Heebo"/>
              </a:rPr>
              <a:t>A </a:t>
            </a:r>
            <a:r>
              <a:rPr lang="en-US" sz="1576" b="true">
                <a:solidFill>
                  <a:srgbClr val="4C4C4D"/>
                </a:solidFill>
                <a:latin typeface="Heebo Bold"/>
                <a:ea typeface="Heebo Bold"/>
                <a:cs typeface="Heebo Bold"/>
                <a:sym typeface="Heebo Bold"/>
              </a:rPr>
              <a:t>high-side switch</a:t>
            </a:r>
            <a:r>
              <a:rPr lang="en-US" sz="1576">
                <a:solidFill>
                  <a:srgbClr val="4C4C4D"/>
                </a:solidFill>
                <a:latin typeface="Heebo"/>
                <a:ea typeface="Heebo"/>
                <a:cs typeface="Heebo"/>
                <a:sym typeface="Heebo"/>
              </a:rPr>
              <a:t> connects or disconnects the positive supply from a load. In this design, a </a:t>
            </a:r>
            <a:r>
              <a:rPr lang="en-US" sz="1576" b="true">
                <a:solidFill>
                  <a:srgbClr val="4C4C4D"/>
                </a:solidFill>
                <a:latin typeface="Heebo Bold"/>
                <a:ea typeface="Heebo Bold"/>
                <a:cs typeface="Heebo Bold"/>
                <a:sym typeface="Heebo Bold"/>
              </a:rPr>
              <a:t>PMOS transistor</a:t>
            </a:r>
            <a:r>
              <a:rPr lang="en-US" sz="1576">
                <a:solidFill>
                  <a:srgbClr val="4C4C4D"/>
                </a:solidFill>
                <a:latin typeface="Heebo"/>
                <a:ea typeface="Heebo"/>
                <a:cs typeface="Heebo"/>
                <a:sym typeface="Heebo"/>
              </a:rPr>
              <a:t> acts as the high-side switch, while an </a:t>
            </a:r>
            <a:r>
              <a:rPr lang="en-US" sz="1576" b="true">
                <a:solidFill>
                  <a:srgbClr val="4C4C4D"/>
                </a:solidFill>
                <a:latin typeface="Heebo Bold"/>
                <a:ea typeface="Heebo Bold"/>
                <a:cs typeface="Heebo Bold"/>
                <a:sym typeface="Heebo Bold"/>
              </a:rPr>
              <a:t>NMOS transistor</a:t>
            </a:r>
            <a:r>
              <a:rPr lang="en-US" sz="1576">
                <a:solidFill>
                  <a:srgbClr val="4C4C4D"/>
                </a:solidFill>
                <a:latin typeface="Heebo"/>
                <a:ea typeface="Heebo"/>
                <a:cs typeface="Heebo"/>
                <a:sym typeface="Heebo"/>
              </a:rPr>
              <a:t> is used as a gate driver. Since the PMOS source is connected to a </a:t>
            </a:r>
            <a:r>
              <a:rPr lang="en-US" sz="1576" b="true">
                <a:solidFill>
                  <a:srgbClr val="4C4C4D"/>
                </a:solidFill>
                <a:latin typeface="Heebo Bold"/>
                <a:ea typeface="Heebo Bold"/>
                <a:cs typeface="Heebo Bold"/>
                <a:sym typeface="Heebo Bold"/>
              </a:rPr>
              <a:t>100 V DC supply</a:t>
            </a:r>
            <a:r>
              <a:rPr lang="en-US" sz="1576">
                <a:solidFill>
                  <a:srgbClr val="4C4C4D"/>
                </a:solidFill>
                <a:latin typeface="Heebo"/>
                <a:ea typeface="Heebo"/>
                <a:cs typeface="Heebo"/>
                <a:sym typeface="Heebo"/>
              </a:rPr>
              <a:t>, the </a:t>
            </a:r>
            <a:r>
              <a:rPr lang="en-US" sz="1576" b="true">
                <a:solidFill>
                  <a:srgbClr val="4C4C4D"/>
                </a:solidFill>
                <a:latin typeface="Heebo Bold"/>
                <a:ea typeface="Heebo Bold"/>
                <a:cs typeface="Heebo Bold"/>
                <a:sym typeface="Heebo Bold"/>
              </a:rPr>
              <a:t>3.3 V controller</a:t>
            </a:r>
            <a:r>
              <a:rPr lang="en-US" sz="1576">
                <a:solidFill>
                  <a:srgbClr val="4C4C4D"/>
                </a:solidFill>
                <a:latin typeface="Heebo"/>
                <a:ea typeface="Heebo"/>
                <a:cs typeface="Heebo"/>
                <a:sym typeface="Heebo"/>
              </a:rPr>
              <a:t> cannot directly drive the PMOS gate. Therefore, the NMOS provides </a:t>
            </a:r>
            <a:r>
              <a:rPr lang="en-US" sz="1576" b="true">
                <a:solidFill>
                  <a:srgbClr val="4C4C4D"/>
                </a:solidFill>
                <a:latin typeface="Heebo Bold"/>
                <a:ea typeface="Heebo Bold"/>
                <a:cs typeface="Heebo Bold"/>
                <a:sym typeface="Heebo Bold"/>
              </a:rPr>
              <a:t>level shifting</a:t>
            </a:r>
            <a:r>
              <a:rPr lang="en-US" sz="1576">
                <a:solidFill>
                  <a:srgbClr val="4C4C4D"/>
                </a:solidFill>
                <a:latin typeface="Heebo"/>
                <a:ea typeface="Heebo"/>
                <a:cs typeface="Heebo"/>
                <a:sym typeface="Heebo"/>
              </a:rPr>
              <a:t> by pulling the PMOS gate towards ground whenever the control signal is HIGH. A </a:t>
            </a:r>
            <a:r>
              <a:rPr lang="en-US" sz="1576" b="true">
                <a:solidFill>
                  <a:srgbClr val="4C4C4D"/>
                </a:solidFill>
                <a:latin typeface="Heebo Bold"/>
                <a:ea typeface="Heebo Bold"/>
                <a:cs typeface="Heebo Bold"/>
                <a:sym typeface="Heebo Bold"/>
              </a:rPr>
              <a:t>12 V Zener diode</a:t>
            </a:r>
            <a:r>
              <a:rPr lang="en-US" sz="1576">
                <a:solidFill>
                  <a:srgbClr val="4C4C4D"/>
                </a:solidFill>
                <a:latin typeface="Heebo"/>
                <a:ea typeface="Heebo"/>
                <a:cs typeface="Heebo"/>
                <a:sym typeface="Heebo"/>
              </a:rPr>
              <a:t> is connected between the gate and source of the PMOS to clamp the gate-to-source voltage within its safe operating limit.</a:t>
            </a:r>
          </a:p>
        </p:txBody>
      </p:sp>
      <p:sp>
        <p:nvSpPr>
          <p:cNvPr name="TextBox 11" id="11"/>
          <p:cNvSpPr txBox="true"/>
          <p:nvPr/>
        </p:nvSpPr>
        <p:spPr>
          <a:xfrm rot="0">
            <a:off x="992991" y="4326112"/>
            <a:ext cx="9086126" cy="337795"/>
          </a:xfrm>
          <a:prstGeom prst="rect">
            <a:avLst/>
          </a:prstGeom>
        </p:spPr>
        <p:txBody>
          <a:bodyPr anchor="t" rtlCol="false" tIns="0" lIns="0" bIns="0" rIns="0">
            <a:spAutoFit/>
          </a:bodyPr>
          <a:lstStyle/>
          <a:p>
            <a:pPr algn="l">
              <a:lnSpc>
                <a:spcPts val="2435"/>
              </a:lnSpc>
            </a:pPr>
            <a:r>
              <a:rPr lang="en-US" sz="1951">
                <a:solidFill>
                  <a:srgbClr val="152D47"/>
                </a:solidFill>
                <a:latin typeface="Crimson Pro"/>
                <a:ea typeface="Crimson Pro"/>
                <a:cs typeface="Crimson Pro"/>
                <a:sym typeface="Crimson Pro"/>
              </a:rPr>
              <a:t>Working Principle - OFF Condition (Logic Input = 0 V)</a:t>
            </a:r>
          </a:p>
        </p:txBody>
      </p:sp>
      <p:sp>
        <p:nvSpPr>
          <p:cNvPr name="TextBox 12" id="12"/>
          <p:cNvSpPr txBox="true"/>
          <p:nvPr/>
        </p:nvSpPr>
        <p:spPr>
          <a:xfrm rot="0">
            <a:off x="992991" y="4781883"/>
            <a:ext cx="9086126" cy="1915401"/>
          </a:xfrm>
          <a:prstGeom prst="rect">
            <a:avLst/>
          </a:prstGeom>
        </p:spPr>
        <p:txBody>
          <a:bodyPr anchor="t" rtlCol="false" tIns="0" lIns="0" bIns="0" rIns="0">
            <a:spAutoFit/>
          </a:bodyPr>
          <a:lstStyle/>
          <a:p>
            <a:pPr algn="l" marL="285482" indent="-142741" lvl="1">
              <a:lnSpc>
                <a:spcPts val="2175"/>
              </a:lnSpc>
              <a:buFont typeface="Arial"/>
              <a:buChar char="•"/>
            </a:pPr>
            <a:r>
              <a:rPr lang="en-US" sz="1576">
                <a:solidFill>
                  <a:srgbClr val="4C4C4D"/>
                </a:solidFill>
                <a:latin typeface="Heebo"/>
                <a:ea typeface="Heebo"/>
                <a:cs typeface="Heebo"/>
                <a:sym typeface="Heebo"/>
              </a:rPr>
              <a:t>The </a:t>
            </a:r>
            <a:r>
              <a:rPr lang="en-US" b="true" sz="1576">
                <a:solidFill>
                  <a:srgbClr val="4C4C4D"/>
                </a:solidFill>
                <a:latin typeface="Heebo Bold"/>
                <a:ea typeface="Heebo Bold"/>
                <a:cs typeface="Heebo Bold"/>
                <a:sym typeface="Heebo Bold"/>
              </a:rPr>
              <a:t>NMOS transistor</a:t>
            </a:r>
            <a:r>
              <a:rPr lang="en-US" sz="1576">
                <a:solidFill>
                  <a:srgbClr val="4C4C4D"/>
                </a:solidFill>
                <a:latin typeface="Heebo"/>
                <a:ea typeface="Heebo"/>
                <a:cs typeface="Heebo"/>
                <a:sym typeface="Heebo"/>
              </a:rPr>
              <a:t> remains OFF</a:t>
            </a:r>
          </a:p>
          <a:p>
            <a:pPr algn="l" marL="285482" indent="-142741" lvl="1">
              <a:lnSpc>
                <a:spcPts val="2175"/>
              </a:lnSpc>
              <a:buFont typeface="Arial"/>
              <a:buChar char="•"/>
            </a:pPr>
            <a:r>
              <a:rPr lang="en-US" sz="1576">
                <a:solidFill>
                  <a:srgbClr val="4C4C4D"/>
                </a:solidFill>
                <a:latin typeface="Heebo"/>
                <a:ea typeface="Heebo"/>
                <a:cs typeface="Heebo"/>
                <a:sym typeface="Heebo"/>
              </a:rPr>
              <a:t>No current flows through the NMOS</a:t>
            </a:r>
          </a:p>
          <a:p>
            <a:pPr algn="l" marL="285482" indent="-142741" lvl="1">
              <a:lnSpc>
                <a:spcPts val="2175"/>
              </a:lnSpc>
              <a:buFont typeface="Arial"/>
              <a:buChar char="•"/>
            </a:pPr>
            <a:r>
              <a:rPr lang="en-US" sz="1576">
                <a:solidFill>
                  <a:srgbClr val="4C4C4D"/>
                </a:solidFill>
                <a:latin typeface="Heebo"/>
                <a:ea typeface="Heebo"/>
                <a:cs typeface="Heebo"/>
                <a:sym typeface="Heebo"/>
              </a:rPr>
              <a:t>The </a:t>
            </a:r>
            <a:r>
              <a:rPr lang="en-US" b="true" sz="1576">
                <a:solidFill>
                  <a:srgbClr val="4C4C4D"/>
                </a:solidFill>
                <a:latin typeface="Heebo Bold"/>
                <a:ea typeface="Heebo Bold"/>
                <a:cs typeface="Heebo Bold"/>
                <a:sym typeface="Heebo Bold"/>
              </a:rPr>
              <a:t>pull-up resistor</a:t>
            </a:r>
            <a:r>
              <a:rPr lang="en-US" sz="1576">
                <a:solidFill>
                  <a:srgbClr val="4C4C4D"/>
                </a:solidFill>
                <a:latin typeface="Heebo"/>
                <a:ea typeface="Heebo"/>
                <a:cs typeface="Heebo"/>
                <a:sym typeface="Heebo"/>
              </a:rPr>
              <a:t> keeps the PMOS gate at the same potential as the source (100 V)</a:t>
            </a:r>
          </a:p>
          <a:p>
            <a:pPr algn="l" marL="285482" indent="-142741" lvl="1">
              <a:lnSpc>
                <a:spcPts val="2175"/>
              </a:lnSpc>
              <a:buFont typeface="Arial"/>
              <a:buChar char="•"/>
            </a:pPr>
            <a:r>
              <a:rPr lang="en-US" sz="1576">
                <a:solidFill>
                  <a:srgbClr val="4C4C4D"/>
                </a:solidFill>
                <a:latin typeface="Heebo"/>
                <a:ea typeface="Heebo"/>
                <a:cs typeface="Heebo"/>
                <a:sym typeface="Heebo"/>
              </a:rPr>
              <a:t>Therefore, </a:t>
            </a:r>
            <a:r>
              <a:rPr lang="en-US" b="true" sz="1576">
                <a:solidFill>
                  <a:srgbClr val="4C4C4D"/>
                </a:solidFill>
                <a:latin typeface="Heebo Bold"/>
                <a:ea typeface="Heebo Bold"/>
                <a:cs typeface="Heebo Bold"/>
                <a:sym typeface="Heebo Bold"/>
              </a:rPr>
              <a:t>VGS = 0 V</a:t>
            </a:r>
          </a:p>
          <a:p>
            <a:pPr algn="l" marL="285482" indent="-142741" lvl="1">
              <a:lnSpc>
                <a:spcPts val="2175"/>
              </a:lnSpc>
              <a:buFont typeface="Arial"/>
              <a:buChar char="•"/>
            </a:pPr>
            <a:r>
              <a:rPr lang="en-US" sz="1576">
                <a:solidFill>
                  <a:srgbClr val="4C4C4D"/>
                </a:solidFill>
                <a:latin typeface="Heebo"/>
                <a:ea typeface="Heebo"/>
                <a:cs typeface="Heebo"/>
                <a:sym typeface="Heebo"/>
              </a:rPr>
              <a:t>Since the gate-to-source voltage is zero, the </a:t>
            </a:r>
            <a:r>
              <a:rPr lang="en-US" b="true" sz="1576">
                <a:solidFill>
                  <a:srgbClr val="4C4C4D"/>
                </a:solidFill>
                <a:latin typeface="Heebo Bold"/>
                <a:ea typeface="Heebo Bold"/>
                <a:cs typeface="Heebo Bold"/>
                <a:sym typeface="Heebo Bold"/>
              </a:rPr>
              <a:t>PMOS remains OFF</a:t>
            </a:r>
            <a:r>
              <a:rPr lang="en-US" sz="1576">
                <a:solidFill>
                  <a:srgbClr val="4C4C4D"/>
                </a:solidFill>
                <a:latin typeface="Heebo"/>
                <a:ea typeface="Heebo"/>
                <a:cs typeface="Heebo"/>
                <a:sym typeface="Heebo"/>
              </a:rPr>
              <a:t> and no current flows through the load</a:t>
            </a:r>
          </a:p>
        </p:txBody>
      </p:sp>
      <p:sp>
        <p:nvSpPr>
          <p:cNvPr name="TextBox 13" id="13"/>
          <p:cNvSpPr txBox="true"/>
          <p:nvPr/>
        </p:nvSpPr>
        <p:spPr>
          <a:xfrm rot="0">
            <a:off x="992991" y="6824796"/>
            <a:ext cx="9086126" cy="337795"/>
          </a:xfrm>
          <a:prstGeom prst="rect">
            <a:avLst/>
          </a:prstGeom>
        </p:spPr>
        <p:txBody>
          <a:bodyPr anchor="t" rtlCol="false" tIns="0" lIns="0" bIns="0" rIns="0">
            <a:spAutoFit/>
          </a:bodyPr>
          <a:lstStyle/>
          <a:p>
            <a:pPr algn="l">
              <a:lnSpc>
                <a:spcPts val="2435"/>
              </a:lnSpc>
            </a:pPr>
            <a:r>
              <a:rPr lang="en-US" sz="1951">
                <a:solidFill>
                  <a:srgbClr val="152D47"/>
                </a:solidFill>
                <a:latin typeface="Crimson Pro"/>
                <a:ea typeface="Crimson Pro"/>
                <a:cs typeface="Crimson Pro"/>
                <a:sym typeface="Crimson Pro"/>
              </a:rPr>
              <a:t>Working Principle - ON Condition (Logic Input = 3.3 V)</a:t>
            </a:r>
          </a:p>
        </p:txBody>
      </p:sp>
      <p:sp>
        <p:nvSpPr>
          <p:cNvPr name="TextBox 14" id="14"/>
          <p:cNvSpPr txBox="true"/>
          <p:nvPr/>
        </p:nvSpPr>
        <p:spPr>
          <a:xfrm rot="0">
            <a:off x="992991" y="7280577"/>
            <a:ext cx="9086126" cy="1915401"/>
          </a:xfrm>
          <a:prstGeom prst="rect">
            <a:avLst/>
          </a:prstGeom>
        </p:spPr>
        <p:txBody>
          <a:bodyPr anchor="t" rtlCol="false" tIns="0" lIns="0" bIns="0" rIns="0">
            <a:spAutoFit/>
          </a:bodyPr>
          <a:lstStyle/>
          <a:p>
            <a:pPr algn="l" marL="285482" indent="-142741" lvl="1">
              <a:lnSpc>
                <a:spcPts val="2175"/>
              </a:lnSpc>
              <a:buFont typeface="Arial"/>
              <a:buChar char="•"/>
            </a:pPr>
            <a:r>
              <a:rPr lang="en-US" sz="1576">
                <a:solidFill>
                  <a:srgbClr val="4C4C4D"/>
                </a:solidFill>
                <a:latin typeface="Heebo"/>
                <a:ea typeface="Heebo"/>
                <a:cs typeface="Heebo"/>
                <a:sym typeface="Heebo"/>
              </a:rPr>
              <a:t>The </a:t>
            </a:r>
            <a:r>
              <a:rPr lang="en-US" b="true" sz="1576">
                <a:solidFill>
                  <a:srgbClr val="4C4C4D"/>
                </a:solidFill>
                <a:latin typeface="Heebo Bold"/>
                <a:ea typeface="Heebo Bold"/>
                <a:cs typeface="Heebo Bold"/>
                <a:sym typeface="Heebo Bold"/>
              </a:rPr>
              <a:t>NMOS transistor</a:t>
            </a:r>
            <a:r>
              <a:rPr lang="en-US" sz="1576">
                <a:solidFill>
                  <a:srgbClr val="4C4C4D"/>
                </a:solidFill>
                <a:latin typeface="Heebo"/>
                <a:ea typeface="Heebo"/>
                <a:cs typeface="Heebo"/>
                <a:sym typeface="Heebo"/>
              </a:rPr>
              <a:t> turns ON</a:t>
            </a:r>
          </a:p>
          <a:p>
            <a:pPr algn="l" marL="285482" indent="-142741" lvl="1">
              <a:lnSpc>
                <a:spcPts val="2175"/>
              </a:lnSpc>
              <a:buFont typeface="Arial"/>
              <a:buChar char="•"/>
            </a:pPr>
            <a:r>
              <a:rPr lang="en-US" sz="1576">
                <a:solidFill>
                  <a:srgbClr val="4C4C4D"/>
                </a:solidFill>
                <a:latin typeface="Heebo"/>
                <a:ea typeface="Heebo"/>
                <a:cs typeface="Heebo"/>
                <a:sym typeface="Heebo"/>
              </a:rPr>
              <a:t>The </a:t>
            </a:r>
            <a:r>
              <a:rPr lang="en-US" b="true" sz="1576">
                <a:solidFill>
                  <a:srgbClr val="4C4C4D"/>
                </a:solidFill>
                <a:latin typeface="Heebo Bold"/>
                <a:ea typeface="Heebo Bold"/>
                <a:cs typeface="Heebo Bold"/>
                <a:sym typeface="Heebo Bold"/>
              </a:rPr>
              <a:t>PMOS gate</a:t>
            </a:r>
            <a:r>
              <a:rPr lang="en-US" sz="1576">
                <a:solidFill>
                  <a:srgbClr val="4C4C4D"/>
                </a:solidFill>
                <a:latin typeface="Heebo"/>
                <a:ea typeface="Heebo"/>
                <a:cs typeface="Heebo"/>
                <a:sym typeface="Heebo"/>
              </a:rPr>
              <a:t> is pulled towards ground through the NMOS</a:t>
            </a:r>
          </a:p>
          <a:p>
            <a:pPr algn="l" marL="285482" indent="-142741" lvl="1">
              <a:lnSpc>
                <a:spcPts val="2175"/>
              </a:lnSpc>
              <a:buFont typeface="Arial"/>
              <a:buChar char="•"/>
            </a:pPr>
            <a:r>
              <a:rPr lang="en-US" sz="1576">
                <a:solidFill>
                  <a:srgbClr val="4C4C4D"/>
                </a:solidFill>
                <a:latin typeface="Heebo"/>
                <a:ea typeface="Heebo"/>
                <a:cs typeface="Heebo"/>
                <a:sym typeface="Heebo"/>
              </a:rPr>
              <a:t>The </a:t>
            </a:r>
            <a:r>
              <a:rPr lang="en-US" b="true" sz="1576">
                <a:solidFill>
                  <a:srgbClr val="4C4C4D"/>
                </a:solidFill>
                <a:latin typeface="Heebo Bold"/>
                <a:ea typeface="Heebo Bold"/>
                <a:cs typeface="Heebo Bold"/>
                <a:sym typeface="Heebo Bold"/>
              </a:rPr>
              <a:t>Zener diode</a:t>
            </a:r>
            <a:r>
              <a:rPr lang="en-US" sz="1576">
                <a:solidFill>
                  <a:srgbClr val="4C4C4D"/>
                </a:solidFill>
                <a:latin typeface="Heebo"/>
                <a:ea typeface="Heebo"/>
                <a:cs typeface="Heebo"/>
                <a:sym typeface="Heebo"/>
              </a:rPr>
              <a:t> clamps the gate voltage to approximately </a:t>
            </a:r>
            <a:r>
              <a:rPr lang="en-US" b="true" sz="1576">
                <a:solidFill>
                  <a:srgbClr val="4C4C4D"/>
                </a:solidFill>
                <a:latin typeface="Heebo Bold"/>
                <a:ea typeface="Heebo Bold"/>
                <a:cs typeface="Heebo Bold"/>
                <a:sym typeface="Heebo Bold"/>
              </a:rPr>
              <a:t>12 V below the source</a:t>
            </a:r>
          </a:p>
          <a:p>
            <a:pPr algn="l" marL="285482" indent="-142741" lvl="1">
              <a:lnSpc>
                <a:spcPts val="2175"/>
              </a:lnSpc>
              <a:buFont typeface="Arial"/>
              <a:buChar char="•"/>
            </a:pPr>
            <a:r>
              <a:rPr lang="en-US" sz="1576">
                <a:solidFill>
                  <a:srgbClr val="4C4C4D"/>
                </a:solidFill>
                <a:latin typeface="Heebo"/>
                <a:ea typeface="Heebo"/>
                <a:cs typeface="Heebo"/>
                <a:sym typeface="Heebo"/>
              </a:rPr>
              <a:t>Therefore, </a:t>
            </a:r>
            <a:r>
              <a:rPr lang="en-US" b="true" sz="1576">
                <a:solidFill>
                  <a:srgbClr val="4C4C4D"/>
                </a:solidFill>
                <a:latin typeface="Heebo Bold"/>
                <a:ea typeface="Heebo Bold"/>
                <a:cs typeface="Heebo Bold"/>
                <a:sym typeface="Heebo Bold"/>
              </a:rPr>
              <a:t>VGS ≈ −12 V</a:t>
            </a:r>
          </a:p>
          <a:p>
            <a:pPr algn="l" marL="285482" indent="-142741" lvl="1">
              <a:lnSpc>
                <a:spcPts val="2175"/>
              </a:lnSpc>
              <a:buFont typeface="Arial"/>
              <a:buChar char="•"/>
            </a:pPr>
            <a:r>
              <a:rPr lang="en-US" sz="1576">
                <a:solidFill>
                  <a:srgbClr val="4C4C4D"/>
                </a:solidFill>
                <a:latin typeface="Heebo"/>
                <a:ea typeface="Heebo"/>
                <a:cs typeface="Heebo"/>
                <a:sym typeface="Heebo"/>
              </a:rPr>
              <a:t>This gate voltage is sufficient to fully enhance the PMOS, allowing the full </a:t>
            </a:r>
            <a:r>
              <a:rPr lang="en-US" b="true" sz="1576">
                <a:solidFill>
                  <a:srgbClr val="4C4C4D"/>
                </a:solidFill>
                <a:latin typeface="Heebo Bold"/>
                <a:ea typeface="Heebo Bold"/>
                <a:cs typeface="Heebo Bold"/>
                <a:sym typeface="Heebo Bold"/>
              </a:rPr>
              <a:t>100 V supply</a:t>
            </a:r>
            <a:r>
              <a:rPr lang="en-US" sz="1576">
                <a:solidFill>
                  <a:srgbClr val="4C4C4D"/>
                </a:solidFill>
                <a:latin typeface="Heebo"/>
                <a:ea typeface="Heebo"/>
                <a:cs typeface="Heebo"/>
                <a:sym typeface="Heebo"/>
              </a:rPr>
              <a:t> to appear across the load</a:t>
            </a:r>
          </a:p>
        </p:txBody>
      </p:sp>
      <p:sp>
        <p:nvSpPr>
          <p:cNvPr name="TextBox 15" id="15"/>
          <p:cNvSpPr txBox="true"/>
          <p:nvPr/>
        </p:nvSpPr>
        <p:spPr>
          <a:xfrm rot="0">
            <a:off x="10586114" y="2032359"/>
            <a:ext cx="6732118" cy="337795"/>
          </a:xfrm>
          <a:prstGeom prst="rect">
            <a:avLst/>
          </a:prstGeom>
        </p:spPr>
        <p:txBody>
          <a:bodyPr anchor="t" rtlCol="false" tIns="0" lIns="0" bIns="0" rIns="0">
            <a:spAutoFit/>
          </a:bodyPr>
          <a:lstStyle/>
          <a:p>
            <a:pPr algn="l">
              <a:lnSpc>
                <a:spcPts val="2435"/>
              </a:lnSpc>
            </a:pPr>
            <a:r>
              <a:rPr lang="en-US" sz="1951">
                <a:solidFill>
                  <a:srgbClr val="152D47"/>
                </a:solidFill>
                <a:latin typeface="Crimson Pro"/>
                <a:ea typeface="Crimson Pro"/>
                <a:cs typeface="Crimson Pro"/>
                <a:sym typeface="Crimson Pro"/>
              </a:rPr>
              <a:t>Main Components</a:t>
            </a:r>
          </a:p>
        </p:txBody>
      </p:sp>
      <p:sp>
        <p:nvSpPr>
          <p:cNvPr name="TextBox 16" id="16"/>
          <p:cNvSpPr txBox="true"/>
          <p:nvPr/>
        </p:nvSpPr>
        <p:spPr>
          <a:xfrm rot="0">
            <a:off x="10586114" y="2488140"/>
            <a:ext cx="6732118" cy="1966636"/>
          </a:xfrm>
          <a:prstGeom prst="rect">
            <a:avLst/>
          </a:prstGeom>
        </p:spPr>
        <p:txBody>
          <a:bodyPr anchor="t" rtlCol="false" tIns="0" lIns="0" bIns="0" rIns="0">
            <a:spAutoFit/>
          </a:bodyPr>
          <a:lstStyle/>
          <a:p>
            <a:pPr algn="l" marL="285482" indent="-142741" lvl="1">
              <a:lnSpc>
                <a:spcPts val="2175"/>
              </a:lnSpc>
              <a:buFont typeface="Arial"/>
              <a:buChar char="•"/>
            </a:pPr>
            <a:r>
              <a:rPr lang="en-US" sz="1576">
                <a:solidFill>
                  <a:srgbClr val="4C4C4D"/>
                </a:solidFill>
                <a:latin typeface="Heebo"/>
                <a:ea typeface="Heebo"/>
                <a:cs typeface="Heebo"/>
                <a:sym typeface="Heebo"/>
              </a:rPr>
              <a:t>PMOS transistor – High-side power switch</a:t>
            </a:r>
          </a:p>
          <a:p>
            <a:pPr algn="l" marL="285482" indent="-142741" lvl="1">
              <a:lnSpc>
                <a:spcPts val="2175"/>
              </a:lnSpc>
              <a:buFont typeface="Arial"/>
              <a:buChar char="•"/>
            </a:pPr>
            <a:r>
              <a:rPr lang="en-US" sz="1576">
                <a:solidFill>
                  <a:srgbClr val="4C4C4D"/>
                </a:solidFill>
                <a:latin typeface="Heebo"/>
                <a:ea typeface="Heebo"/>
                <a:cs typeface="Heebo"/>
                <a:sym typeface="Heebo"/>
              </a:rPr>
              <a:t>NMOS transistor – Gate driver</a:t>
            </a:r>
          </a:p>
          <a:p>
            <a:pPr algn="l" marL="285482" indent="-142741" lvl="1">
              <a:lnSpc>
                <a:spcPts val="2175"/>
              </a:lnSpc>
              <a:buFont typeface="Arial"/>
              <a:buChar char="•"/>
            </a:pPr>
            <a:r>
              <a:rPr lang="en-US" sz="1576">
                <a:solidFill>
                  <a:srgbClr val="4C4C4D"/>
                </a:solidFill>
                <a:latin typeface="Heebo"/>
                <a:ea typeface="Heebo"/>
                <a:cs typeface="Heebo"/>
                <a:sym typeface="Heebo"/>
              </a:rPr>
              <a:t>Zener diode (12 V) – Gate protection</a:t>
            </a:r>
          </a:p>
          <a:p>
            <a:pPr algn="l" marL="285482" indent="-142741" lvl="1">
              <a:lnSpc>
                <a:spcPts val="2175"/>
              </a:lnSpc>
              <a:buFont typeface="Arial"/>
              <a:buChar char="•"/>
            </a:pPr>
            <a:r>
              <a:rPr lang="en-US" sz="1576">
                <a:solidFill>
                  <a:srgbClr val="4C4C4D"/>
                </a:solidFill>
                <a:latin typeface="Heebo"/>
                <a:ea typeface="Heebo"/>
                <a:cs typeface="Heebo"/>
                <a:sym typeface="Heebo"/>
              </a:rPr>
              <a:t>R1 – Zener bias resistor</a:t>
            </a:r>
          </a:p>
          <a:p>
            <a:pPr algn="l" marL="285482" indent="-142741" lvl="1">
              <a:lnSpc>
                <a:spcPts val="2175"/>
              </a:lnSpc>
              <a:buFont typeface="Arial"/>
              <a:buChar char="•"/>
            </a:pPr>
            <a:r>
              <a:rPr lang="en-US" sz="1576">
                <a:solidFill>
                  <a:srgbClr val="4C4C4D"/>
                </a:solidFill>
                <a:latin typeface="Heebo"/>
                <a:ea typeface="Heebo"/>
                <a:cs typeface="Heebo"/>
                <a:sym typeface="Heebo"/>
              </a:rPr>
              <a:t>R2 – Gate pull-up resistor</a:t>
            </a:r>
          </a:p>
          <a:p>
            <a:pPr algn="l" marL="285482" indent="-142741" lvl="1">
              <a:lnSpc>
                <a:spcPts val="2175"/>
              </a:lnSpc>
              <a:buFont typeface="Arial"/>
              <a:buChar char="•"/>
            </a:pPr>
            <a:r>
              <a:rPr lang="en-US" sz="1576">
                <a:solidFill>
                  <a:srgbClr val="4C4C4D"/>
                </a:solidFill>
                <a:latin typeface="Heebo"/>
                <a:ea typeface="Heebo"/>
                <a:cs typeface="Heebo"/>
                <a:sym typeface="Heebo"/>
              </a:rPr>
              <a:t>C1 – Noise suppression capacitor</a:t>
            </a:r>
          </a:p>
        </p:txBody>
      </p:sp>
      <p:sp>
        <p:nvSpPr>
          <p:cNvPr name="TextBox 17" id="17"/>
          <p:cNvSpPr txBox="true"/>
          <p:nvPr/>
        </p:nvSpPr>
        <p:spPr>
          <a:xfrm rot="0">
            <a:off x="10586114" y="4582297"/>
            <a:ext cx="6732118" cy="337795"/>
          </a:xfrm>
          <a:prstGeom prst="rect">
            <a:avLst/>
          </a:prstGeom>
        </p:spPr>
        <p:txBody>
          <a:bodyPr anchor="t" rtlCol="false" tIns="0" lIns="0" bIns="0" rIns="0">
            <a:spAutoFit/>
          </a:bodyPr>
          <a:lstStyle/>
          <a:p>
            <a:pPr algn="l">
              <a:lnSpc>
                <a:spcPts val="2435"/>
              </a:lnSpc>
            </a:pPr>
            <a:r>
              <a:rPr lang="en-US" sz="1951">
                <a:solidFill>
                  <a:srgbClr val="152D47"/>
                </a:solidFill>
                <a:latin typeface="Crimson Pro"/>
                <a:ea typeface="Crimson Pro"/>
                <a:cs typeface="Crimson Pro"/>
                <a:sym typeface="Crimson Pro"/>
              </a:rPr>
              <a:t>Circuit Diagram Area</a:t>
            </a:r>
          </a:p>
        </p:txBody>
      </p:sp>
      <p:grpSp>
        <p:nvGrpSpPr>
          <p:cNvPr name="Group 18" id="18"/>
          <p:cNvGrpSpPr/>
          <p:nvPr/>
        </p:nvGrpSpPr>
        <p:grpSpPr>
          <a:xfrm rot="0">
            <a:off x="10586114" y="5084969"/>
            <a:ext cx="6732118" cy="645824"/>
            <a:chOff x="0" y="0"/>
            <a:chExt cx="8976157" cy="861098"/>
          </a:xfrm>
        </p:grpSpPr>
        <p:sp>
          <p:nvSpPr>
            <p:cNvPr name="Freeform 19" id="19"/>
            <p:cNvSpPr/>
            <p:nvPr/>
          </p:nvSpPr>
          <p:spPr>
            <a:xfrm flipH="false" flipV="false" rot="0">
              <a:off x="0" y="0"/>
              <a:ext cx="8976106" cy="861060"/>
            </a:xfrm>
            <a:custGeom>
              <a:avLst/>
              <a:gdLst/>
              <a:ahLst/>
              <a:cxnLst/>
              <a:rect r="r" b="b" t="t" l="l"/>
              <a:pathLst>
                <a:path h="861060" w="8976106">
                  <a:moveTo>
                    <a:pt x="0" y="40767"/>
                  </a:moveTo>
                  <a:cubicBezTo>
                    <a:pt x="0" y="18288"/>
                    <a:pt x="18288" y="0"/>
                    <a:pt x="40767" y="0"/>
                  </a:cubicBezTo>
                  <a:lnTo>
                    <a:pt x="8935339" y="0"/>
                  </a:lnTo>
                  <a:cubicBezTo>
                    <a:pt x="8957818" y="0"/>
                    <a:pt x="8976106" y="18288"/>
                    <a:pt x="8976106" y="40767"/>
                  </a:cubicBezTo>
                  <a:lnTo>
                    <a:pt x="8976106" y="820293"/>
                  </a:lnTo>
                  <a:cubicBezTo>
                    <a:pt x="8976106" y="842772"/>
                    <a:pt x="8957818" y="861060"/>
                    <a:pt x="8935339" y="861060"/>
                  </a:cubicBezTo>
                  <a:lnTo>
                    <a:pt x="40767" y="861060"/>
                  </a:lnTo>
                  <a:cubicBezTo>
                    <a:pt x="18288" y="861060"/>
                    <a:pt x="0" y="842899"/>
                    <a:pt x="0" y="820293"/>
                  </a:cubicBezTo>
                  <a:close/>
                </a:path>
              </a:pathLst>
            </a:custGeom>
            <a:solidFill>
              <a:srgbClr val="CCD7FF"/>
            </a:solidFill>
          </p:spPr>
        </p:sp>
      </p:grpSp>
      <p:grpSp>
        <p:nvGrpSpPr>
          <p:cNvPr name="Group 20" id="20"/>
          <p:cNvGrpSpPr/>
          <p:nvPr/>
        </p:nvGrpSpPr>
        <p:grpSpPr>
          <a:xfrm rot="0">
            <a:off x="10790015" y="5361556"/>
            <a:ext cx="254841" cy="203902"/>
            <a:chOff x="0" y="0"/>
            <a:chExt cx="339788" cy="271869"/>
          </a:xfrm>
        </p:grpSpPr>
        <p:sp>
          <p:nvSpPr>
            <p:cNvPr name="Freeform 21" id="21" descr="preencoded.png"/>
            <p:cNvSpPr/>
            <p:nvPr/>
          </p:nvSpPr>
          <p:spPr>
            <a:xfrm flipH="false" flipV="false" rot="0">
              <a:off x="0" y="0"/>
              <a:ext cx="339725" cy="271907"/>
            </a:xfrm>
            <a:custGeom>
              <a:avLst/>
              <a:gdLst/>
              <a:ahLst/>
              <a:cxnLst/>
              <a:rect r="r" b="b" t="t" l="l"/>
              <a:pathLst>
                <a:path h="271907" w="339725">
                  <a:moveTo>
                    <a:pt x="0" y="0"/>
                  </a:moveTo>
                  <a:lnTo>
                    <a:pt x="339725" y="0"/>
                  </a:lnTo>
                  <a:lnTo>
                    <a:pt x="339725" y="271907"/>
                  </a:lnTo>
                  <a:lnTo>
                    <a:pt x="0" y="271907"/>
                  </a:lnTo>
                  <a:lnTo>
                    <a:pt x="0" y="0"/>
                  </a:lnTo>
                  <a:close/>
                </a:path>
              </a:pathLst>
            </a:custGeom>
            <a:blipFill>
              <a:blip r:embed="rId5"/>
              <a:stretch>
                <a:fillRect l="0" t="-915" r="-18" b="-906"/>
              </a:stretch>
            </a:blipFill>
          </p:spPr>
        </p:sp>
      </p:grpSp>
      <p:sp>
        <p:nvSpPr>
          <p:cNvPr name="TextBox 22" id="22"/>
          <p:cNvSpPr txBox="true"/>
          <p:nvPr/>
        </p:nvSpPr>
        <p:spPr>
          <a:xfrm rot="0">
            <a:off x="11248749" y="5239150"/>
            <a:ext cx="6780676" cy="308886"/>
          </a:xfrm>
          <a:prstGeom prst="rect">
            <a:avLst/>
          </a:prstGeom>
        </p:spPr>
        <p:txBody>
          <a:bodyPr anchor="t" rtlCol="false" tIns="0" lIns="0" bIns="0" rIns="0">
            <a:spAutoFit/>
          </a:bodyPr>
          <a:lstStyle/>
          <a:p>
            <a:pPr algn="l">
              <a:lnSpc>
                <a:spcPts val="2175"/>
              </a:lnSpc>
            </a:pPr>
            <a:r>
              <a:rPr lang="en-US" sz="1576">
                <a:solidFill>
                  <a:srgbClr val="000000"/>
                </a:solidFill>
                <a:latin typeface="Heebo"/>
                <a:ea typeface="Heebo"/>
                <a:cs typeface="Heebo"/>
                <a:sym typeface="Heebo"/>
              </a:rPr>
              <a:t>Space reserved for circuit diagram insertion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0F0F1"/>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6" id="6"/>
          <p:cNvGrpSpPr/>
          <p:nvPr/>
        </p:nvGrpSpPr>
        <p:grpSpPr>
          <a:xfrm rot="0">
            <a:off x="16628307" y="9846183"/>
            <a:ext cx="1609020" cy="384353"/>
            <a:chOff x="0" y="0"/>
            <a:chExt cx="2145360" cy="512470"/>
          </a:xfrm>
        </p:grpSpPr>
        <p:sp>
          <p:nvSpPr>
            <p:cNvPr name="Freeform 7" id="7" descr="preencoded.png">
              <a:hlinkClick r:id="rId3" tooltip="https://gamma.app/?utm_source=made-with-gamma"/>
            </p:cNvPr>
            <p:cNvSpPr/>
            <p:nvPr/>
          </p:nvSpPr>
          <p:spPr>
            <a:xfrm flipH="false" flipV="false" rot="0">
              <a:off x="0" y="0"/>
              <a:ext cx="2145411" cy="512445"/>
            </a:xfrm>
            <a:custGeom>
              <a:avLst/>
              <a:gdLst/>
              <a:ahLst/>
              <a:cxnLst/>
              <a:rect r="r" b="b" t="t" l="l"/>
              <a:pathLst>
                <a:path h="512445" w="2145411">
                  <a:moveTo>
                    <a:pt x="0" y="0"/>
                  </a:moveTo>
                  <a:lnTo>
                    <a:pt x="2145411" y="0"/>
                  </a:lnTo>
                  <a:lnTo>
                    <a:pt x="2145411" y="512445"/>
                  </a:lnTo>
                  <a:lnTo>
                    <a:pt x="0" y="512445"/>
                  </a:lnTo>
                  <a:lnTo>
                    <a:pt x="0" y="0"/>
                  </a:lnTo>
                  <a:close/>
                </a:path>
              </a:pathLst>
            </a:custGeom>
            <a:blipFill>
              <a:blip r:embed="rId4"/>
              <a:stretch>
                <a:fillRect l="0" t="0" r="2" b="-4"/>
              </a:stretch>
            </a:blipFill>
          </p:spPr>
        </p:sp>
      </p:grpSp>
      <p:sp>
        <p:nvSpPr>
          <p:cNvPr name="TextBox 8" id="8"/>
          <p:cNvSpPr txBox="true"/>
          <p:nvPr/>
        </p:nvSpPr>
        <p:spPr>
          <a:xfrm rot="0">
            <a:off x="992991" y="751742"/>
            <a:ext cx="16315868" cy="471830"/>
          </a:xfrm>
          <a:prstGeom prst="rect">
            <a:avLst/>
          </a:prstGeom>
        </p:spPr>
        <p:txBody>
          <a:bodyPr anchor="t" rtlCol="false" tIns="0" lIns="0" bIns="0" rIns="0">
            <a:spAutoFit/>
          </a:bodyPr>
          <a:lstStyle/>
          <a:p>
            <a:pPr algn="l">
              <a:lnSpc>
                <a:spcPts val="3465"/>
              </a:lnSpc>
            </a:pPr>
            <a:r>
              <a:rPr lang="en-US" sz="2777">
                <a:solidFill>
                  <a:srgbClr val="152D47"/>
                </a:solidFill>
                <a:latin typeface="Crimson Pro"/>
                <a:ea typeface="Crimson Pro"/>
                <a:cs typeface="Crimson Pro"/>
                <a:sym typeface="Crimson Pro"/>
              </a:rPr>
              <a:t>Circuit Design and Component Calculations</a:t>
            </a:r>
          </a:p>
        </p:txBody>
      </p:sp>
      <p:sp>
        <p:nvSpPr>
          <p:cNvPr name="TextBox 9" id="9"/>
          <p:cNvSpPr txBox="true"/>
          <p:nvPr/>
        </p:nvSpPr>
        <p:spPr>
          <a:xfrm rot="0">
            <a:off x="992991" y="1374896"/>
            <a:ext cx="1723095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             </a:t>
            </a:r>
            <a:r>
              <a:rPr lang="en-US" sz="1050" b="true">
                <a:solidFill>
                  <a:srgbClr val="4C4C4D"/>
                </a:solidFill>
                <a:latin typeface="Heebo Bold"/>
                <a:ea typeface="Heebo Bold"/>
                <a:cs typeface="Heebo Bold"/>
                <a:sym typeface="Heebo Bold"/>
              </a:rPr>
              <a:t>Design Specifications Table:</a:t>
            </a:r>
            <a:r>
              <a:rPr lang="en-US" sz="1050">
                <a:solidFill>
                  <a:srgbClr val="4C4C4D"/>
                </a:solidFill>
                <a:latin typeface="Heebo"/>
                <a:ea typeface="Heebo"/>
                <a:cs typeface="Heebo"/>
                <a:sym typeface="Heebo"/>
              </a:rPr>
              <a:t>         </a:t>
            </a:r>
          </a:p>
        </p:txBody>
      </p:sp>
      <p:grpSp>
        <p:nvGrpSpPr>
          <p:cNvPr name="Group 10" id="10"/>
          <p:cNvGrpSpPr/>
          <p:nvPr/>
        </p:nvGrpSpPr>
        <p:grpSpPr>
          <a:xfrm rot="0">
            <a:off x="988219" y="1610535"/>
            <a:ext cx="16325393" cy="1721501"/>
            <a:chOff x="0" y="0"/>
            <a:chExt cx="21767190" cy="2295334"/>
          </a:xfrm>
        </p:grpSpPr>
        <p:sp>
          <p:nvSpPr>
            <p:cNvPr name="Freeform 11" id="11"/>
            <p:cNvSpPr/>
            <p:nvPr/>
          </p:nvSpPr>
          <p:spPr>
            <a:xfrm flipH="false" flipV="false" rot="0">
              <a:off x="0" y="0"/>
              <a:ext cx="21767292" cy="2295398"/>
            </a:xfrm>
            <a:custGeom>
              <a:avLst/>
              <a:gdLst/>
              <a:ahLst/>
              <a:cxnLst/>
              <a:rect r="r" b="b" t="t" l="l"/>
              <a:pathLst>
                <a:path h="2295398" w="21767292">
                  <a:moveTo>
                    <a:pt x="0" y="28575"/>
                  </a:moveTo>
                  <a:cubicBezTo>
                    <a:pt x="0" y="12827"/>
                    <a:pt x="12827" y="0"/>
                    <a:pt x="28575" y="0"/>
                  </a:cubicBezTo>
                  <a:lnTo>
                    <a:pt x="21738717" y="0"/>
                  </a:lnTo>
                  <a:cubicBezTo>
                    <a:pt x="21754464" y="0"/>
                    <a:pt x="21767292" y="12827"/>
                    <a:pt x="21767292" y="28575"/>
                  </a:cubicBezTo>
                  <a:lnTo>
                    <a:pt x="21767292" y="2266823"/>
                  </a:lnTo>
                  <a:cubicBezTo>
                    <a:pt x="21767292" y="2282571"/>
                    <a:pt x="21754464" y="2295398"/>
                    <a:pt x="21738717" y="2295398"/>
                  </a:cubicBezTo>
                  <a:lnTo>
                    <a:pt x="28575" y="2295398"/>
                  </a:lnTo>
                  <a:cubicBezTo>
                    <a:pt x="12827" y="2295398"/>
                    <a:pt x="0" y="2282571"/>
                    <a:pt x="0" y="2266823"/>
                  </a:cubicBezTo>
                  <a:close/>
                </a:path>
              </a:pathLst>
            </a:custGeom>
            <a:blipFill>
              <a:blip r:embed="rId5">
                <a:alphaModFix amt="0"/>
              </a:blip>
              <a:stretch>
                <a:fillRect l="0" t="-134777" r="0" b="-134774"/>
              </a:stretch>
            </a:blipFill>
            <a:ln w="9532" cap="sq">
              <a:solidFill>
                <a:srgbClr val="000000"/>
              </a:solidFill>
              <a:prstDash val="solid"/>
              <a:miter/>
            </a:ln>
          </p:spPr>
        </p:sp>
      </p:grpSp>
      <p:grpSp>
        <p:nvGrpSpPr>
          <p:cNvPr name="Group 12" id="12"/>
          <p:cNvGrpSpPr/>
          <p:nvPr/>
        </p:nvGrpSpPr>
        <p:grpSpPr>
          <a:xfrm rot="0">
            <a:off x="992991" y="1903809"/>
            <a:ext cx="16315868" cy="9535"/>
            <a:chOff x="0" y="0"/>
            <a:chExt cx="21754490" cy="12713"/>
          </a:xfrm>
        </p:grpSpPr>
        <p:sp>
          <p:nvSpPr>
            <p:cNvPr name="Freeform 13" id="13"/>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14" id="14"/>
          <p:cNvGrpSpPr/>
          <p:nvPr/>
        </p:nvGrpSpPr>
        <p:grpSpPr>
          <a:xfrm rot="0">
            <a:off x="992991" y="2187550"/>
            <a:ext cx="16315868" cy="9535"/>
            <a:chOff x="0" y="0"/>
            <a:chExt cx="21754490" cy="12713"/>
          </a:xfrm>
        </p:grpSpPr>
        <p:sp>
          <p:nvSpPr>
            <p:cNvPr name="Freeform 15" id="15"/>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16" id="16"/>
          <p:cNvGrpSpPr/>
          <p:nvPr/>
        </p:nvGrpSpPr>
        <p:grpSpPr>
          <a:xfrm rot="0">
            <a:off x="992991" y="2471290"/>
            <a:ext cx="16315868" cy="9535"/>
            <a:chOff x="0" y="0"/>
            <a:chExt cx="21754490" cy="12713"/>
          </a:xfrm>
        </p:grpSpPr>
        <p:sp>
          <p:nvSpPr>
            <p:cNvPr name="Freeform 17" id="17"/>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18" id="18"/>
          <p:cNvGrpSpPr/>
          <p:nvPr/>
        </p:nvGrpSpPr>
        <p:grpSpPr>
          <a:xfrm rot="0">
            <a:off x="992991" y="2755030"/>
            <a:ext cx="16315868" cy="9535"/>
            <a:chOff x="0" y="0"/>
            <a:chExt cx="21754490" cy="12713"/>
          </a:xfrm>
        </p:grpSpPr>
        <p:sp>
          <p:nvSpPr>
            <p:cNvPr name="Freeform 19" id="19"/>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20" id="20"/>
          <p:cNvGrpSpPr/>
          <p:nvPr/>
        </p:nvGrpSpPr>
        <p:grpSpPr>
          <a:xfrm rot="0">
            <a:off x="992991" y="3038770"/>
            <a:ext cx="16315868" cy="9535"/>
            <a:chOff x="0" y="0"/>
            <a:chExt cx="21754490" cy="12713"/>
          </a:xfrm>
        </p:grpSpPr>
        <p:sp>
          <p:nvSpPr>
            <p:cNvPr name="Freeform 21" id="21"/>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22" id="22"/>
          <p:cNvGrpSpPr/>
          <p:nvPr/>
        </p:nvGrpSpPr>
        <p:grpSpPr>
          <a:xfrm rot="0">
            <a:off x="9150925" y="1615307"/>
            <a:ext cx="9535" cy="1711966"/>
            <a:chOff x="0" y="0"/>
            <a:chExt cx="12713" cy="2282622"/>
          </a:xfrm>
        </p:grpSpPr>
        <p:sp>
          <p:nvSpPr>
            <p:cNvPr name="Freeform 23" id="23"/>
            <p:cNvSpPr/>
            <p:nvPr/>
          </p:nvSpPr>
          <p:spPr>
            <a:xfrm flipH="false" flipV="false" rot="0">
              <a:off x="0" y="0"/>
              <a:ext cx="12700" cy="2282571"/>
            </a:xfrm>
            <a:custGeom>
              <a:avLst/>
              <a:gdLst/>
              <a:ahLst/>
              <a:cxnLst/>
              <a:rect r="r" b="b" t="t" l="l"/>
              <a:pathLst>
                <a:path h="2282571" w="12700">
                  <a:moveTo>
                    <a:pt x="0" y="0"/>
                  </a:moveTo>
                  <a:lnTo>
                    <a:pt x="12700" y="0"/>
                  </a:lnTo>
                  <a:lnTo>
                    <a:pt x="12700" y="2282571"/>
                  </a:lnTo>
                  <a:lnTo>
                    <a:pt x="0" y="2282571"/>
                  </a:lnTo>
                  <a:close/>
                </a:path>
              </a:pathLst>
            </a:custGeom>
            <a:solidFill>
              <a:srgbClr val="000000">
                <a:alpha val="392"/>
              </a:srgbClr>
            </a:solidFill>
          </p:spPr>
        </p:sp>
      </p:grpSp>
      <p:sp>
        <p:nvSpPr>
          <p:cNvPr name="TextBox 24" id="24"/>
          <p:cNvSpPr txBox="true"/>
          <p:nvPr/>
        </p:nvSpPr>
        <p:spPr>
          <a:xfrm rot="0">
            <a:off x="1144314" y="1686344"/>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Parameter</a:t>
            </a:r>
          </a:p>
        </p:txBody>
      </p:sp>
      <p:sp>
        <p:nvSpPr>
          <p:cNvPr name="TextBox 25" id="25"/>
          <p:cNvSpPr txBox="true"/>
          <p:nvPr/>
        </p:nvSpPr>
        <p:spPr>
          <a:xfrm rot="0">
            <a:off x="9297476" y="1686344"/>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Value</a:t>
            </a:r>
          </a:p>
        </p:txBody>
      </p:sp>
      <p:sp>
        <p:nvSpPr>
          <p:cNvPr name="TextBox 26" id="26"/>
          <p:cNvSpPr txBox="true"/>
          <p:nvPr/>
        </p:nvSpPr>
        <p:spPr>
          <a:xfrm rot="0">
            <a:off x="1144314" y="1970084"/>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High Voltage Supply</a:t>
            </a:r>
          </a:p>
        </p:txBody>
      </p:sp>
      <p:sp>
        <p:nvSpPr>
          <p:cNvPr name="TextBox 27" id="27"/>
          <p:cNvSpPr txBox="true"/>
          <p:nvPr/>
        </p:nvSpPr>
        <p:spPr>
          <a:xfrm rot="0">
            <a:off x="9297476" y="1970084"/>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100 V</a:t>
            </a:r>
          </a:p>
        </p:txBody>
      </p:sp>
      <p:sp>
        <p:nvSpPr>
          <p:cNvPr name="TextBox 28" id="28"/>
          <p:cNvSpPr txBox="true"/>
          <p:nvPr/>
        </p:nvSpPr>
        <p:spPr>
          <a:xfrm rot="0">
            <a:off x="1144314" y="2253825"/>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Logic Input</a:t>
            </a:r>
          </a:p>
        </p:txBody>
      </p:sp>
      <p:sp>
        <p:nvSpPr>
          <p:cNvPr name="TextBox 29" id="29"/>
          <p:cNvSpPr txBox="true"/>
          <p:nvPr/>
        </p:nvSpPr>
        <p:spPr>
          <a:xfrm rot="0">
            <a:off x="9297476" y="2253825"/>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3.3 V</a:t>
            </a:r>
          </a:p>
        </p:txBody>
      </p:sp>
      <p:sp>
        <p:nvSpPr>
          <p:cNvPr name="TextBox 30" id="30"/>
          <p:cNvSpPr txBox="true"/>
          <p:nvPr/>
        </p:nvSpPr>
        <p:spPr>
          <a:xfrm rot="0">
            <a:off x="1144314" y="2537565"/>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Zener Voltage</a:t>
            </a:r>
          </a:p>
        </p:txBody>
      </p:sp>
      <p:sp>
        <p:nvSpPr>
          <p:cNvPr name="TextBox 31" id="31"/>
          <p:cNvSpPr txBox="true"/>
          <p:nvPr/>
        </p:nvSpPr>
        <p:spPr>
          <a:xfrm rot="0">
            <a:off x="9297476" y="2537565"/>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12 V</a:t>
            </a:r>
          </a:p>
        </p:txBody>
      </p:sp>
      <p:sp>
        <p:nvSpPr>
          <p:cNvPr name="TextBox 32" id="32"/>
          <p:cNvSpPr txBox="true"/>
          <p:nvPr/>
        </p:nvSpPr>
        <p:spPr>
          <a:xfrm rot="0">
            <a:off x="1144314" y="2821295"/>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Desired Zener Current</a:t>
            </a:r>
          </a:p>
        </p:txBody>
      </p:sp>
      <p:sp>
        <p:nvSpPr>
          <p:cNvPr name="TextBox 33" id="33"/>
          <p:cNvSpPr txBox="true"/>
          <p:nvPr/>
        </p:nvSpPr>
        <p:spPr>
          <a:xfrm rot="0">
            <a:off x="9297476" y="2821295"/>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5 mA</a:t>
            </a:r>
          </a:p>
        </p:txBody>
      </p:sp>
      <p:sp>
        <p:nvSpPr>
          <p:cNvPr name="TextBox 34" id="34"/>
          <p:cNvSpPr txBox="true"/>
          <p:nvPr/>
        </p:nvSpPr>
        <p:spPr>
          <a:xfrm rot="0">
            <a:off x="1144314" y="3105036"/>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PMOS Maximum VGS</a:t>
            </a:r>
          </a:p>
        </p:txBody>
      </p:sp>
      <p:sp>
        <p:nvSpPr>
          <p:cNvPr name="TextBox 35" id="35"/>
          <p:cNvSpPr txBox="true"/>
          <p:nvPr/>
        </p:nvSpPr>
        <p:spPr>
          <a:xfrm rot="0">
            <a:off x="9297476" y="3105036"/>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±20 V</a:t>
            </a:r>
          </a:p>
        </p:txBody>
      </p:sp>
      <p:sp>
        <p:nvSpPr>
          <p:cNvPr name="TextBox 36" id="36"/>
          <p:cNvSpPr txBox="true"/>
          <p:nvPr/>
        </p:nvSpPr>
        <p:spPr>
          <a:xfrm rot="0">
            <a:off x="992991" y="3424095"/>
            <a:ext cx="16315868" cy="231153"/>
          </a:xfrm>
          <a:prstGeom prst="rect">
            <a:avLst/>
          </a:prstGeom>
        </p:spPr>
        <p:txBody>
          <a:bodyPr anchor="t" rtlCol="false" tIns="0" lIns="0" bIns="0" rIns="0">
            <a:spAutoFit/>
          </a:bodyPr>
          <a:lstStyle/>
          <a:p>
            <a:pPr algn="l">
              <a:lnSpc>
                <a:spcPts val="1686"/>
              </a:lnSpc>
            </a:pPr>
            <a:r>
              <a:rPr lang="en-US" sz="1351">
                <a:solidFill>
                  <a:srgbClr val="152D47"/>
                </a:solidFill>
                <a:latin typeface="Crimson Pro"/>
                <a:ea typeface="Crimson Pro"/>
                <a:cs typeface="Crimson Pro"/>
                <a:sym typeface="Crimson Pro"/>
              </a:rPr>
              <a:t>Section 1: Design of Zener Bias Resistor (R1)</a:t>
            </a:r>
          </a:p>
        </p:txBody>
      </p:sp>
      <p:sp>
        <p:nvSpPr>
          <p:cNvPr name="TextBox 37" id="37"/>
          <p:cNvSpPr txBox="true"/>
          <p:nvPr/>
        </p:nvSpPr>
        <p:spPr>
          <a:xfrm rot="0">
            <a:off x="992991" y="3771119"/>
            <a:ext cx="16315868" cy="410651"/>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The resistor R1 supplies the required current to the Zener diode while limiting the current drawn from the 100 V supply.</a:t>
            </a:r>
          </a:p>
          <a:p>
            <a:pPr algn="l">
              <a:lnSpc>
                <a:spcPts val="1260"/>
              </a:lnSpc>
            </a:pPr>
            <a:r>
              <a:rPr lang="en-US" sz="1050">
                <a:solidFill>
                  <a:srgbClr val="4C4C4D"/>
                </a:solidFill>
                <a:latin typeface="Heebo"/>
                <a:ea typeface="Heebo"/>
                <a:cs typeface="Heebo"/>
                <a:sym typeface="Heebo"/>
              </a:rPr>
              <a:t>Applying Kirchhoff's Voltage Law (KVL):</a:t>
            </a:r>
          </a:p>
        </p:txBody>
      </p:sp>
      <p:grpSp>
        <p:nvGrpSpPr>
          <p:cNvPr name="Group 38" id="38"/>
          <p:cNvGrpSpPr/>
          <p:nvPr/>
        </p:nvGrpSpPr>
        <p:grpSpPr>
          <a:xfrm rot="0">
            <a:off x="992991" y="4271429"/>
            <a:ext cx="16315868" cy="241287"/>
            <a:chOff x="0" y="0"/>
            <a:chExt cx="21754490" cy="321716"/>
          </a:xfrm>
        </p:grpSpPr>
        <p:sp>
          <p:nvSpPr>
            <p:cNvPr name="Freeform 39" id="39" descr="preencoded.png"/>
            <p:cNvSpPr/>
            <p:nvPr/>
          </p:nvSpPr>
          <p:spPr>
            <a:xfrm flipH="false" flipV="false" rot="0">
              <a:off x="0" y="0"/>
              <a:ext cx="21754464" cy="321691"/>
            </a:xfrm>
            <a:custGeom>
              <a:avLst/>
              <a:gdLst/>
              <a:ahLst/>
              <a:cxnLst/>
              <a:rect r="r" b="b" t="t" l="l"/>
              <a:pathLst>
                <a:path h="321691" w="21754464">
                  <a:moveTo>
                    <a:pt x="0" y="0"/>
                  </a:moveTo>
                  <a:lnTo>
                    <a:pt x="21754464" y="0"/>
                  </a:lnTo>
                  <a:lnTo>
                    <a:pt x="21754464" y="321691"/>
                  </a:lnTo>
                  <a:lnTo>
                    <a:pt x="0" y="321691"/>
                  </a:lnTo>
                  <a:lnTo>
                    <a:pt x="0" y="0"/>
                  </a:lnTo>
                  <a:close/>
                </a:path>
              </a:pathLst>
            </a:custGeom>
            <a:blipFill>
              <a:blip r:embed="rId6"/>
              <a:stretch>
                <a:fillRect l="0" t="-1346" r="0" b="-1354"/>
              </a:stretch>
            </a:blipFill>
          </p:spPr>
        </p:sp>
      </p:grpSp>
      <p:sp>
        <p:nvSpPr>
          <p:cNvPr name="TextBox 40" id="40"/>
          <p:cNvSpPr txBox="true"/>
          <p:nvPr/>
        </p:nvSpPr>
        <p:spPr>
          <a:xfrm rot="0">
            <a:off x="992991" y="4611910"/>
            <a:ext cx="1723095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Therefore:</a:t>
            </a:r>
          </a:p>
        </p:txBody>
      </p:sp>
      <p:grpSp>
        <p:nvGrpSpPr>
          <p:cNvPr name="Group 41" id="41"/>
          <p:cNvGrpSpPr/>
          <p:nvPr/>
        </p:nvGrpSpPr>
        <p:grpSpPr>
          <a:xfrm rot="0">
            <a:off x="992991" y="4862293"/>
            <a:ext cx="16315868" cy="241287"/>
            <a:chOff x="0" y="0"/>
            <a:chExt cx="21754490" cy="321716"/>
          </a:xfrm>
        </p:grpSpPr>
        <p:sp>
          <p:nvSpPr>
            <p:cNvPr name="Freeform 42" id="42" descr="preencoded.png"/>
            <p:cNvSpPr/>
            <p:nvPr/>
          </p:nvSpPr>
          <p:spPr>
            <a:xfrm flipH="false" flipV="false" rot="0">
              <a:off x="0" y="0"/>
              <a:ext cx="21754464" cy="321691"/>
            </a:xfrm>
            <a:custGeom>
              <a:avLst/>
              <a:gdLst/>
              <a:ahLst/>
              <a:cxnLst/>
              <a:rect r="r" b="b" t="t" l="l"/>
              <a:pathLst>
                <a:path h="321691" w="21754464">
                  <a:moveTo>
                    <a:pt x="0" y="0"/>
                  </a:moveTo>
                  <a:lnTo>
                    <a:pt x="21754464" y="0"/>
                  </a:lnTo>
                  <a:lnTo>
                    <a:pt x="21754464" y="321691"/>
                  </a:lnTo>
                  <a:lnTo>
                    <a:pt x="0" y="321691"/>
                  </a:lnTo>
                  <a:lnTo>
                    <a:pt x="0" y="0"/>
                  </a:lnTo>
                  <a:close/>
                </a:path>
              </a:pathLst>
            </a:custGeom>
            <a:blipFill>
              <a:blip r:embed="rId7"/>
              <a:stretch>
                <a:fillRect l="0" t="-1346" r="0" b="-1354"/>
              </a:stretch>
            </a:blipFill>
          </p:spPr>
        </p:sp>
      </p:grpSp>
      <p:sp>
        <p:nvSpPr>
          <p:cNvPr name="TextBox 43" id="43"/>
          <p:cNvSpPr txBox="true"/>
          <p:nvPr/>
        </p:nvSpPr>
        <p:spPr>
          <a:xfrm rot="0">
            <a:off x="992991" y="5202774"/>
            <a:ext cx="1723095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Substituting the design values:</a:t>
            </a:r>
          </a:p>
        </p:txBody>
      </p:sp>
      <p:grpSp>
        <p:nvGrpSpPr>
          <p:cNvPr name="Group 44" id="44"/>
          <p:cNvGrpSpPr/>
          <p:nvPr/>
        </p:nvGrpSpPr>
        <p:grpSpPr>
          <a:xfrm rot="0">
            <a:off x="992991" y="5453158"/>
            <a:ext cx="16315868" cy="241287"/>
            <a:chOff x="0" y="0"/>
            <a:chExt cx="21754490" cy="321716"/>
          </a:xfrm>
        </p:grpSpPr>
        <p:sp>
          <p:nvSpPr>
            <p:cNvPr name="Freeform 45" id="45" descr="preencoded.png"/>
            <p:cNvSpPr/>
            <p:nvPr/>
          </p:nvSpPr>
          <p:spPr>
            <a:xfrm flipH="false" flipV="false" rot="0">
              <a:off x="0" y="0"/>
              <a:ext cx="21754464" cy="321691"/>
            </a:xfrm>
            <a:custGeom>
              <a:avLst/>
              <a:gdLst/>
              <a:ahLst/>
              <a:cxnLst/>
              <a:rect r="r" b="b" t="t" l="l"/>
              <a:pathLst>
                <a:path h="321691" w="21754464">
                  <a:moveTo>
                    <a:pt x="0" y="0"/>
                  </a:moveTo>
                  <a:lnTo>
                    <a:pt x="21754464" y="0"/>
                  </a:lnTo>
                  <a:lnTo>
                    <a:pt x="21754464" y="321691"/>
                  </a:lnTo>
                  <a:lnTo>
                    <a:pt x="0" y="321691"/>
                  </a:lnTo>
                  <a:lnTo>
                    <a:pt x="0" y="0"/>
                  </a:lnTo>
                  <a:close/>
                </a:path>
              </a:pathLst>
            </a:custGeom>
            <a:blipFill>
              <a:blip r:embed="rId8"/>
              <a:stretch>
                <a:fillRect l="0" t="-1346" r="0" b="-1354"/>
              </a:stretch>
            </a:blipFill>
          </p:spPr>
        </p:sp>
      </p:grpSp>
      <p:grpSp>
        <p:nvGrpSpPr>
          <p:cNvPr name="Group 46" id="46"/>
          <p:cNvGrpSpPr/>
          <p:nvPr/>
        </p:nvGrpSpPr>
        <p:grpSpPr>
          <a:xfrm rot="0">
            <a:off x="992991" y="5784113"/>
            <a:ext cx="16315868" cy="241287"/>
            <a:chOff x="0" y="0"/>
            <a:chExt cx="21754490" cy="321716"/>
          </a:xfrm>
        </p:grpSpPr>
        <p:sp>
          <p:nvSpPr>
            <p:cNvPr name="Freeform 47" id="47" descr="preencoded.png"/>
            <p:cNvSpPr/>
            <p:nvPr/>
          </p:nvSpPr>
          <p:spPr>
            <a:xfrm flipH="false" flipV="false" rot="0">
              <a:off x="0" y="0"/>
              <a:ext cx="21754464" cy="321691"/>
            </a:xfrm>
            <a:custGeom>
              <a:avLst/>
              <a:gdLst/>
              <a:ahLst/>
              <a:cxnLst/>
              <a:rect r="r" b="b" t="t" l="l"/>
              <a:pathLst>
                <a:path h="321691" w="21754464">
                  <a:moveTo>
                    <a:pt x="0" y="0"/>
                  </a:moveTo>
                  <a:lnTo>
                    <a:pt x="21754464" y="0"/>
                  </a:lnTo>
                  <a:lnTo>
                    <a:pt x="21754464" y="321691"/>
                  </a:lnTo>
                  <a:lnTo>
                    <a:pt x="0" y="321691"/>
                  </a:lnTo>
                  <a:lnTo>
                    <a:pt x="0" y="0"/>
                  </a:lnTo>
                  <a:close/>
                </a:path>
              </a:pathLst>
            </a:custGeom>
            <a:blipFill>
              <a:blip r:embed="rId9"/>
              <a:stretch>
                <a:fillRect l="0" t="-1346" r="0" b="-1354"/>
              </a:stretch>
            </a:blipFill>
          </p:spPr>
        </p:sp>
      </p:grpSp>
      <p:sp>
        <p:nvSpPr>
          <p:cNvPr name="TextBox 48" id="48"/>
          <p:cNvSpPr txBox="true"/>
          <p:nvPr/>
        </p:nvSpPr>
        <p:spPr>
          <a:xfrm rot="0">
            <a:off x="992991" y="6124594"/>
            <a:ext cx="16315868" cy="1091622"/>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Nearest standard value:</a:t>
            </a:r>
          </a:p>
          <a:p>
            <a:pPr algn="l">
              <a:lnSpc>
                <a:spcPts val="1260"/>
              </a:lnSpc>
            </a:pPr>
            <a:r>
              <a:rPr lang="en-US" sz="1050">
                <a:solidFill>
                  <a:srgbClr val="4C4C4D"/>
                </a:solidFill>
                <a:latin typeface="Heebo"/>
                <a:ea typeface="Heebo"/>
                <a:cs typeface="Heebo"/>
                <a:sym typeface="Heebo"/>
              </a:rPr>
              <a:t>             </a:t>
            </a:r>
            <a:r>
              <a:rPr lang="en-US" sz="1050" b="true">
                <a:solidFill>
                  <a:srgbClr val="4C4C4D"/>
                </a:solidFill>
                <a:latin typeface="Heebo Bold"/>
                <a:ea typeface="Heebo Bold"/>
                <a:cs typeface="Heebo Bold"/>
                <a:sym typeface="Heebo Bold"/>
              </a:rPr>
              <a:t>R1 = 18 kΩ</a:t>
            </a:r>
            <a:r>
              <a:rPr lang="en-US" sz="1050">
                <a:solidFill>
                  <a:srgbClr val="4C4C4D"/>
                </a:solidFill>
                <a:latin typeface="Heebo"/>
                <a:ea typeface="Heebo"/>
                <a:cs typeface="Heebo"/>
                <a:sym typeface="Heebo"/>
              </a:rPr>
              <a:t>         </a:t>
            </a:r>
          </a:p>
          <a:p>
            <a:pPr algn="l">
              <a:lnSpc>
                <a:spcPts val="1260"/>
              </a:lnSpc>
            </a:pPr>
            <a:r>
              <a:rPr lang="en-US" sz="1050">
                <a:solidFill>
                  <a:srgbClr val="4C4C4D"/>
                </a:solidFill>
                <a:latin typeface="Heebo"/>
                <a:ea typeface="Heebo"/>
                <a:cs typeface="Heebo"/>
                <a:sym typeface="Heebo"/>
              </a:rPr>
              <a:t>Power Dissipation of R1:</a:t>
            </a:r>
          </a:p>
          <a:p>
            <a:pPr algn="l">
              <a:lnSpc>
                <a:spcPts val="1260"/>
              </a:lnSpc>
            </a:pPr>
            <a:r>
              <a:rPr lang="en-US" sz="1050">
                <a:solidFill>
                  <a:srgbClr val="4C4C4D"/>
                </a:solidFill>
                <a:latin typeface="Heebo"/>
                <a:ea typeface="Heebo"/>
                <a:cs typeface="Heebo"/>
                <a:sym typeface="Heebo"/>
              </a:rPr>
              <a:t>             Voltage across R1: VR1 = 100 - 12 = 88 V</a:t>
            </a:r>
          </a:p>
          <a:p>
            <a:pPr algn="l">
              <a:lnSpc>
                <a:spcPts val="1260"/>
              </a:lnSpc>
            </a:pPr>
            <a:r>
              <a:rPr lang="en-US" sz="1050">
                <a:solidFill>
                  <a:srgbClr val="4C4C4D"/>
                </a:solidFill>
                <a:latin typeface="Heebo"/>
                <a:ea typeface="Heebo"/>
                <a:cs typeface="Heebo"/>
                <a:sym typeface="Heebo"/>
              </a:rPr>
              <a:t>             Power: PR1 = 88² / (18 × 10³) = 0.43 W</a:t>
            </a:r>
          </a:p>
          <a:p>
            <a:pPr algn="l">
              <a:lnSpc>
                <a:spcPts val="1260"/>
              </a:lnSpc>
            </a:pPr>
            <a:r>
              <a:rPr lang="en-US" sz="1050">
                <a:solidFill>
                  <a:srgbClr val="4C4C4D"/>
                </a:solidFill>
                <a:latin typeface="Heebo"/>
                <a:ea typeface="Heebo"/>
                <a:cs typeface="Heebo"/>
                <a:sym typeface="Heebo"/>
              </a:rPr>
              <a:t>             </a:t>
            </a:r>
            <a:r>
              <a:rPr lang="en-US" sz="1050" b="true">
                <a:solidFill>
                  <a:srgbClr val="4C4C4D"/>
                </a:solidFill>
                <a:latin typeface="Heebo Bold"/>
                <a:ea typeface="Heebo Bold"/>
                <a:cs typeface="Heebo Bold"/>
                <a:sym typeface="Heebo Bold"/>
              </a:rPr>
              <a:t>Select a 1 W resistor</a:t>
            </a:r>
            <a:r>
              <a:rPr lang="en-US" sz="1050">
                <a:solidFill>
                  <a:srgbClr val="4C4C4D"/>
                </a:solidFill>
                <a:latin typeface="Heebo"/>
                <a:ea typeface="Heebo"/>
                <a:cs typeface="Heebo"/>
                <a:sym typeface="Heebo"/>
              </a:rPr>
              <a:t>         </a:t>
            </a:r>
          </a:p>
        </p:txBody>
      </p:sp>
      <p:sp>
        <p:nvSpPr>
          <p:cNvPr name="TextBox 49" id="49"/>
          <p:cNvSpPr txBox="true"/>
          <p:nvPr/>
        </p:nvSpPr>
        <p:spPr>
          <a:xfrm rot="0">
            <a:off x="992991" y="7313028"/>
            <a:ext cx="16315868" cy="231153"/>
          </a:xfrm>
          <a:prstGeom prst="rect">
            <a:avLst/>
          </a:prstGeom>
        </p:spPr>
        <p:txBody>
          <a:bodyPr anchor="t" rtlCol="false" tIns="0" lIns="0" bIns="0" rIns="0">
            <a:spAutoFit/>
          </a:bodyPr>
          <a:lstStyle/>
          <a:p>
            <a:pPr algn="l">
              <a:lnSpc>
                <a:spcPts val="1686"/>
              </a:lnSpc>
            </a:pPr>
            <a:r>
              <a:rPr lang="en-US" sz="1351">
                <a:solidFill>
                  <a:srgbClr val="152D47"/>
                </a:solidFill>
                <a:latin typeface="Crimson Pro"/>
                <a:ea typeface="Crimson Pro"/>
                <a:cs typeface="Crimson Pro"/>
                <a:sym typeface="Crimson Pro"/>
              </a:rPr>
              <a:t>Section 2: Design of Gate Pull-up Resistor (R2)</a:t>
            </a:r>
          </a:p>
        </p:txBody>
      </p:sp>
      <p:sp>
        <p:nvSpPr>
          <p:cNvPr name="TextBox 50" id="50"/>
          <p:cNvSpPr txBox="true"/>
          <p:nvPr/>
        </p:nvSpPr>
        <p:spPr>
          <a:xfrm rot="0">
            <a:off x="992991" y="7660062"/>
            <a:ext cx="16315868" cy="660578"/>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The pull-up resistor returns the PMOS gate to the source voltage when the NMOS is OFF.</a:t>
            </a:r>
          </a:p>
          <a:p>
            <a:pPr algn="l">
              <a:lnSpc>
                <a:spcPts val="1260"/>
              </a:lnSpc>
            </a:pPr>
            <a:r>
              <a:rPr lang="en-US" sz="1050">
                <a:solidFill>
                  <a:srgbClr val="4C4C4D"/>
                </a:solidFill>
                <a:latin typeface="Heebo"/>
                <a:ea typeface="Heebo"/>
                <a:cs typeface="Heebo"/>
                <a:sym typeface="Heebo"/>
              </a:rPr>
              <a:t>Assume the gate pull-up current: IG = 1 mA</a:t>
            </a:r>
          </a:p>
          <a:p>
            <a:pPr algn="l">
              <a:lnSpc>
                <a:spcPts val="1260"/>
              </a:lnSpc>
            </a:pPr>
            <a:r>
              <a:rPr lang="en-US" sz="1050">
                <a:solidFill>
                  <a:srgbClr val="4C4C4D"/>
                </a:solidFill>
                <a:latin typeface="Heebo"/>
                <a:ea typeface="Heebo"/>
                <a:cs typeface="Heebo"/>
                <a:sym typeface="Heebo"/>
              </a:rPr>
              <a:t>Using Ohm's law:</a:t>
            </a:r>
          </a:p>
        </p:txBody>
      </p:sp>
      <p:grpSp>
        <p:nvGrpSpPr>
          <p:cNvPr name="Group 51" id="51"/>
          <p:cNvGrpSpPr/>
          <p:nvPr/>
        </p:nvGrpSpPr>
        <p:grpSpPr>
          <a:xfrm rot="0">
            <a:off x="992991" y="8410299"/>
            <a:ext cx="16315868" cy="241287"/>
            <a:chOff x="0" y="0"/>
            <a:chExt cx="21754490" cy="321716"/>
          </a:xfrm>
        </p:grpSpPr>
        <p:sp>
          <p:nvSpPr>
            <p:cNvPr name="Freeform 52" id="52" descr="preencoded.png"/>
            <p:cNvSpPr/>
            <p:nvPr/>
          </p:nvSpPr>
          <p:spPr>
            <a:xfrm flipH="false" flipV="false" rot="0">
              <a:off x="0" y="0"/>
              <a:ext cx="21754464" cy="321691"/>
            </a:xfrm>
            <a:custGeom>
              <a:avLst/>
              <a:gdLst/>
              <a:ahLst/>
              <a:cxnLst/>
              <a:rect r="r" b="b" t="t" l="l"/>
              <a:pathLst>
                <a:path h="321691" w="21754464">
                  <a:moveTo>
                    <a:pt x="0" y="0"/>
                  </a:moveTo>
                  <a:lnTo>
                    <a:pt x="21754464" y="0"/>
                  </a:lnTo>
                  <a:lnTo>
                    <a:pt x="21754464" y="321691"/>
                  </a:lnTo>
                  <a:lnTo>
                    <a:pt x="0" y="321691"/>
                  </a:lnTo>
                  <a:lnTo>
                    <a:pt x="0" y="0"/>
                  </a:lnTo>
                  <a:close/>
                </a:path>
              </a:pathLst>
            </a:custGeom>
            <a:blipFill>
              <a:blip r:embed="rId10"/>
              <a:stretch>
                <a:fillRect l="0" t="-1346" r="0" b="-1354"/>
              </a:stretch>
            </a:blipFill>
          </p:spPr>
        </p:sp>
      </p:grpSp>
      <p:sp>
        <p:nvSpPr>
          <p:cNvPr name="TextBox 53" id="53"/>
          <p:cNvSpPr txBox="true"/>
          <p:nvPr/>
        </p:nvSpPr>
        <p:spPr>
          <a:xfrm rot="0">
            <a:off x="992991" y="8750779"/>
            <a:ext cx="16315868" cy="921382"/>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Selected value:</a:t>
            </a:r>
          </a:p>
          <a:p>
            <a:pPr algn="l">
              <a:lnSpc>
                <a:spcPts val="1260"/>
              </a:lnSpc>
            </a:pPr>
            <a:r>
              <a:rPr lang="en-US" sz="1050">
                <a:solidFill>
                  <a:srgbClr val="4C4C4D"/>
                </a:solidFill>
                <a:latin typeface="Heebo"/>
                <a:ea typeface="Heebo"/>
                <a:cs typeface="Heebo"/>
                <a:sym typeface="Heebo"/>
              </a:rPr>
              <a:t>             </a:t>
            </a:r>
            <a:r>
              <a:rPr lang="en-US" sz="1050" b="true">
                <a:solidFill>
                  <a:srgbClr val="4C4C4D"/>
                </a:solidFill>
                <a:latin typeface="Heebo Bold"/>
                <a:ea typeface="Heebo Bold"/>
                <a:cs typeface="Heebo Bold"/>
                <a:sym typeface="Heebo Bold"/>
              </a:rPr>
              <a:t>R2 = 100 kΩ</a:t>
            </a:r>
            <a:r>
              <a:rPr lang="en-US" sz="1050">
                <a:solidFill>
                  <a:srgbClr val="4C4C4D"/>
                </a:solidFill>
                <a:latin typeface="Heebo"/>
                <a:ea typeface="Heebo"/>
                <a:cs typeface="Heebo"/>
                <a:sym typeface="Heebo"/>
              </a:rPr>
              <a:t>         </a:t>
            </a:r>
          </a:p>
          <a:p>
            <a:pPr algn="l">
              <a:lnSpc>
                <a:spcPts val="1260"/>
              </a:lnSpc>
            </a:pPr>
            <a:r>
              <a:rPr lang="en-US" sz="1050">
                <a:solidFill>
                  <a:srgbClr val="4C4C4D"/>
                </a:solidFill>
                <a:latin typeface="Heebo"/>
                <a:ea typeface="Heebo"/>
                <a:cs typeface="Heebo"/>
                <a:sym typeface="Heebo"/>
              </a:rPr>
              <a:t>Power dissipation:</a:t>
            </a:r>
          </a:p>
          <a:p>
            <a:pPr algn="l">
              <a:lnSpc>
                <a:spcPts val="1260"/>
              </a:lnSpc>
            </a:pPr>
            <a:r>
              <a:rPr lang="en-US" sz="1050">
                <a:solidFill>
                  <a:srgbClr val="4C4C4D"/>
                </a:solidFill>
                <a:latin typeface="Heebo"/>
                <a:ea typeface="Heebo"/>
                <a:cs typeface="Heebo"/>
                <a:sym typeface="Heebo"/>
              </a:rPr>
              <a:t>             PR2 = 100² / 100k = 0.1 W</a:t>
            </a:r>
          </a:p>
          <a:p>
            <a:pPr algn="l">
              <a:lnSpc>
                <a:spcPts val="1260"/>
              </a:lnSpc>
            </a:pPr>
            <a:r>
              <a:rPr lang="en-US" sz="1050">
                <a:solidFill>
                  <a:srgbClr val="4C4C4D"/>
                </a:solidFill>
                <a:latin typeface="Heebo"/>
                <a:ea typeface="Heebo"/>
                <a:cs typeface="Heebo"/>
                <a:sym typeface="Heebo"/>
              </a:rPr>
              <a:t>             </a:t>
            </a:r>
            <a:r>
              <a:rPr lang="en-US" sz="1050" b="true">
                <a:solidFill>
                  <a:srgbClr val="4C4C4D"/>
                </a:solidFill>
                <a:latin typeface="Heebo Bold"/>
                <a:ea typeface="Heebo Bold"/>
                <a:cs typeface="Heebo Bold"/>
                <a:sym typeface="Heebo Bold"/>
              </a:rPr>
              <a:t>Select a 0.25 W resistor</a:t>
            </a:r>
            <a:r>
              <a:rPr lang="en-US" sz="1050">
                <a:solidFill>
                  <a:srgbClr val="4C4C4D"/>
                </a:solidFill>
                <a:latin typeface="Heebo"/>
                <a:ea typeface="Heebo"/>
                <a:cs typeface="Heebo"/>
                <a:sym typeface="Heebo"/>
              </a:rPr>
              <a:t>         </a:t>
            </a:r>
          </a:p>
        </p:txBody>
      </p:sp>
      <p:sp>
        <p:nvSpPr>
          <p:cNvPr name="TextBox 54" id="54"/>
          <p:cNvSpPr txBox="true"/>
          <p:nvPr/>
        </p:nvSpPr>
        <p:spPr>
          <a:xfrm rot="0">
            <a:off x="992991" y="9768973"/>
            <a:ext cx="16315868" cy="231153"/>
          </a:xfrm>
          <a:prstGeom prst="rect">
            <a:avLst/>
          </a:prstGeom>
        </p:spPr>
        <p:txBody>
          <a:bodyPr anchor="t" rtlCol="false" tIns="0" lIns="0" bIns="0" rIns="0">
            <a:spAutoFit/>
          </a:bodyPr>
          <a:lstStyle/>
          <a:p>
            <a:pPr algn="l">
              <a:lnSpc>
                <a:spcPts val="1686"/>
              </a:lnSpc>
            </a:pPr>
            <a:r>
              <a:rPr lang="en-US" sz="1351">
                <a:solidFill>
                  <a:srgbClr val="152D47"/>
                </a:solidFill>
                <a:latin typeface="Crimson Pro"/>
                <a:ea typeface="Crimson Pro"/>
                <a:cs typeface="Crimson Pro"/>
                <a:sym typeface="Crimson Pro"/>
              </a:rPr>
              <a:t>Section 3: Capacitor Selection</a:t>
            </a:r>
          </a:p>
        </p:txBody>
      </p:sp>
      <p:sp>
        <p:nvSpPr>
          <p:cNvPr name="TextBox 55" id="55"/>
          <p:cNvSpPr txBox="true"/>
          <p:nvPr/>
        </p:nvSpPr>
        <p:spPr>
          <a:xfrm rot="0">
            <a:off x="992991" y="10116007"/>
            <a:ext cx="16315868" cy="580892"/>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The capacitor filters high-frequency switching noise and suppresses voltage transients across the PMOS gate.</a:t>
            </a:r>
          </a:p>
          <a:p>
            <a:pPr algn="l">
              <a:lnSpc>
                <a:spcPts val="1260"/>
              </a:lnSpc>
            </a:pPr>
            <a:r>
              <a:rPr lang="en-US" sz="1050">
                <a:solidFill>
                  <a:srgbClr val="4C4C4D"/>
                </a:solidFill>
                <a:latin typeface="Heebo"/>
                <a:ea typeface="Heebo"/>
                <a:cs typeface="Heebo"/>
                <a:sym typeface="Heebo"/>
              </a:rPr>
              <a:t>Selected value:</a:t>
            </a:r>
          </a:p>
          <a:p>
            <a:pPr algn="l">
              <a:lnSpc>
                <a:spcPts val="1260"/>
              </a:lnSpc>
            </a:pPr>
            <a:r>
              <a:rPr lang="en-US" sz="1050">
                <a:solidFill>
                  <a:srgbClr val="4C4C4D"/>
                </a:solidFill>
                <a:latin typeface="Heebo"/>
                <a:ea typeface="Heebo"/>
                <a:cs typeface="Heebo"/>
                <a:sym typeface="Heebo"/>
              </a:rPr>
              <a:t>             </a:t>
            </a:r>
            <a:r>
              <a:rPr lang="en-US" sz="1050" b="true">
                <a:solidFill>
                  <a:srgbClr val="4C4C4D"/>
                </a:solidFill>
                <a:latin typeface="Heebo Bold"/>
                <a:ea typeface="Heebo Bold"/>
                <a:cs typeface="Heebo Bold"/>
                <a:sym typeface="Heebo Bold"/>
              </a:rPr>
              <a:t>C1 = 100 nF</a:t>
            </a:r>
            <a:r>
              <a:rPr lang="en-US" sz="1050">
                <a:solidFill>
                  <a:srgbClr val="4C4C4D"/>
                </a:solidFill>
                <a:latin typeface="Heebo"/>
                <a:ea typeface="Heebo"/>
                <a:cs typeface="Heebo"/>
                <a:sym typeface="Heebo"/>
              </a:rPr>
              <a:t>         </a:t>
            </a:r>
          </a:p>
        </p:txBody>
      </p:sp>
      <p:sp>
        <p:nvSpPr>
          <p:cNvPr name="TextBox 56" id="56"/>
          <p:cNvSpPr txBox="true"/>
          <p:nvPr/>
        </p:nvSpPr>
        <p:spPr>
          <a:xfrm rot="0">
            <a:off x="992991" y="10793720"/>
            <a:ext cx="16315868" cy="231153"/>
          </a:xfrm>
          <a:prstGeom prst="rect">
            <a:avLst/>
          </a:prstGeom>
        </p:spPr>
        <p:txBody>
          <a:bodyPr anchor="t" rtlCol="false" tIns="0" lIns="0" bIns="0" rIns="0">
            <a:spAutoFit/>
          </a:bodyPr>
          <a:lstStyle/>
          <a:p>
            <a:pPr algn="l">
              <a:lnSpc>
                <a:spcPts val="1686"/>
              </a:lnSpc>
            </a:pPr>
            <a:r>
              <a:rPr lang="en-US" sz="1351">
                <a:solidFill>
                  <a:srgbClr val="152D47"/>
                </a:solidFill>
                <a:latin typeface="Crimson Pro"/>
                <a:ea typeface="Crimson Pro"/>
                <a:cs typeface="Crimson Pro"/>
                <a:sym typeface="Crimson Pro"/>
              </a:rPr>
              <a:t>Final Designed Component Values:</a:t>
            </a:r>
          </a:p>
        </p:txBody>
      </p:sp>
      <p:grpSp>
        <p:nvGrpSpPr>
          <p:cNvPr name="Group 57" id="57"/>
          <p:cNvGrpSpPr/>
          <p:nvPr/>
        </p:nvGrpSpPr>
        <p:grpSpPr>
          <a:xfrm rot="0">
            <a:off x="988219" y="11126448"/>
            <a:ext cx="16325393" cy="1437761"/>
            <a:chOff x="0" y="0"/>
            <a:chExt cx="21767190" cy="1917014"/>
          </a:xfrm>
        </p:grpSpPr>
        <p:sp>
          <p:nvSpPr>
            <p:cNvPr name="Freeform 58" id="58"/>
            <p:cNvSpPr/>
            <p:nvPr/>
          </p:nvSpPr>
          <p:spPr>
            <a:xfrm flipH="false" flipV="false" rot="0">
              <a:off x="0" y="0"/>
              <a:ext cx="21767164" cy="1917065"/>
            </a:xfrm>
            <a:custGeom>
              <a:avLst/>
              <a:gdLst/>
              <a:ahLst/>
              <a:cxnLst/>
              <a:rect r="r" b="b" t="t" l="l"/>
              <a:pathLst>
                <a:path h="1917065" w="21767164">
                  <a:moveTo>
                    <a:pt x="0" y="28575"/>
                  </a:moveTo>
                  <a:cubicBezTo>
                    <a:pt x="0" y="12827"/>
                    <a:pt x="12827" y="0"/>
                    <a:pt x="28575" y="0"/>
                  </a:cubicBezTo>
                  <a:lnTo>
                    <a:pt x="21738589" y="0"/>
                  </a:lnTo>
                  <a:cubicBezTo>
                    <a:pt x="21754337" y="0"/>
                    <a:pt x="21767164" y="12827"/>
                    <a:pt x="21767164" y="28575"/>
                  </a:cubicBezTo>
                  <a:lnTo>
                    <a:pt x="21767164" y="1888490"/>
                  </a:lnTo>
                  <a:cubicBezTo>
                    <a:pt x="21767164" y="1904238"/>
                    <a:pt x="21754337" y="1917065"/>
                    <a:pt x="21738589" y="1917065"/>
                  </a:cubicBezTo>
                  <a:lnTo>
                    <a:pt x="28575" y="1917065"/>
                  </a:lnTo>
                  <a:cubicBezTo>
                    <a:pt x="12827" y="1917065"/>
                    <a:pt x="0" y="1904238"/>
                    <a:pt x="0" y="1888490"/>
                  </a:cubicBezTo>
                  <a:close/>
                </a:path>
              </a:pathLst>
            </a:custGeom>
            <a:blipFill>
              <a:blip r:embed="rId5">
                <a:alphaModFix amt="0"/>
              </a:blip>
              <a:stretch>
                <a:fillRect l="0" t="-171242" r="0" b="-171240"/>
              </a:stretch>
            </a:blipFill>
            <a:ln w="9532" cap="sq">
              <a:solidFill>
                <a:srgbClr val="000000"/>
              </a:solidFill>
              <a:prstDash val="solid"/>
              <a:miter/>
            </a:ln>
          </p:spPr>
        </p:sp>
      </p:grpSp>
      <p:grpSp>
        <p:nvGrpSpPr>
          <p:cNvPr name="Group 59" id="59"/>
          <p:cNvGrpSpPr/>
          <p:nvPr/>
        </p:nvGrpSpPr>
        <p:grpSpPr>
          <a:xfrm rot="0">
            <a:off x="992991" y="11419723"/>
            <a:ext cx="16315868" cy="9535"/>
            <a:chOff x="0" y="0"/>
            <a:chExt cx="21754490" cy="12713"/>
          </a:xfrm>
        </p:grpSpPr>
        <p:sp>
          <p:nvSpPr>
            <p:cNvPr name="Freeform 60" id="60"/>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61" id="61"/>
          <p:cNvGrpSpPr/>
          <p:nvPr/>
        </p:nvGrpSpPr>
        <p:grpSpPr>
          <a:xfrm rot="0">
            <a:off x="992991" y="11703463"/>
            <a:ext cx="16315868" cy="9535"/>
            <a:chOff x="0" y="0"/>
            <a:chExt cx="21754490" cy="12713"/>
          </a:xfrm>
        </p:grpSpPr>
        <p:sp>
          <p:nvSpPr>
            <p:cNvPr name="Freeform 62" id="62"/>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63" id="63"/>
          <p:cNvGrpSpPr/>
          <p:nvPr/>
        </p:nvGrpSpPr>
        <p:grpSpPr>
          <a:xfrm rot="0">
            <a:off x="992991" y="11987203"/>
            <a:ext cx="16315868" cy="9535"/>
            <a:chOff x="0" y="0"/>
            <a:chExt cx="21754490" cy="12713"/>
          </a:xfrm>
        </p:grpSpPr>
        <p:sp>
          <p:nvSpPr>
            <p:cNvPr name="Freeform 64" id="64"/>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65" id="65"/>
          <p:cNvGrpSpPr/>
          <p:nvPr/>
        </p:nvGrpSpPr>
        <p:grpSpPr>
          <a:xfrm rot="0">
            <a:off x="992991" y="12270943"/>
            <a:ext cx="16315868" cy="9535"/>
            <a:chOff x="0" y="0"/>
            <a:chExt cx="21754490" cy="12713"/>
          </a:xfrm>
        </p:grpSpPr>
        <p:sp>
          <p:nvSpPr>
            <p:cNvPr name="Freeform 66" id="66"/>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67" id="67"/>
          <p:cNvGrpSpPr/>
          <p:nvPr/>
        </p:nvGrpSpPr>
        <p:grpSpPr>
          <a:xfrm rot="0">
            <a:off x="9150925" y="11131220"/>
            <a:ext cx="9535" cy="1428226"/>
            <a:chOff x="0" y="0"/>
            <a:chExt cx="12713" cy="1904302"/>
          </a:xfrm>
        </p:grpSpPr>
        <p:sp>
          <p:nvSpPr>
            <p:cNvPr name="Freeform 68" id="68"/>
            <p:cNvSpPr/>
            <p:nvPr/>
          </p:nvSpPr>
          <p:spPr>
            <a:xfrm flipH="false" flipV="false" rot="0">
              <a:off x="0" y="0"/>
              <a:ext cx="12700" cy="1904365"/>
            </a:xfrm>
            <a:custGeom>
              <a:avLst/>
              <a:gdLst/>
              <a:ahLst/>
              <a:cxnLst/>
              <a:rect r="r" b="b" t="t" l="l"/>
              <a:pathLst>
                <a:path h="1904365" w="12700">
                  <a:moveTo>
                    <a:pt x="0" y="0"/>
                  </a:moveTo>
                  <a:lnTo>
                    <a:pt x="12700" y="0"/>
                  </a:lnTo>
                  <a:lnTo>
                    <a:pt x="12700" y="1904365"/>
                  </a:lnTo>
                  <a:lnTo>
                    <a:pt x="0" y="1904365"/>
                  </a:lnTo>
                  <a:close/>
                </a:path>
              </a:pathLst>
            </a:custGeom>
            <a:solidFill>
              <a:srgbClr val="000000">
                <a:alpha val="392"/>
              </a:srgbClr>
            </a:solidFill>
          </p:spPr>
        </p:sp>
      </p:grpSp>
      <p:sp>
        <p:nvSpPr>
          <p:cNvPr name="TextBox 69" id="69"/>
          <p:cNvSpPr txBox="true"/>
          <p:nvPr/>
        </p:nvSpPr>
        <p:spPr>
          <a:xfrm rot="0">
            <a:off x="1144314" y="11202257"/>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Component</a:t>
            </a:r>
          </a:p>
        </p:txBody>
      </p:sp>
      <p:sp>
        <p:nvSpPr>
          <p:cNvPr name="TextBox 70" id="70"/>
          <p:cNvSpPr txBox="true"/>
          <p:nvPr/>
        </p:nvSpPr>
        <p:spPr>
          <a:xfrm rot="0">
            <a:off x="9297476" y="11202257"/>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Selected Value</a:t>
            </a:r>
          </a:p>
        </p:txBody>
      </p:sp>
      <p:sp>
        <p:nvSpPr>
          <p:cNvPr name="TextBox 71" id="71"/>
          <p:cNvSpPr txBox="true"/>
          <p:nvPr/>
        </p:nvSpPr>
        <p:spPr>
          <a:xfrm rot="0">
            <a:off x="1144314" y="11485997"/>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R1</a:t>
            </a:r>
          </a:p>
        </p:txBody>
      </p:sp>
      <p:sp>
        <p:nvSpPr>
          <p:cNvPr name="TextBox 72" id="72"/>
          <p:cNvSpPr txBox="true"/>
          <p:nvPr/>
        </p:nvSpPr>
        <p:spPr>
          <a:xfrm rot="0">
            <a:off x="9297476" y="11485997"/>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18 kΩ (1 W)</a:t>
            </a:r>
          </a:p>
        </p:txBody>
      </p:sp>
      <p:sp>
        <p:nvSpPr>
          <p:cNvPr name="TextBox 73" id="73"/>
          <p:cNvSpPr txBox="true"/>
          <p:nvPr/>
        </p:nvSpPr>
        <p:spPr>
          <a:xfrm rot="0">
            <a:off x="1144314" y="11769738"/>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R2</a:t>
            </a:r>
          </a:p>
        </p:txBody>
      </p:sp>
      <p:sp>
        <p:nvSpPr>
          <p:cNvPr name="TextBox 74" id="74"/>
          <p:cNvSpPr txBox="true"/>
          <p:nvPr/>
        </p:nvSpPr>
        <p:spPr>
          <a:xfrm rot="0">
            <a:off x="9297476" y="11769738"/>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100 kΩ (0.25 W)</a:t>
            </a:r>
          </a:p>
        </p:txBody>
      </p:sp>
      <p:sp>
        <p:nvSpPr>
          <p:cNvPr name="TextBox 75" id="75"/>
          <p:cNvSpPr txBox="true"/>
          <p:nvPr/>
        </p:nvSpPr>
        <p:spPr>
          <a:xfrm rot="0">
            <a:off x="1144314" y="12053478"/>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Zener Diode</a:t>
            </a:r>
          </a:p>
        </p:txBody>
      </p:sp>
      <p:sp>
        <p:nvSpPr>
          <p:cNvPr name="TextBox 76" id="76"/>
          <p:cNvSpPr txBox="true"/>
          <p:nvPr/>
        </p:nvSpPr>
        <p:spPr>
          <a:xfrm rot="0">
            <a:off x="9297476" y="12053478"/>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12 V</a:t>
            </a:r>
          </a:p>
        </p:txBody>
      </p:sp>
      <p:sp>
        <p:nvSpPr>
          <p:cNvPr name="TextBox 77" id="77"/>
          <p:cNvSpPr txBox="true"/>
          <p:nvPr/>
        </p:nvSpPr>
        <p:spPr>
          <a:xfrm rot="0">
            <a:off x="1144314" y="12337209"/>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Capacitor</a:t>
            </a:r>
          </a:p>
        </p:txBody>
      </p:sp>
      <p:sp>
        <p:nvSpPr>
          <p:cNvPr name="TextBox 78" id="78"/>
          <p:cNvSpPr txBox="true"/>
          <p:nvPr/>
        </p:nvSpPr>
        <p:spPr>
          <a:xfrm rot="0">
            <a:off x="9297476" y="12337209"/>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100 nF</a:t>
            </a:r>
          </a:p>
        </p:txBody>
      </p:sp>
      <p:sp>
        <p:nvSpPr>
          <p:cNvPr name="TextBox 79" id="79"/>
          <p:cNvSpPr txBox="true"/>
          <p:nvPr/>
        </p:nvSpPr>
        <p:spPr>
          <a:xfrm rot="0">
            <a:off x="992991" y="12648657"/>
            <a:ext cx="1723095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The selected component values ensure safe PMOS gate operation and reliable switching over the 100 V supply range.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0F0F1"/>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6" id="6"/>
          <p:cNvGrpSpPr/>
          <p:nvPr/>
        </p:nvGrpSpPr>
        <p:grpSpPr>
          <a:xfrm rot="0">
            <a:off x="16628307" y="9846183"/>
            <a:ext cx="1609020" cy="384353"/>
            <a:chOff x="0" y="0"/>
            <a:chExt cx="2145360" cy="512470"/>
          </a:xfrm>
        </p:grpSpPr>
        <p:sp>
          <p:nvSpPr>
            <p:cNvPr name="Freeform 7" id="7" descr="preencoded.png">
              <a:hlinkClick r:id="rId3" tooltip="https://gamma.app/?utm_source=made-with-gamma"/>
            </p:cNvPr>
            <p:cNvSpPr/>
            <p:nvPr/>
          </p:nvSpPr>
          <p:spPr>
            <a:xfrm flipH="false" flipV="false" rot="0">
              <a:off x="0" y="0"/>
              <a:ext cx="2145411" cy="512445"/>
            </a:xfrm>
            <a:custGeom>
              <a:avLst/>
              <a:gdLst/>
              <a:ahLst/>
              <a:cxnLst/>
              <a:rect r="r" b="b" t="t" l="l"/>
              <a:pathLst>
                <a:path h="512445" w="2145411">
                  <a:moveTo>
                    <a:pt x="0" y="0"/>
                  </a:moveTo>
                  <a:lnTo>
                    <a:pt x="2145411" y="0"/>
                  </a:lnTo>
                  <a:lnTo>
                    <a:pt x="2145411" y="512445"/>
                  </a:lnTo>
                  <a:lnTo>
                    <a:pt x="0" y="512445"/>
                  </a:lnTo>
                  <a:lnTo>
                    <a:pt x="0" y="0"/>
                  </a:lnTo>
                  <a:close/>
                </a:path>
              </a:pathLst>
            </a:custGeom>
            <a:blipFill>
              <a:blip r:embed="rId4"/>
              <a:stretch>
                <a:fillRect l="0" t="0" r="2" b="-4"/>
              </a:stretch>
            </a:blipFill>
          </p:spPr>
        </p:sp>
      </p:grpSp>
      <p:sp>
        <p:nvSpPr>
          <p:cNvPr name="TextBox 8" id="8"/>
          <p:cNvSpPr txBox="true"/>
          <p:nvPr/>
        </p:nvSpPr>
        <p:spPr>
          <a:xfrm rot="0">
            <a:off x="992991" y="820255"/>
            <a:ext cx="16315868" cy="559270"/>
          </a:xfrm>
          <a:prstGeom prst="rect">
            <a:avLst/>
          </a:prstGeom>
        </p:spPr>
        <p:txBody>
          <a:bodyPr anchor="t" rtlCol="false" tIns="0" lIns="0" bIns="0" rIns="0">
            <a:spAutoFit/>
          </a:bodyPr>
          <a:lstStyle/>
          <a:p>
            <a:pPr algn="l">
              <a:lnSpc>
                <a:spcPts val="4215"/>
              </a:lnSpc>
            </a:pPr>
            <a:r>
              <a:rPr lang="en-US" sz="3377">
                <a:solidFill>
                  <a:srgbClr val="152D47"/>
                </a:solidFill>
                <a:latin typeface="Crimson Pro"/>
                <a:ea typeface="Crimson Pro"/>
                <a:cs typeface="Crimson Pro"/>
                <a:sym typeface="Crimson Pro"/>
              </a:rPr>
              <a:t>Simulation Results</a:t>
            </a:r>
          </a:p>
        </p:txBody>
      </p:sp>
      <p:sp>
        <p:nvSpPr>
          <p:cNvPr name="TextBox 9" id="9"/>
          <p:cNvSpPr txBox="true"/>
          <p:nvPr/>
        </p:nvSpPr>
        <p:spPr>
          <a:xfrm rot="0">
            <a:off x="992991" y="1402480"/>
            <a:ext cx="16315868" cy="289084"/>
          </a:xfrm>
          <a:prstGeom prst="rect">
            <a:avLst/>
          </a:prstGeom>
        </p:spPr>
        <p:txBody>
          <a:bodyPr anchor="t" rtlCol="false" tIns="0" lIns="0" bIns="0" rIns="0">
            <a:spAutoFit/>
          </a:bodyPr>
          <a:lstStyle/>
          <a:p>
            <a:pPr algn="l">
              <a:lnSpc>
                <a:spcPts val="2060"/>
              </a:lnSpc>
            </a:pPr>
            <a:r>
              <a:rPr lang="en-US" sz="1651">
                <a:solidFill>
                  <a:srgbClr val="152D47"/>
                </a:solidFill>
                <a:latin typeface="Crimson Pro"/>
                <a:ea typeface="Crimson Pro"/>
                <a:cs typeface="Crimson Pro"/>
                <a:sym typeface="Crimson Pro"/>
              </a:rPr>
              <a:t>LTspice Simulation Parameters:</a:t>
            </a:r>
          </a:p>
        </p:txBody>
      </p:sp>
      <p:sp>
        <p:nvSpPr>
          <p:cNvPr name="TextBox 10" id="10"/>
          <p:cNvSpPr txBox="true"/>
          <p:nvPr/>
        </p:nvSpPr>
        <p:spPr>
          <a:xfrm rot="0">
            <a:off x="992991" y="1840068"/>
            <a:ext cx="16315868" cy="1009983"/>
          </a:xfrm>
          <a:prstGeom prst="rect">
            <a:avLst/>
          </a:prstGeom>
        </p:spPr>
        <p:txBody>
          <a:bodyPr anchor="t" rtlCol="false" tIns="0" lIns="0" bIns="0" rIns="0">
            <a:spAutoFit/>
          </a:bodyPr>
          <a:lstStyle/>
          <a:p>
            <a:pPr algn="l" marL="244698" indent="-122349" lvl="1">
              <a:lnSpc>
                <a:spcPts val="1734"/>
              </a:lnSpc>
              <a:buFont typeface="Arial"/>
              <a:buChar char="•"/>
            </a:pPr>
            <a:r>
              <a:rPr lang="en-US" sz="1351">
                <a:solidFill>
                  <a:srgbClr val="4C4C4D"/>
                </a:solidFill>
                <a:latin typeface="Heebo"/>
                <a:ea typeface="Heebo"/>
                <a:cs typeface="Heebo"/>
                <a:sym typeface="Heebo"/>
              </a:rPr>
              <a:t>Supply Voltage = 100 V</a:t>
            </a:r>
          </a:p>
          <a:p>
            <a:pPr algn="l" marL="244698" indent="-122349" lvl="1">
              <a:lnSpc>
                <a:spcPts val="1734"/>
              </a:lnSpc>
              <a:buFont typeface="Arial"/>
              <a:buChar char="•"/>
            </a:pPr>
            <a:r>
              <a:rPr lang="en-US" sz="1351">
                <a:solidFill>
                  <a:srgbClr val="4C4C4D"/>
                </a:solidFill>
                <a:latin typeface="Heebo"/>
                <a:ea typeface="Heebo"/>
                <a:cs typeface="Heebo"/>
                <a:sym typeface="Heebo"/>
              </a:rPr>
              <a:t>Input Pulse = 0–3.3 V</a:t>
            </a:r>
          </a:p>
          <a:p>
            <a:pPr algn="l" marL="244698" indent="-122349" lvl="1">
              <a:lnSpc>
                <a:spcPts val="1734"/>
              </a:lnSpc>
              <a:buFont typeface="Arial"/>
              <a:buChar char="•"/>
            </a:pPr>
            <a:r>
              <a:rPr lang="en-US" sz="1351">
                <a:solidFill>
                  <a:srgbClr val="4C4C4D"/>
                </a:solidFill>
                <a:latin typeface="Heebo"/>
                <a:ea typeface="Heebo"/>
                <a:cs typeface="Heebo"/>
                <a:sym typeface="Heebo"/>
              </a:rPr>
              <a:t>Switching Frequency = 10 kHz (typical)</a:t>
            </a:r>
          </a:p>
          <a:p>
            <a:pPr algn="l" marL="244698" indent="-122349" lvl="1">
              <a:lnSpc>
                <a:spcPts val="1734"/>
              </a:lnSpc>
              <a:buFont typeface="Arial"/>
              <a:buChar char="•"/>
            </a:pPr>
            <a:r>
              <a:rPr lang="en-US" sz="1351">
                <a:solidFill>
                  <a:srgbClr val="4C4C4D"/>
                </a:solidFill>
                <a:latin typeface="Heebo"/>
                <a:ea typeface="Heebo"/>
                <a:cs typeface="Heebo"/>
                <a:sym typeface="Heebo"/>
              </a:rPr>
              <a:t>Load = 1 kΩ resistive load</a:t>
            </a:r>
          </a:p>
        </p:txBody>
      </p:sp>
      <p:sp>
        <p:nvSpPr>
          <p:cNvPr name="TextBox 11" id="11"/>
          <p:cNvSpPr txBox="true"/>
          <p:nvPr/>
        </p:nvSpPr>
        <p:spPr>
          <a:xfrm rot="0">
            <a:off x="992991" y="2989031"/>
            <a:ext cx="16315868" cy="289084"/>
          </a:xfrm>
          <a:prstGeom prst="rect">
            <a:avLst/>
          </a:prstGeom>
        </p:spPr>
        <p:txBody>
          <a:bodyPr anchor="t" rtlCol="false" tIns="0" lIns="0" bIns="0" rIns="0">
            <a:spAutoFit/>
          </a:bodyPr>
          <a:lstStyle/>
          <a:p>
            <a:pPr algn="l">
              <a:lnSpc>
                <a:spcPts val="2060"/>
              </a:lnSpc>
            </a:pPr>
            <a:r>
              <a:rPr lang="en-US" sz="1651">
                <a:solidFill>
                  <a:srgbClr val="152D47"/>
                </a:solidFill>
                <a:latin typeface="Crimson Pro"/>
                <a:ea typeface="Crimson Pro"/>
                <a:cs typeface="Crimson Pro"/>
                <a:sym typeface="Crimson Pro"/>
              </a:rPr>
              <a:t>Waveforms Analyzed:</a:t>
            </a:r>
          </a:p>
        </p:txBody>
      </p:sp>
      <p:sp>
        <p:nvSpPr>
          <p:cNvPr name="TextBox 12" id="12"/>
          <p:cNvSpPr txBox="true"/>
          <p:nvPr/>
        </p:nvSpPr>
        <p:spPr>
          <a:xfrm rot="0">
            <a:off x="992991" y="3426628"/>
            <a:ext cx="16315868" cy="1269301"/>
          </a:xfrm>
          <a:prstGeom prst="rect">
            <a:avLst/>
          </a:prstGeom>
        </p:spPr>
        <p:txBody>
          <a:bodyPr anchor="t" rtlCol="false" tIns="0" lIns="0" bIns="0" rIns="0">
            <a:spAutoFit/>
          </a:bodyPr>
          <a:lstStyle/>
          <a:p>
            <a:pPr algn="l" marL="244698" indent="-122349" lvl="1">
              <a:lnSpc>
                <a:spcPts val="1734"/>
              </a:lnSpc>
              <a:buFont typeface="Arial"/>
              <a:buChar char="•"/>
            </a:pPr>
            <a:r>
              <a:rPr lang="en-US" sz="1351">
                <a:solidFill>
                  <a:srgbClr val="4C4C4D"/>
                </a:solidFill>
                <a:latin typeface="Heebo"/>
                <a:ea typeface="Heebo"/>
                <a:cs typeface="Heebo"/>
                <a:sym typeface="Heebo"/>
              </a:rPr>
              <a:t>Input Logic Pulse (0–3.3 V)</a:t>
            </a:r>
          </a:p>
          <a:p>
            <a:pPr algn="l" marL="244698" indent="-122349" lvl="1">
              <a:lnSpc>
                <a:spcPts val="1734"/>
              </a:lnSpc>
              <a:buFont typeface="Arial"/>
              <a:buChar char="•"/>
            </a:pPr>
            <a:r>
              <a:rPr lang="en-US" sz="1351">
                <a:solidFill>
                  <a:srgbClr val="4C4C4D"/>
                </a:solidFill>
                <a:latin typeface="Heebo"/>
                <a:ea typeface="Heebo"/>
                <a:cs typeface="Heebo"/>
                <a:sym typeface="Heebo"/>
              </a:rPr>
              <a:t>NMOS Gate Voltage</a:t>
            </a:r>
          </a:p>
          <a:p>
            <a:pPr algn="l" marL="244698" indent="-122349" lvl="1">
              <a:lnSpc>
                <a:spcPts val="1734"/>
              </a:lnSpc>
              <a:buFont typeface="Arial"/>
              <a:buChar char="•"/>
            </a:pPr>
            <a:r>
              <a:rPr lang="en-US" sz="1351">
                <a:solidFill>
                  <a:srgbClr val="4C4C4D"/>
                </a:solidFill>
                <a:latin typeface="Heebo"/>
                <a:ea typeface="Heebo"/>
                <a:cs typeface="Heebo"/>
                <a:sym typeface="Heebo"/>
              </a:rPr>
              <a:t>PMOS Gate Voltage</a:t>
            </a:r>
          </a:p>
          <a:p>
            <a:pPr algn="l" marL="244698" indent="-122349" lvl="1">
              <a:lnSpc>
                <a:spcPts val="1734"/>
              </a:lnSpc>
              <a:buFont typeface="Arial"/>
              <a:buChar char="•"/>
            </a:pPr>
            <a:r>
              <a:rPr lang="en-US" sz="1351">
                <a:solidFill>
                  <a:srgbClr val="4C4C4D"/>
                </a:solidFill>
                <a:latin typeface="Heebo"/>
                <a:ea typeface="Heebo"/>
                <a:cs typeface="Heebo"/>
                <a:sym typeface="Heebo"/>
              </a:rPr>
              <a:t>Output Voltage</a:t>
            </a:r>
          </a:p>
          <a:p>
            <a:pPr algn="l" marL="244698" indent="-122349" lvl="1">
              <a:lnSpc>
                <a:spcPts val="1734"/>
              </a:lnSpc>
              <a:buFont typeface="Arial"/>
              <a:buChar char="•"/>
            </a:pPr>
            <a:r>
              <a:rPr lang="en-US" sz="1351">
                <a:solidFill>
                  <a:srgbClr val="4C4C4D"/>
                </a:solidFill>
                <a:latin typeface="Heebo"/>
                <a:ea typeface="Heebo"/>
                <a:cs typeface="Heebo"/>
                <a:sym typeface="Heebo"/>
              </a:rPr>
              <a:t>Load Current</a:t>
            </a:r>
          </a:p>
        </p:txBody>
      </p:sp>
      <p:sp>
        <p:nvSpPr>
          <p:cNvPr name="TextBox 13" id="13"/>
          <p:cNvSpPr txBox="true"/>
          <p:nvPr/>
        </p:nvSpPr>
        <p:spPr>
          <a:xfrm rot="0">
            <a:off x="992991" y="4834900"/>
            <a:ext cx="16315868" cy="289084"/>
          </a:xfrm>
          <a:prstGeom prst="rect">
            <a:avLst/>
          </a:prstGeom>
        </p:spPr>
        <p:txBody>
          <a:bodyPr anchor="t" rtlCol="false" tIns="0" lIns="0" bIns="0" rIns="0">
            <a:spAutoFit/>
          </a:bodyPr>
          <a:lstStyle/>
          <a:p>
            <a:pPr algn="l">
              <a:lnSpc>
                <a:spcPts val="2060"/>
              </a:lnSpc>
            </a:pPr>
            <a:r>
              <a:rPr lang="en-US" sz="1651">
                <a:solidFill>
                  <a:srgbClr val="152D47"/>
                </a:solidFill>
                <a:latin typeface="Crimson Pro"/>
                <a:ea typeface="Crimson Pro"/>
                <a:cs typeface="Crimson Pro"/>
                <a:sym typeface="Crimson Pro"/>
              </a:rPr>
              <a:t>Simulation Observations:</a:t>
            </a:r>
          </a:p>
        </p:txBody>
      </p:sp>
      <p:sp>
        <p:nvSpPr>
          <p:cNvPr name="TextBox 14" id="14"/>
          <p:cNvSpPr txBox="true"/>
          <p:nvPr/>
        </p:nvSpPr>
        <p:spPr>
          <a:xfrm rot="0">
            <a:off x="992991" y="5272497"/>
            <a:ext cx="16315868" cy="1787919"/>
          </a:xfrm>
          <a:prstGeom prst="rect">
            <a:avLst/>
          </a:prstGeom>
        </p:spPr>
        <p:txBody>
          <a:bodyPr anchor="t" rtlCol="false" tIns="0" lIns="0" bIns="0" rIns="0">
            <a:spAutoFit/>
          </a:bodyPr>
          <a:lstStyle/>
          <a:p>
            <a:pPr algn="l" marL="244698" indent="-122349" lvl="1">
              <a:lnSpc>
                <a:spcPts val="1734"/>
              </a:lnSpc>
              <a:buAutoNum type="arabicPeriod" startAt="1"/>
            </a:pPr>
            <a:r>
              <a:rPr lang="en-US" b="true" sz="1351">
                <a:solidFill>
                  <a:srgbClr val="4C4C4D"/>
                </a:solidFill>
                <a:latin typeface="Heebo Bold"/>
                <a:ea typeface="Heebo Bold"/>
                <a:cs typeface="Heebo Bold"/>
                <a:sym typeface="Heebo Bold"/>
              </a:rPr>
              <a:t>NMOS Response:</a:t>
            </a:r>
            <a:r>
              <a:rPr lang="en-US" sz="1351">
                <a:solidFill>
                  <a:srgbClr val="4C4C4D"/>
                </a:solidFill>
                <a:latin typeface="Heebo"/>
                <a:ea typeface="Heebo"/>
                <a:cs typeface="Heebo"/>
                <a:sym typeface="Heebo"/>
              </a:rPr>
              <a:t> The NMOS responds correctly to the 3.3 V logic signal, turning ON and OFF sharply with minimal delay.</a:t>
            </a:r>
          </a:p>
          <a:p>
            <a:pPr algn="l" marL="244698" indent="-122349" lvl="1">
              <a:lnSpc>
                <a:spcPts val="1734"/>
              </a:lnSpc>
              <a:buAutoNum type="arabicPeriod" startAt="1"/>
            </a:pPr>
            <a:r>
              <a:rPr lang="en-US" b="true" sz="1351">
                <a:solidFill>
                  <a:srgbClr val="4C4C4D"/>
                </a:solidFill>
                <a:latin typeface="Heebo Bold"/>
                <a:ea typeface="Heebo Bold"/>
                <a:cs typeface="Heebo Bold"/>
                <a:sym typeface="Heebo Bold"/>
              </a:rPr>
              <a:t>PMOS Gate Voltage Clamping:</a:t>
            </a:r>
            <a:r>
              <a:rPr lang="en-US" sz="1351">
                <a:solidFill>
                  <a:srgbClr val="4C4C4D"/>
                </a:solidFill>
                <a:latin typeface="Heebo"/>
                <a:ea typeface="Heebo"/>
                <a:cs typeface="Heebo"/>
                <a:sym typeface="Heebo"/>
              </a:rPr>
              <a:t> The PMOS gate voltage is clamped at approximately −12 V, protecting the MOSFET gate oxide from overvoltage conditions.</a:t>
            </a:r>
          </a:p>
          <a:p>
            <a:pPr algn="l" marL="244698" indent="-122349" lvl="1">
              <a:lnSpc>
                <a:spcPts val="1734"/>
              </a:lnSpc>
              <a:buAutoNum type="arabicPeriod" startAt="1"/>
            </a:pPr>
            <a:r>
              <a:rPr lang="en-US" b="true" sz="1351">
                <a:solidFill>
                  <a:srgbClr val="4C4C4D"/>
                </a:solidFill>
                <a:latin typeface="Heebo Bold"/>
                <a:ea typeface="Heebo Bold"/>
                <a:cs typeface="Heebo Bold"/>
                <a:sym typeface="Heebo Bold"/>
              </a:rPr>
              <a:t>PMOS Turn-ON:</a:t>
            </a:r>
            <a:r>
              <a:rPr lang="en-US" sz="1351">
                <a:solidFill>
                  <a:srgbClr val="4C4C4D"/>
                </a:solidFill>
                <a:latin typeface="Heebo"/>
                <a:ea typeface="Heebo"/>
                <a:cs typeface="Heebo"/>
                <a:sym typeface="Heebo"/>
              </a:rPr>
              <a:t> The PMOS turns ON completely when the input pulse is HIGH, allowing full conduction through the load.</a:t>
            </a:r>
          </a:p>
          <a:p>
            <a:pPr algn="l" marL="244698" indent="-122349" lvl="1">
              <a:lnSpc>
                <a:spcPts val="1734"/>
              </a:lnSpc>
              <a:buAutoNum type="arabicPeriod" startAt="1"/>
            </a:pPr>
            <a:r>
              <a:rPr lang="en-US" b="true" sz="1351">
                <a:solidFill>
                  <a:srgbClr val="4C4C4D"/>
                </a:solidFill>
                <a:latin typeface="Heebo Bold"/>
                <a:ea typeface="Heebo Bold"/>
                <a:cs typeface="Heebo Bold"/>
                <a:sym typeface="Heebo Bold"/>
              </a:rPr>
              <a:t>Output Voltage:</a:t>
            </a:r>
            <a:r>
              <a:rPr lang="en-US" sz="1351">
                <a:solidFill>
                  <a:srgbClr val="4C4C4D"/>
                </a:solidFill>
                <a:latin typeface="Heebo"/>
                <a:ea typeface="Heebo"/>
                <a:cs typeface="Heebo"/>
                <a:sym typeface="Heebo"/>
              </a:rPr>
              <a:t> The output voltage rises to approximately the supply voltage (100 V), confirming proper high-side switching operation.</a:t>
            </a:r>
          </a:p>
          <a:p>
            <a:pPr algn="l" marL="244698" indent="-122349" lvl="1">
              <a:lnSpc>
                <a:spcPts val="1734"/>
              </a:lnSpc>
              <a:buAutoNum type="arabicPeriod" startAt="1"/>
            </a:pPr>
            <a:r>
              <a:rPr lang="en-US" b="true" sz="1351">
                <a:solidFill>
                  <a:srgbClr val="4C4C4D"/>
                </a:solidFill>
                <a:latin typeface="Heebo Bold"/>
                <a:ea typeface="Heebo Bold"/>
                <a:cs typeface="Heebo Bold"/>
                <a:sym typeface="Heebo Bold"/>
              </a:rPr>
              <a:t>PMOS Turn-OFF:</a:t>
            </a:r>
            <a:r>
              <a:rPr lang="en-US" sz="1351">
                <a:solidFill>
                  <a:srgbClr val="4C4C4D"/>
                </a:solidFill>
                <a:latin typeface="Heebo"/>
                <a:ea typeface="Heebo"/>
                <a:cs typeface="Heebo"/>
                <a:sym typeface="Heebo"/>
              </a:rPr>
              <a:t> During the LOW input state, the PMOS gate returns to the source voltage (100 V), ensuring complete turn-OFF and zero load current.</a:t>
            </a:r>
          </a:p>
          <a:p>
            <a:pPr algn="l" marL="244698" indent="-122349" lvl="1">
              <a:lnSpc>
                <a:spcPts val="1734"/>
              </a:lnSpc>
              <a:buAutoNum type="arabicPeriod" startAt="1"/>
            </a:pPr>
            <a:r>
              <a:rPr lang="en-US" b="true" sz="1351">
                <a:solidFill>
                  <a:srgbClr val="4C4C4D"/>
                </a:solidFill>
                <a:latin typeface="Heebo Bold"/>
                <a:ea typeface="Heebo Bold"/>
                <a:cs typeface="Heebo Bold"/>
                <a:sym typeface="Heebo Bold"/>
              </a:rPr>
              <a:t>Switching Stability:</a:t>
            </a:r>
            <a:r>
              <a:rPr lang="en-US" sz="1351">
                <a:solidFill>
                  <a:srgbClr val="4C4C4D"/>
                </a:solidFill>
                <a:latin typeface="Heebo"/>
                <a:ea typeface="Heebo"/>
                <a:cs typeface="Heebo"/>
                <a:sym typeface="Heebo"/>
              </a:rPr>
              <a:t> The switching waveforms show stable operation with negligible overshoot, indicating effective gate protection and transient suppression by the Zener diode and capacitor.</a:t>
            </a:r>
          </a:p>
          <a:p>
            <a:pPr algn="l" marL="244698" indent="-122349" lvl="1">
              <a:lnSpc>
                <a:spcPts val="1734"/>
              </a:lnSpc>
              <a:buAutoNum type="arabicPeriod" startAt="1"/>
            </a:pPr>
            <a:r>
              <a:rPr lang="en-US" b="true" sz="1351">
                <a:solidFill>
                  <a:srgbClr val="4C4C4D"/>
                </a:solidFill>
                <a:latin typeface="Heebo Bold"/>
                <a:ea typeface="Heebo Bold"/>
                <a:cs typeface="Heebo Bold"/>
                <a:sym typeface="Heebo Bold"/>
              </a:rPr>
              <a:t>Gate Protection Verification:</a:t>
            </a:r>
            <a:r>
              <a:rPr lang="en-US" sz="1351">
                <a:solidFill>
                  <a:srgbClr val="4C4C4D"/>
                </a:solidFill>
                <a:latin typeface="Heebo"/>
                <a:ea typeface="Heebo"/>
                <a:cs typeface="Heebo"/>
                <a:sym typeface="Heebo"/>
              </a:rPr>
              <a:t> The Zener diode successfully clamps the gate-to-source voltage within the safe operating range (−12 V to 0 V), preventing gate oxide damage.</a:t>
            </a:r>
          </a:p>
        </p:txBody>
      </p:sp>
      <p:sp>
        <p:nvSpPr>
          <p:cNvPr name="TextBox 15" id="15"/>
          <p:cNvSpPr txBox="true"/>
          <p:nvPr/>
        </p:nvSpPr>
        <p:spPr>
          <a:xfrm rot="0">
            <a:off x="992991" y="7199395"/>
            <a:ext cx="16315868" cy="289084"/>
          </a:xfrm>
          <a:prstGeom prst="rect">
            <a:avLst/>
          </a:prstGeom>
        </p:spPr>
        <p:txBody>
          <a:bodyPr anchor="t" rtlCol="false" tIns="0" lIns="0" bIns="0" rIns="0">
            <a:spAutoFit/>
          </a:bodyPr>
          <a:lstStyle/>
          <a:p>
            <a:pPr algn="l">
              <a:lnSpc>
                <a:spcPts val="2060"/>
              </a:lnSpc>
            </a:pPr>
            <a:r>
              <a:rPr lang="en-US" sz="1651">
                <a:solidFill>
                  <a:srgbClr val="152D47"/>
                </a:solidFill>
                <a:latin typeface="Crimson Pro"/>
                <a:ea typeface="Crimson Pro"/>
                <a:cs typeface="Crimson Pro"/>
                <a:sym typeface="Crimson Pro"/>
              </a:rPr>
              <a:t>Key Performance Metrics:</a:t>
            </a:r>
          </a:p>
        </p:txBody>
      </p:sp>
      <p:sp>
        <p:nvSpPr>
          <p:cNvPr name="TextBox 16" id="16"/>
          <p:cNvSpPr txBox="true"/>
          <p:nvPr/>
        </p:nvSpPr>
        <p:spPr>
          <a:xfrm rot="0">
            <a:off x="992991" y="7636983"/>
            <a:ext cx="16315868" cy="1009983"/>
          </a:xfrm>
          <a:prstGeom prst="rect">
            <a:avLst/>
          </a:prstGeom>
        </p:spPr>
        <p:txBody>
          <a:bodyPr anchor="t" rtlCol="false" tIns="0" lIns="0" bIns="0" rIns="0">
            <a:spAutoFit/>
          </a:bodyPr>
          <a:lstStyle/>
          <a:p>
            <a:pPr algn="l" marL="244698" indent="-122349" lvl="1">
              <a:lnSpc>
                <a:spcPts val="1734"/>
              </a:lnSpc>
              <a:buFont typeface="Arial"/>
              <a:buChar char="•"/>
            </a:pPr>
            <a:r>
              <a:rPr lang="en-US" sz="1351">
                <a:solidFill>
                  <a:srgbClr val="4C4C4D"/>
                </a:solidFill>
                <a:latin typeface="Heebo"/>
                <a:ea typeface="Heebo"/>
                <a:cs typeface="Heebo"/>
                <a:sym typeface="Heebo"/>
              </a:rPr>
              <a:t>Gate-to-Source Voltage Range: −12 V to 0 V (within ±20 V limit)</a:t>
            </a:r>
          </a:p>
          <a:p>
            <a:pPr algn="l" marL="244698" indent="-122349" lvl="1">
              <a:lnSpc>
                <a:spcPts val="1734"/>
              </a:lnSpc>
              <a:buFont typeface="Arial"/>
              <a:buChar char="•"/>
            </a:pPr>
            <a:r>
              <a:rPr lang="en-US" sz="1351">
                <a:solidFill>
                  <a:srgbClr val="4C4C4D"/>
                </a:solidFill>
                <a:latin typeface="Heebo"/>
                <a:ea typeface="Heebo"/>
                <a:cs typeface="Heebo"/>
                <a:sym typeface="Heebo"/>
              </a:rPr>
              <a:t>Switching Time: Fast response with minimal propagation delay</a:t>
            </a:r>
          </a:p>
          <a:p>
            <a:pPr algn="l" marL="244698" indent="-122349" lvl="1">
              <a:lnSpc>
                <a:spcPts val="1734"/>
              </a:lnSpc>
              <a:buFont typeface="Arial"/>
              <a:buChar char="•"/>
            </a:pPr>
            <a:r>
              <a:rPr lang="en-US" sz="1351">
                <a:solidFill>
                  <a:srgbClr val="4C4C4D"/>
                </a:solidFill>
                <a:latin typeface="Heebo"/>
                <a:ea typeface="Heebo"/>
                <a:cs typeface="Heebo"/>
                <a:sym typeface="Heebo"/>
              </a:rPr>
              <a:t>Load Current: Reaches full value when PMOS is ON</a:t>
            </a:r>
          </a:p>
          <a:p>
            <a:pPr algn="l" marL="244698" indent="-122349" lvl="1">
              <a:lnSpc>
                <a:spcPts val="1734"/>
              </a:lnSpc>
              <a:buFont typeface="Arial"/>
              <a:buChar char="•"/>
            </a:pPr>
            <a:r>
              <a:rPr lang="en-US" sz="1351">
                <a:solidFill>
                  <a:srgbClr val="4C4C4D"/>
                </a:solidFill>
                <a:latin typeface="Heebo"/>
                <a:ea typeface="Heebo"/>
                <a:cs typeface="Heebo"/>
                <a:sym typeface="Heebo"/>
              </a:rPr>
              <a:t>Transient Suppression: Effective noise filtering by C1 (100 nF)</a:t>
            </a:r>
          </a:p>
        </p:txBody>
      </p:sp>
      <p:sp>
        <p:nvSpPr>
          <p:cNvPr name="TextBox 17" id="17"/>
          <p:cNvSpPr txBox="true"/>
          <p:nvPr/>
        </p:nvSpPr>
        <p:spPr>
          <a:xfrm rot="0">
            <a:off x="992991" y="8785955"/>
            <a:ext cx="16315868" cy="289084"/>
          </a:xfrm>
          <a:prstGeom prst="rect">
            <a:avLst/>
          </a:prstGeom>
        </p:spPr>
        <p:txBody>
          <a:bodyPr anchor="t" rtlCol="false" tIns="0" lIns="0" bIns="0" rIns="0">
            <a:spAutoFit/>
          </a:bodyPr>
          <a:lstStyle/>
          <a:p>
            <a:pPr algn="l">
              <a:lnSpc>
                <a:spcPts val="2060"/>
              </a:lnSpc>
            </a:pPr>
            <a:r>
              <a:rPr lang="en-US" sz="1651">
                <a:solidFill>
                  <a:srgbClr val="152D47"/>
                </a:solidFill>
                <a:latin typeface="Crimson Pro"/>
                <a:ea typeface="Crimson Pro"/>
                <a:cs typeface="Crimson Pro"/>
                <a:sym typeface="Crimson Pro"/>
              </a:rPr>
              <a:t>Conclusion:</a:t>
            </a:r>
          </a:p>
        </p:txBody>
      </p:sp>
      <p:sp>
        <p:nvSpPr>
          <p:cNvPr name="TextBox 18" id="18"/>
          <p:cNvSpPr txBox="true"/>
          <p:nvPr/>
        </p:nvSpPr>
        <p:spPr>
          <a:xfrm rot="0">
            <a:off x="992991" y="9223543"/>
            <a:ext cx="17230954" cy="232048"/>
          </a:xfrm>
          <a:prstGeom prst="rect">
            <a:avLst/>
          </a:prstGeom>
        </p:spPr>
        <p:txBody>
          <a:bodyPr anchor="t" rtlCol="false" tIns="0" lIns="0" bIns="0" rIns="0">
            <a:spAutoFit/>
          </a:bodyPr>
          <a:lstStyle/>
          <a:p>
            <a:pPr algn="l">
              <a:lnSpc>
                <a:spcPts val="1734"/>
              </a:lnSpc>
            </a:pPr>
            <a:r>
              <a:rPr lang="en-US" sz="1351">
                <a:solidFill>
                  <a:srgbClr val="4C4C4D"/>
                </a:solidFill>
                <a:latin typeface="Heebo"/>
                <a:ea typeface="Heebo"/>
                <a:cs typeface="Heebo"/>
                <a:sym typeface="Heebo"/>
              </a:rPr>
              <a:t>The simulation confirms that the circuit design meets all specifications and provides reliable high-side switching with proper gate protection across the 100 V supply range.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0F0F1"/>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6" id="6"/>
          <p:cNvGrpSpPr/>
          <p:nvPr/>
        </p:nvGrpSpPr>
        <p:grpSpPr>
          <a:xfrm rot="0">
            <a:off x="16628307" y="9846183"/>
            <a:ext cx="1609020" cy="384353"/>
            <a:chOff x="0" y="0"/>
            <a:chExt cx="2145360" cy="512470"/>
          </a:xfrm>
        </p:grpSpPr>
        <p:sp>
          <p:nvSpPr>
            <p:cNvPr name="Freeform 7" id="7" descr="preencoded.png">
              <a:hlinkClick r:id="rId3" tooltip="https://gamma.app/?utm_source=made-with-gamma"/>
            </p:cNvPr>
            <p:cNvSpPr/>
            <p:nvPr/>
          </p:nvSpPr>
          <p:spPr>
            <a:xfrm flipH="false" flipV="false" rot="0">
              <a:off x="0" y="0"/>
              <a:ext cx="2145411" cy="512445"/>
            </a:xfrm>
            <a:custGeom>
              <a:avLst/>
              <a:gdLst/>
              <a:ahLst/>
              <a:cxnLst/>
              <a:rect r="r" b="b" t="t" l="l"/>
              <a:pathLst>
                <a:path h="512445" w="2145411">
                  <a:moveTo>
                    <a:pt x="0" y="0"/>
                  </a:moveTo>
                  <a:lnTo>
                    <a:pt x="2145411" y="0"/>
                  </a:lnTo>
                  <a:lnTo>
                    <a:pt x="2145411" y="512445"/>
                  </a:lnTo>
                  <a:lnTo>
                    <a:pt x="0" y="512445"/>
                  </a:lnTo>
                  <a:lnTo>
                    <a:pt x="0" y="0"/>
                  </a:lnTo>
                  <a:close/>
                </a:path>
              </a:pathLst>
            </a:custGeom>
            <a:blipFill>
              <a:blip r:embed="rId4"/>
              <a:stretch>
                <a:fillRect l="0" t="0" r="2" b="-4"/>
              </a:stretch>
            </a:blipFill>
          </p:spPr>
        </p:sp>
      </p:grpSp>
      <p:sp>
        <p:nvSpPr>
          <p:cNvPr name="TextBox 8" id="8"/>
          <p:cNvSpPr txBox="true"/>
          <p:nvPr/>
        </p:nvSpPr>
        <p:spPr>
          <a:xfrm rot="0">
            <a:off x="992991" y="887273"/>
            <a:ext cx="16315868" cy="628526"/>
          </a:xfrm>
          <a:prstGeom prst="rect">
            <a:avLst/>
          </a:prstGeom>
        </p:spPr>
        <p:txBody>
          <a:bodyPr anchor="t" rtlCol="false" tIns="0" lIns="0" bIns="0" rIns="0">
            <a:spAutoFit/>
          </a:bodyPr>
          <a:lstStyle/>
          <a:p>
            <a:pPr algn="l">
              <a:lnSpc>
                <a:spcPts val="4777"/>
              </a:lnSpc>
            </a:pPr>
            <a:r>
              <a:rPr lang="en-US" sz="3827">
                <a:solidFill>
                  <a:srgbClr val="152D47"/>
                </a:solidFill>
                <a:latin typeface="Crimson Pro"/>
                <a:ea typeface="Crimson Pro"/>
                <a:cs typeface="Crimson Pro"/>
                <a:sym typeface="Crimson Pro"/>
              </a:rPr>
              <a:t>Advantages, Limitations and Transition to Circuit 2</a:t>
            </a:r>
          </a:p>
        </p:txBody>
      </p:sp>
      <p:sp>
        <p:nvSpPr>
          <p:cNvPr name="TextBox 9" id="9"/>
          <p:cNvSpPr txBox="true"/>
          <p:nvPr/>
        </p:nvSpPr>
        <p:spPr>
          <a:xfrm rot="0">
            <a:off x="992991" y="1831886"/>
            <a:ext cx="7920076" cy="323793"/>
          </a:xfrm>
          <a:prstGeom prst="rect">
            <a:avLst/>
          </a:prstGeom>
        </p:spPr>
        <p:txBody>
          <a:bodyPr anchor="t" rtlCol="false" tIns="0" lIns="0" bIns="0" rIns="0">
            <a:spAutoFit/>
          </a:bodyPr>
          <a:lstStyle/>
          <a:p>
            <a:pPr algn="l">
              <a:lnSpc>
                <a:spcPts val="2341"/>
              </a:lnSpc>
            </a:pPr>
            <a:r>
              <a:rPr lang="en-US" sz="1876">
                <a:solidFill>
                  <a:srgbClr val="152D47"/>
                </a:solidFill>
                <a:latin typeface="Crimson Pro"/>
                <a:ea typeface="Crimson Pro"/>
                <a:cs typeface="Crimson Pro"/>
                <a:sym typeface="Crimson Pro"/>
              </a:rPr>
              <a:t>Advantages:</a:t>
            </a:r>
          </a:p>
        </p:txBody>
      </p:sp>
      <p:sp>
        <p:nvSpPr>
          <p:cNvPr name="TextBox 10" id="10"/>
          <p:cNvSpPr txBox="true"/>
          <p:nvPr/>
        </p:nvSpPr>
        <p:spPr>
          <a:xfrm rot="0">
            <a:off x="992991" y="2261149"/>
            <a:ext cx="7920076" cy="2463670"/>
          </a:xfrm>
          <a:prstGeom prst="rect">
            <a:avLst/>
          </a:prstGeom>
        </p:spPr>
        <p:txBody>
          <a:bodyPr anchor="t" rtlCol="false" tIns="0" lIns="0" bIns="0" rIns="0">
            <a:spAutoFit/>
          </a:bodyPr>
          <a:lstStyle/>
          <a:p>
            <a:pPr algn="l" marL="271887" indent="-135944" lvl="1">
              <a:lnSpc>
                <a:spcPts val="2035"/>
              </a:lnSpc>
              <a:buFont typeface="Arial"/>
              <a:buChar char="•"/>
            </a:pPr>
            <a:r>
              <a:rPr lang="en-US" sz="1501">
                <a:solidFill>
                  <a:srgbClr val="4C4C4D"/>
                </a:solidFill>
                <a:latin typeface="Heebo"/>
                <a:ea typeface="Heebo"/>
                <a:cs typeface="Heebo"/>
                <a:sym typeface="Heebo"/>
              </a:rPr>
              <a:t>Simple and easy-to-understand circuit configuration</a:t>
            </a:r>
          </a:p>
          <a:p>
            <a:pPr algn="l" marL="271887" indent="-135944" lvl="1">
              <a:lnSpc>
                <a:spcPts val="2035"/>
              </a:lnSpc>
              <a:buFont typeface="Arial"/>
              <a:buChar char="•"/>
            </a:pPr>
            <a:r>
              <a:rPr lang="en-US" sz="1501">
                <a:solidFill>
                  <a:srgbClr val="4C4C4D"/>
                </a:solidFill>
                <a:latin typeface="Heebo"/>
                <a:ea typeface="Heebo"/>
                <a:cs typeface="Heebo"/>
                <a:sym typeface="Heebo"/>
              </a:rPr>
              <a:t>Uses a small number of components (minimal BOM)</a:t>
            </a:r>
          </a:p>
          <a:p>
            <a:pPr algn="l" marL="271887" indent="-135944" lvl="1">
              <a:lnSpc>
                <a:spcPts val="2035"/>
              </a:lnSpc>
              <a:buFont typeface="Arial"/>
              <a:buChar char="•"/>
            </a:pPr>
            <a:r>
              <a:rPr lang="en-US" sz="1501">
                <a:solidFill>
                  <a:srgbClr val="4C4C4D"/>
                </a:solidFill>
                <a:latin typeface="Heebo"/>
                <a:ea typeface="Heebo"/>
                <a:cs typeface="Heebo"/>
                <a:sym typeface="Heebo"/>
              </a:rPr>
              <a:t>Low implementation cost</a:t>
            </a:r>
          </a:p>
          <a:p>
            <a:pPr algn="l" marL="271887" indent="-135944" lvl="1">
              <a:lnSpc>
                <a:spcPts val="2035"/>
              </a:lnSpc>
              <a:buFont typeface="Arial"/>
              <a:buChar char="•"/>
            </a:pPr>
            <a:r>
              <a:rPr lang="en-US" sz="1501">
                <a:solidFill>
                  <a:srgbClr val="4C4C4D"/>
                </a:solidFill>
                <a:latin typeface="Heebo"/>
                <a:ea typeface="Heebo"/>
                <a:cs typeface="Heebo"/>
                <a:sym typeface="Heebo"/>
              </a:rPr>
              <a:t>Fast switching due to the direct NMOS gate drive</a:t>
            </a:r>
          </a:p>
          <a:p>
            <a:pPr algn="l" marL="271887" indent="-135944" lvl="1">
              <a:lnSpc>
                <a:spcPts val="2035"/>
              </a:lnSpc>
              <a:buFont typeface="Arial"/>
              <a:buChar char="•"/>
            </a:pPr>
            <a:r>
              <a:rPr lang="en-US" sz="1501">
                <a:solidFill>
                  <a:srgbClr val="4C4C4D"/>
                </a:solidFill>
                <a:latin typeface="Heebo"/>
                <a:ea typeface="Heebo"/>
                <a:cs typeface="Heebo"/>
                <a:sym typeface="Heebo"/>
              </a:rPr>
              <a:t>Suitable for high-voltage DC switching applications</a:t>
            </a:r>
          </a:p>
          <a:p>
            <a:pPr algn="l" marL="271887" indent="-135944" lvl="1">
              <a:lnSpc>
                <a:spcPts val="2035"/>
              </a:lnSpc>
              <a:buFont typeface="Arial"/>
              <a:buChar char="•"/>
            </a:pPr>
            <a:r>
              <a:rPr lang="en-US" sz="1501">
                <a:solidFill>
                  <a:srgbClr val="4C4C4D"/>
                </a:solidFill>
                <a:latin typeface="Heebo"/>
                <a:ea typeface="Heebo"/>
                <a:cs typeface="Heebo"/>
                <a:sym typeface="Heebo"/>
              </a:rPr>
              <a:t>Easy to interface with 3.3 V microcontrollers</a:t>
            </a:r>
          </a:p>
          <a:p>
            <a:pPr algn="l" marL="271887" indent="-135944" lvl="1">
              <a:lnSpc>
                <a:spcPts val="2035"/>
              </a:lnSpc>
              <a:buFont typeface="Arial"/>
              <a:buChar char="•"/>
            </a:pPr>
            <a:r>
              <a:rPr lang="en-US" sz="1501">
                <a:solidFill>
                  <a:srgbClr val="4C4C4D"/>
                </a:solidFill>
                <a:latin typeface="Heebo"/>
                <a:ea typeface="Heebo"/>
                <a:cs typeface="Heebo"/>
                <a:sym typeface="Heebo"/>
              </a:rPr>
              <a:t>The Zener diode provides reliable protection against excessive gate-to-source voltage</a:t>
            </a:r>
          </a:p>
          <a:p>
            <a:pPr algn="l" marL="271887" indent="-135944" lvl="1">
              <a:lnSpc>
                <a:spcPts val="2035"/>
              </a:lnSpc>
              <a:buFont typeface="Arial"/>
              <a:buChar char="•"/>
            </a:pPr>
            <a:r>
              <a:rPr lang="en-US" sz="1501">
                <a:solidFill>
                  <a:srgbClr val="4C4C4D"/>
                </a:solidFill>
                <a:latin typeface="Heebo"/>
                <a:ea typeface="Heebo"/>
                <a:cs typeface="Heebo"/>
                <a:sym typeface="Heebo"/>
              </a:rPr>
              <a:t>Compact design with minimal PCB footprint</a:t>
            </a:r>
          </a:p>
        </p:txBody>
      </p:sp>
      <p:sp>
        <p:nvSpPr>
          <p:cNvPr name="TextBox 11" id="11"/>
          <p:cNvSpPr txBox="true"/>
          <p:nvPr/>
        </p:nvSpPr>
        <p:spPr>
          <a:xfrm rot="0">
            <a:off x="9398308" y="1831886"/>
            <a:ext cx="7920076" cy="323793"/>
          </a:xfrm>
          <a:prstGeom prst="rect">
            <a:avLst/>
          </a:prstGeom>
        </p:spPr>
        <p:txBody>
          <a:bodyPr anchor="t" rtlCol="false" tIns="0" lIns="0" bIns="0" rIns="0">
            <a:spAutoFit/>
          </a:bodyPr>
          <a:lstStyle/>
          <a:p>
            <a:pPr algn="l">
              <a:lnSpc>
                <a:spcPts val="2341"/>
              </a:lnSpc>
            </a:pPr>
            <a:r>
              <a:rPr lang="en-US" sz="1876">
                <a:solidFill>
                  <a:srgbClr val="152D47"/>
                </a:solidFill>
                <a:latin typeface="Crimson Pro"/>
                <a:ea typeface="Crimson Pro"/>
                <a:cs typeface="Crimson Pro"/>
                <a:sym typeface="Crimson Pro"/>
              </a:rPr>
              <a:t>Limitations:</a:t>
            </a:r>
          </a:p>
        </p:txBody>
      </p:sp>
      <p:sp>
        <p:nvSpPr>
          <p:cNvPr name="TextBox 12" id="12"/>
          <p:cNvSpPr txBox="true"/>
          <p:nvPr/>
        </p:nvSpPr>
        <p:spPr>
          <a:xfrm rot="0">
            <a:off x="9398308" y="2261149"/>
            <a:ext cx="7920076" cy="2416750"/>
          </a:xfrm>
          <a:prstGeom prst="rect">
            <a:avLst/>
          </a:prstGeom>
        </p:spPr>
        <p:txBody>
          <a:bodyPr anchor="t" rtlCol="false" tIns="0" lIns="0" bIns="0" rIns="0">
            <a:spAutoFit/>
          </a:bodyPr>
          <a:lstStyle/>
          <a:p>
            <a:pPr algn="l" marL="271887" indent="-135944" lvl="1">
              <a:lnSpc>
                <a:spcPts val="2035"/>
              </a:lnSpc>
              <a:buFont typeface="Arial"/>
              <a:buChar char="•"/>
            </a:pPr>
            <a:r>
              <a:rPr lang="en-US" sz="1501">
                <a:solidFill>
                  <a:srgbClr val="4C4C4D"/>
                </a:solidFill>
                <a:latin typeface="Heebo"/>
                <a:ea typeface="Heebo"/>
                <a:cs typeface="Heebo"/>
                <a:sym typeface="Heebo"/>
              </a:rPr>
              <a:t>No galvanic isolation between the controller and the high-voltage power stage</a:t>
            </a:r>
          </a:p>
          <a:p>
            <a:pPr algn="l" marL="271887" indent="-135944" lvl="1">
              <a:lnSpc>
                <a:spcPts val="2035"/>
              </a:lnSpc>
              <a:buFont typeface="Arial"/>
              <a:buChar char="•"/>
            </a:pPr>
            <a:r>
              <a:rPr lang="en-US" sz="1501">
                <a:solidFill>
                  <a:srgbClr val="4C4C4D"/>
                </a:solidFill>
                <a:latin typeface="Heebo"/>
                <a:ea typeface="Heebo"/>
                <a:cs typeface="Heebo"/>
                <a:sym typeface="Heebo"/>
              </a:rPr>
              <a:t>The control circuit and the power circuit share a common ground, making the system susceptible to electrical noise and ground-loop currents</a:t>
            </a:r>
          </a:p>
          <a:p>
            <a:pPr algn="l" marL="271887" indent="-135944" lvl="1">
              <a:lnSpc>
                <a:spcPts val="2035"/>
              </a:lnSpc>
              <a:buFont typeface="Arial"/>
              <a:buChar char="•"/>
            </a:pPr>
            <a:r>
              <a:rPr lang="en-US" sz="1501">
                <a:solidFill>
                  <a:srgbClr val="4C4C4D"/>
                </a:solidFill>
                <a:latin typeface="Heebo"/>
                <a:ea typeface="Heebo"/>
                <a:cs typeface="Heebo"/>
                <a:sym typeface="Heebo"/>
              </a:rPr>
              <a:t>Less suitable for electrically noisy industrial environments</a:t>
            </a:r>
          </a:p>
          <a:p>
            <a:pPr algn="l" marL="271887" indent="-135944" lvl="1">
              <a:lnSpc>
                <a:spcPts val="2035"/>
              </a:lnSpc>
              <a:buFont typeface="Arial"/>
              <a:buChar char="•"/>
            </a:pPr>
            <a:r>
              <a:rPr lang="en-US" sz="1501">
                <a:solidFill>
                  <a:srgbClr val="4C4C4D"/>
                </a:solidFill>
                <a:latin typeface="Heebo"/>
                <a:ea typeface="Heebo"/>
                <a:cs typeface="Heebo"/>
                <a:sym typeface="Heebo"/>
              </a:rPr>
              <a:t>The microcontroller remains vulnerable to high-voltage transients and fault conditions</a:t>
            </a:r>
          </a:p>
          <a:p>
            <a:pPr algn="l" marL="271887" indent="-135944" lvl="1">
              <a:lnSpc>
                <a:spcPts val="2035"/>
              </a:lnSpc>
              <a:buFont typeface="Arial"/>
              <a:buChar char="•"/>
            </a:pPr>
            <a:r>
              <a:rPr lang="en-US" sz="1501">
                <a:solidFill>
                  <a:srgbClr val="4C4C4D"/>
                </a:solidFill>
                <a:latin typeface="Heebo"/>
                <a:ea typeface="Heebo"/>
                <a:cs typeface="Heebo"/>
                <a:sym typeface="Heebo"/>
              </a:rPr>
              <a:t>Susceptibility to electromagnetic interference (EMI) from switching transients</a:t>
            </a:r>
          </a:p>
          <a:p>
            <a:pPr algn="l" marL="271887" indent="-135944" lvl="1">
              <a:lnSpc>
                <a:spcPts val="2035"/>
              </a:lnSpc>
              <a:buFont typeface="Arial"/>
              <a:buChar char="•"/>
            </a:pPr>
            <a:r>
              <a:rPr lang="en-US" sz="1501">
                <a:solidFill>
                  <a:srgbClr val="4C4C4D"/>
                </a:solidFill>
                <a:latin typeface="Heebo"/>
                <a:ea typeface="Heebo"/>
                <a:cs typeface="Heebo"/>
                <a:sym typeface="Heebo"/>
              </a:rPr>
              <a:t>Ground-loop currents can degrade signal integrity in sensitive applications</a:t>
            </a:r>
          </a:p>
          <a:p>
            <a:pPr algn="l" marL="271887" indent="-135944" lvl="1">
              <a:lnSpc>
                <a:spcPts val="2035"/>
              </a:lnSpc>
              <a:buFont typeface="Arial"/>
              <a:buChar char="•"/>
            </a:pPr>
            <a:r>
              <a:rPr lang="en-US" sz="1501">
                <a:solidFill>
                  <a:srgbClr val="4C4C4D"/>
                </a:solidFill>
                <a:latin typeface="Heebo"/>
                <a:ea typeface="Heebo"/>
                <a:cs typeface="Heebo"/>
                <a:sym typeface="Heebo"/>
              </a:rPr>
              <a:t>Not recommended for safety-critical applications requiring isolation</a:t>
            </a:r>
          </a:p>
        </p:txBody>
      </p:sp>
      <p:sp>
        <p:nvSpPr>
          <p:cNvPr name="TextBox 13" id="13"/>
          <p:cNvSpPr txBox="true"/>
          <p:nvPr/>
        </p:nvSpPr>
        <p:spPr>
          <a:xfrm rot="0">
            <a:off x="992991" y="4953762"/>
            <a:ext cx="16315868" cy="323793"/>
          </a:xfrm>
          <a:prstGeom prst="rect">
            <a:avLst/>
          </a:prstGeom>
        </p:spPr>
        <p:txBody>
          <a:bodyPr anchor="t" rtlCol="false" tIns="0" lIns="0" bIns="0" rIns="0">
            <a:spAutoFit/>
          </a:bodyPr>
          <a:lstStyle/>
          <a:p>
            <a:pPr algn="l">
              <a:lnSpc>
                <a:spcPts val="2341"/>
              </a:lnSpc>
            </a:pPr>
            <a:r>
              <a:rPr lang="en-US" sz="1876">
                <a:solidFill>
                  <a:srgbClr val="152D47"/>
                </a:solidFill>
                <a:latin typeface="Crimson Pro"/>
                <a:ea typeface="Crimson Pro"/>
                <a:cs typeface="Crimson Pro"/>
                <a:sym typeface="Crimson Pro"/>
              </a:rPr>
              <a:t>Why is Circuit 2 Required?</a:t>
            </a:r>
          </a:p>
        </p:txBody>
      </p:sp>
      <p:sp>
        <p:nvSpPr>
          <p:cNvPr name="TextBox 14" id="14"/>
          <p:cNvSpPr txBox="true"/>
          <p:nvPr/>
        </p:nvSpPr>
        <p:spPr>
          <a:xfrm rot="0">
            <a:off x="992991" y="5450053"/>
            <a:ext cx="16315868" cy="1232792"/>
          </a:xfrm>
          <a:prstGeom prst="rect">
            <a:avLst/>
          </a:prstGeom>
        </p:spPr>
        <p:txBody>
          <a:bodyPr anchor="t" rtlCol="false" tIns="0" lIns="0" bIns="0" rIns="0">
            <a:spAutoFit/>
          </a:bodyPr>
          <a:lstStyle/>
          <a:p>
            <a:pPr algn="l">
              <a:lnSpc>
                <a:spcPts val="2035"/>
              </a:lnSpc>
            </a:pPr>
            <a:r>
              <a:rPr lang="en-US" sz="1501">
                <a:solidFill>
                  <a:srgbClr val="4C4C4D"/>
                </a:solidFill>
                <a:latin typeface="Heebo"/>
                <a:ea typeface="Heebo"/>
                <a:cs typeface="Heebo"/>
                <a:sym typeface="Heebo"/>
              </a:rPr>
              <a:t>Although the general PMOS–NMOS driver performs reliable high-side switching, it lacks electrical isolation between the low-voltage controller and the 100 V power stage. In industrial applications, electromagnetic interference (EMI), switching transients, and ground-loop currents can affect the controller and reduce system reliability.</a:t>
            </a:r>
          </a:p>
          <a:p>
            <a:pPr algn="l">
              <a:lnSpc>
                <a:spcPts val="2035"/>
              </a:lnSpc>
            </a:pPr>
            <a:r>
              <a:rPr lang="en-US" sz="1501">
                <a:solidFill>
                  <a:srgbClr val="4C4C4D"/>
                </a:solidFill>
                <a:latin typeface="Heebo"/>
                <a:ea typeface="Heebo"/>
                <a:cs typeface="Heebo"/>
                <a:sym typeface="Heebo"/>
              </a:rPr>
              <a:t>To address these critical issues, the next design introduces an </a:t>
            </a:r>
            <a:r>
              <a:rPr lang="en-US" sz="1501" b="true">
                <a:solidFill>
                  <a:srgbClr val="4C4C4D"/>
                </a:solidFill>
                <a:latin typeface="Heebo Bold"/>
                <a:ea typeface="Heebo Bold"/>
                <a:cs typeface="Heebo Bold"/>
                <a:sym typeface="Heebo Bold"/>
              </a:rPr>
              <a:t>optocoupler (PC817)</a:t>
            </a:r>
            <a:r>
              <a:rPr lang="en-US" sz="1501">
                <a:solidFill>
                  <a:srgbClr val="4C4C4D"/>
                </a:solidFill>
                <a:latin typeface="Heebo"/>
                <a:ea typeface="Heebo"/>
                <a:cs typeface="Heebo"/>
                <a:sym typeface="Heebo"/>
              </a:rPr>
              <a:t> between the controller and the PMOS gate driver. The optocoupler transfers the control signal optically, providing:</a:t>
            </a:r>
          </a:p>
        </p:txBody>
      </p:sp>
      <p:sp>
        <p:nvSpPr>
          <p:cNvPr name="Freeform 15" id="15" descr="preencoded.png"/>
          <p:cNvSpPr/>
          <p:nvPr/>
        </p:nvSpPr>
        <p:spPr>
          <a:xfrm flipH="false" flipV="false" rot="0">
            <a:off x="964387" y="6805127"/>
            <a:ext cx="5355460" cy="583863"/>
          </a:xfrm>
          <a:custGeom>
            <a:avLst/>
            <a:gdLst/>
            <a:ahLst/>
            <a:cxnLst/>
            <a:rect r="r" b="b" t="t" l="l"/>
            <a:pathLst>
              <a:path h="583863" w="5355460">
                <a:moveTo>
                  <a:pt x="0" y="0"/>
                </a:moveTo>
                <a:lnTo>
                  <a:pt x="5355460" y="0"/>
                </a:lnTo>
                <a:lnTo>
                  <a:pt x="5355460" y="583863"/>
                </a:lnTo>
                <a:lnTo>
                  <a:pt x="0" y="583863"/>
                </a:lnTo>
                <a:lnTo>
                  <a:pt x="0" y="0"/>
                </a:lnTo>
                <a:close/>
              </a:path>
            </a:pathLst>
          </a:custGeom>
          <a:blipFill>
            <a:blip r:embed="rId5">
              <a:extLst>
                <a:ext uri="{96DAC541-7B7A-43D3-8B79-37D633B846F1}">
                  <asvg:svgBlip xmlns:asvg="http://schemas.microsoft.com/office/drawing/2016/SVG/main" r:embed="rId6"/>
                </a:ext>
              </a:extLst>
            </a:blip>
            <a:stretch>
              <a:fillRect l="0" t="-1319" r="0" b="-1319"/>
            </a:stretch>
          </a:blipFill>
        </p:spPr>
      </p:sp>
      <p:sp>
        <p:nvSpPr>
          <p:cNvPr name="TextBox 16" id="16"/>
          <p:cNvSpPr txBox="true"/>
          <p:nvPr/>
        </p:nvSpPr>
        <p:spPr>
          <a:xfrm rot="0">
            <a:off x="1245146" y="6805146"/>
            <a:ext cx="5074710" cy="555241"/>
          </a:xfrm>
          <a:prstGeom prst="rect">
            <a:avLst/>
          </a:prstGeom>
        </p:spPr>
        <p:txBody>
          <a:bodyPr anchor="t" rtlCol="false" tIns="0" lIns="0" bIns="0" rIns="0">
            <a:spAutoFit/>
          </a:bodyPr>
          <a:lstStyle/>
          <a:p>
            <a:pPr algn="l">
              <a:lnSpc>
                <a:spcPts val="2035"/>
              </a:lnSpc>
            </a:pPr>
            <a:r>
              <a:rPr lang="en-US" sz="1501" b="true">
                <a:solidFill>
                  <a:srgbClr val="4C4C4D"/>
                </a:solidFill>
                <a:latin typeface="Heebo Bold"/>
                <a:ea typeface="Heebo Bold"/>
                <a:cs typeface="Heebo Bold"/>
                <a:sym typeface="Heebo Bold"/>
              </a:rPr>
              <a:t>Complete galvanic isolation</a:t>
            </a:r>
            <a:r>
              <a:rPr lang="en-US" sz="1501">
                <a:solidFill>
                  <a:srgbClr val="4C4C4D"/>
                </a:solidFill>
                <a:latin typeface="Heebo"/>
                <a:ea typeface="Heebo"/>
                <a:cs typeface="Heebo"/>
                <a:sym typeface="Heebo"/>
              </a:rPr>
              <a:t> between the 3.3 V logic circuit and the 100 V power stage</a:t>
            </a:r>
          </a:p>
        </p:txBody>
      </p:sp>
      <p:sp>
        <p:nvSpPr>
          <p:cNvPr name="Freeform 17" id="17" descr="preencoded.png"/>
          <p:cNvSpPr/>
          <p:nvPr/>
        </p:nvSpPr>
        <p:spPr>
          <a:xfrm flipH="false" flipV="false" rot="0">
            <a:off x="6458817" y="6805127"/>
            <a:ext cx="5355460" cy="583863"/>
          </a:xfrm>
          <a:custGeom>
            <a:avLst/>
            <a:gdLst/>
            <a:ahLst/>
            <a:cxnLst/>
            <a:rect r="r" b="b" t="t" l="l"/>
            <a:pathLst>
              <a:path h="583863" w="5355460">
                <a:moveTo>
                  <a:pt x="0" y="0"/>
                </a:moveTo>
                <a:lnTo>
                  <a:pt x="5355460" y="0"/>
                </a:lnTo>
                <a:lnTo>
                  <a:pt x="5355460" y="583863"/>
                </a:lnTo>
                <a:lnTo>
                  <a:pt x="0" y="583863"/>
                </a:lnTo>
                <a:lnTo>
                  <a:pt x="0" y="0"/>
                </a:lnTo>
                <a:close/>
              </a:path>
            </a:pathLst>
          </a:custGeom>
          <a:blipFill>
            <a:blip r:embed="rId5">
              <a:extLst>
                <a:ext uri="{96DAC541-7B7A-43D3-8B79-37D633B846F1}">
                  <asvg:svgBlip xmlns:asvg="http://schemas.microsoft.com/office/drawing/2016/SVG/main" r:embed="rId6"/>
                </a:ext>
              </a:extLst>
            </a:blip>
            <a:stretch>
              <a:fillRect l="0" t="-1319" r="0" b="-1319"/>
            </a:stretch>
          </a:blipFill>
        </p:spPr>
      </p:sp>
      <p:sp>
        <p:nvSpPr>
          <p:cNvPr name="TextBox 18" id="18"/>
          <p:cNvSpPr txBox="true"/>
          <p:nvPr/>
        </p:nvSpPr>
        <p:spPr>
          <a:xfrm rot="0">
            <a:off x="6739566" y="6805146"/>
            <a:ext cx="5074710" cy="555241"/>
          </a:xfrm>
          <a:prstGeom prst="rect">
            <a:avLst/>
          </a:prstGeom>
        </p:spPr>
        <p:txBody>
          <a:bodyPr anchor="t" rtlCol="false" tIns="0" lIns="0" bIns="0" rIns="0">
            <a:spAutoFit/>
          </a:bodyPr>
          <a:lstStyle/>
          <a:p>
            <a:pPr algn="l">
              <a:lnSpc>
                <a:spcPts val="2035"/>
              </a:lnSpc>
            </a:pPr>
            <a:r>
              <a:rPr lang="en-US" sz="1501" b="true">
                <a:solidFill>
                  <a:srgbClr val="4C4C4D"/>
                </a:solidFill>
                <a:latin typeface="Heebo Bold"/>
                <a:ea typeface="Heebo Bold"/>
                <a:cs typeface="Heebo Bold"/>
                <a:sym typeface="Heebo Bold"/>
              </a:rPr>
              <a:t>Improved noise immunity</a:t>
            </a:r>
            <a:r>
              <a:rPr lang="en-US" sz="1501">
                <a:solidFill>
                  <a:srgbClr val="4C4C4D"/>
                </a:solidFill>
                <a:latin typeface="Heebo"/>
                <a:ea typeface="Heebo"/>
                <a:cs typeface="Heebo"/>
                <a:sym typeface="Heebo"/>
              </a:rPr>
              <a:t> against EMI and switching transients</a:t>
            </a:r>
          </a:p>
        </p:txBody>
      </p:sp>
      <p:sp>
        <p:nvSpPr>
          <p:cNvPr name="Freeform 19" id="19" descr="preencoded.png"/>
          <p:cNvSpPr/>
          <p:nvPr/>
        </p:nvSpPr>
        <p:spPr>
          <a:xfrm flipH="false" flipV="false" rot="0">
            <a:off x="11953237" y="6805127"/>
            <a:ext cx="5355460" cy="583863"/>
          </a:xfrm>
          <a:custGeom>
            <a:avLst/>
            <a:gdLst/>
            <a:ahLst/>
            <a:cxnLst/>
            <a:rect r="r" b="b" t="t" l="l"/>
            <a:pathLst>
              <a:path h="583863" w="5355460">
                <a:moveTo>
                  <a:pt x="0" y="0"/>
                </a:moveTo>
                <a:lnTo>
                  <a:pt x="5355460" y="0"/>
                </a:lnTo>
                <a:lnTo>
                  <a:pt x="5355460" y="583863"/>
                </a:lnTo>
                <a:lnTo>
                  <a:pt x="0" y="583863"/>
                </a:lnTo>
                <a:lnTo>
                  <a:pt x="0" y="0"/>
                </a:lnTo>
                <a:close/>
              </a:path>
            </a:pathLst>
          </a:custGeom>
          <a:blipFill>
            <a:blip r:embed="rId5">
              <a:extLst>
                <a:ext uri="{96DAC541-7B7A-43D3-8B79-37D633B846F1}">
                  <asvg:svgBlip xmlns:asvg="http://schemas.microsoft.com/office/drawing/2016/SVG/main" r:embed="rId6"/>
                </a:ext>
              </a:extLst>
            </a:blip>
            <a:stretch>
              <a:fillRect l="0" t="-1319" r="0" b="-1319"/>
            </a:stretch>
          </a:blipFill>
        </p:spPr>
      </p:sp>
      <p:sp>
        <p:nvSpPr>
          <p:cNvPr name="TextBox 20" id="20"/>
          <p:cNvSpPr txBox="true"/>
          <p:nvPr/>
        </p:nvSpPr>
        <p:spPr>
          <a:xfrm rot="0">
            <a:off x="12233996" y="6805146"/>
            <a:ext cx="5074710" cy="555241"/>
          </a:xfrm>
          <a:prstGeom prst="rect">
            <a:avLst/>
          </a:prstGeom>
        </p:spPr>
        <p:txBody>
          <a:bodyPr anchor="t" rtlCol="false" tIns="0" lIns="0" bIns="0" rIns="0">
            <a:spAutoFit/>
          </a:bodyPr>
          <a:lstStyle/>
          <a:p>
            <a:pPr algn="l">
              <a:lnSpc>
                <a:spcPts val="2035"/>
              </a:lnSpc>
            </a:pPr>
            <a:r>
              <a:rPr lang="en-US" sz="1501" b="true">
                <a:solidFill>
                  <a:srgbClr val="4C4C4D"/>
                </a:solidFill>
                <a:latin typeface="Heebo Bold"/>
                <a:ea typeface="Heebo Bold"/>
                <a:cs typeface="Heebo Bold"/>
                <a:sym typeface="Heebo Bold"/>
              </a:rPr>
              <a:t>Enhanced protection</a:t>
            </a:r>
            <a:r>
              <a:rPr lang="en-US" sz="1501">
                <a:solidFill>
                  <a:srgbClr val="4C4C4D"/>
                </a:solidFill>
                <a:latin typeface="Heebo"/>
                <a:ea typeface="Heebo"/>
                <a:cs typeface="Heebo"/>
                <a:sym typeface="Heebo"/>
              </a:rPr>
              <a:t> for the low-voltage control circuit from high-voltage faults</a:t>
            </a:r>
          </a:p>
        </p:txBody>
      </p:sp>
      <p:sp>
        <p:nvSpPr>
          <p:cNvPr name="Freeform 21" id="21" descr="preencoded.png"/>
          <p:cNvSpPr/>
          <p:nvPr/>
        </p:nvSpPr>
        <p:spPr>
          <a:xfrm flipH="false" flipV="false" rot="0">
            <a:off x="964387" y="7599893"/>
            <a:ext cx="8102679" cy="583863"/>
          </a:xfrm>
          <a:custGeom>
            <a:avLst/>
            <a:gdLst/>
            <a:ahLst/>
            <a:cxnLst/>
            <a:rect r="r" b="b" t="t" l="l"/>
            <a:pathLst>
              <a:path h="583863" w="8102679">
                <a:moveTo>
                  <a:pt x="0" y="0"/>
                </a:moveTo>
                <a:lnTo>
                  <a:pt x="8102680" y="0"/>
                </a:lnTo>
                <a:lnTo>
                  <a:pt x="8102680" y="583863"/>
                </a:lnTo>
                <a:lnTo>
                  <a:pt x="0" y="583863"/>
                </a:lnTo>
                <a:lnTo>
                  <a:pt x="0" y="0"/>
                </a:lnTo>
                <a:close/>
              </a:path>
            </a:pathLst>
          </a:custGeom>
          <a:blipFill>
            <a:blip r:embed="rId7">
              <a:extLst>
                <a:ext uri="{96DAC541-7B7A-43D3-8B79-37D633B846F1}">
                  <asvg:svgBlip xmlns:asvg="http://schemas.microsoft.com/office/drawing/2016/SVG/main" r:embed="rId8"/>
                </a:ext>
              </a:extLst>
            </a:blip>
            <a:stretch>
              <a:fillRect l="0" t="-553" r="0" b="-553"/>
            </a:stretch>
          </a:blipFill>
        </p:spPr>
      </p:sp>
      <p:sp>
        <p:nvSpPr>
          <p:cNvPr name="TextBox 22" id="22"/>
          <p:cNvSpPr txBox="true"/>
          <p:nvPr/>
        </p:nvSpPr>
        <p:spPr>
          <a:xfrm rot="0">
            <a:off x="1245146" y="7599912"/>
            <a:ext cx="7821920" cy="291913"/>
          </a:xfrm>
          <a:prstGeom prst="rect">
            <a:avLst/>
          </a:prstGeom>
        </p:spPr>
        <p:txBody>
          <a:bodyPr anchor="t" rtlCol="false" tIns="0" lIns="0" bIns="0" rIns="0">
            <a:spAutoFit/>
          </a:bodyPr>
          <a:lstStyle/>
          <a:p>
            <a:pPr algn="l">
              <a:lnSpc>
                <a:spcPts val="2035"/>
              </a:lnSpc>
            </a:pPr>
            <a:r>
              <a:rPr lang="en-US" sz="1501" b="true">
                <a:solidFill>
                  <a:srgbClr val="4C4C4D"/>
                </a:solidFill>
                <a:latin typeface="Heebo Bold"/>
                <a:ea typeface="Heebo Bold"/>
                <a:cs typeface="Heebo Bold"/>
                <a:sym typeface="Heebo Bold"/>
              </a:rPr>
              <a:t>Ground-loop elimination</a:t>
            </a:r>
            <a:r>
              <a:rPr lang="en-US" sz="1501">
                <a:solidFill>
                  <a:srgbClr val="4C4C4D"/>
                </a:solidFill>
                <a:latin typeface="Heebo"/>
                <a:ea typeface="Heebo"/>
                <a:cs typeface="Heebo"/>
                <a:sym typeface="Heebo"/>
              </a:rPr>
              <a:t> through optical signal transfer</a:t>
            </a:r>
          </a:p>
        </p:txBody>
      </p:sp>
      <p:sp>
        <p:nvSpPr>
          <p:cNvPr name="Freeform 23" id="23" descr="preencoded.png"/>
          <p:cNvSpPr/>
          <p:nvPr/>
        </p:nvSpPr>
        <p:spPr>
          <a:xfrm flipH="false" flipV="false" rot="0">
            <a:off x="9206027" y="7599893"/>
            <a:ext cx="8102679" cy="583863"/>
          </a:xfrm>
          <a:custGeom>
            <a:avLst/>
            <a:gdLst/>
            <a:ahLst/>
            <a:cxnLst/>
            <a:rect r="r" b="b" t="t" l="l"/>
            <a:pathLst>
              <a:path h="583863" w="8102679">
                <a:moveTo>
                  <a:pt x="0" y="0"/>
                </a:moveTo>
                <a:lnTo>
                  <a:pt x="8102679" y="0"/>
                </a:lnTo>
                <a:lnTo>
                  <a:pt x="8102679" y="583863"/>
                </a:lnTo>
                <a:lnTo>
                  <a:pt x="0" y="583863"/>
                </a:lnTo>
                <a:lnTo>
                  <a:pt x="0" y="0"/>
                </a:lnTo>
                <a:close/>
              </a:path>
            </a:pathLst>
          </a:custGeom>
          <a:blipFill>
            <a:blip r:embed="rId7">
              <a:extLst>
                <a:ext uri="{96DAC541-7B7A-43D3-8B79-37D633B846F1}">
                  <asvg:svgBlip xmlns:asvg="http://schemas.microsoft.com/office/drawing/2016/SVG/main" r:embed="rId8"/>
                </a:ext>
              </a:extLst>
            </a:blip>
            <a:stretch>
              <a:fillRect l="0" t="-553" r="0" b="-553"/>
            </a:stretch>
          </a:blipFill>
        </p:spPr>
      </p:sp>
      <p:sp>
        <p:nvSpPr>
          <p:cNvPr name="TextBox 24" id="24"/>
          <p:cNvSpPr txBox="true"/>
          <p:nvPr/>
        </p:nvSpPr>
        <p:spPr>
          <a:xfrm rot="0">
            <a:off x="9486786" y="7599912"/>
            <a:ext cx="7821920" cy="555241"/>
          </a:xfrm>
          <a:prstGeom prst="rect">
            <a:avLst/>
          </a:prstGeom>
        </p:spPr>
        <p:txBody>
          <a:bodyPr anchor="t" rtlCol="false" tIns="0" lIns="0" bIns="0" rIns="0">
            <a:spAutoFit/>
          </a:bodyPr>
          <a:lstStyle/>
          <a:p>
            <a:pPr algn="l">
              <a:lnSpc>
                <a:spcPts val="2035"/>
              </a:lnSpc>
            </a:pPr>
            <a:r>
              <a:rPr lang="en-US" sz="1501" b="true">
                <a:solidFill>
                  <a:srgbClr val="4C4C4D"/>
                </a:solidFill>
                <a:latin typeface="Heebo Bold"/>
                <a:ea typeface="Heebo Bold"/>
                <a:cs typeface="Heebo Bold"/>
                <a:sym typeface="Heebo Bold"/>
              </a:rPr>
              <a:t>Safety compliance</a:t>
            </a:r>
            <a:r>
              <a:rPr lang="en-US" sz="1501">
                <a:solidFill>
                  <a:srgbClr val="4C4C4D"/>
                </a:solidFill>
                <a:latin typeface="Heebo"/>
                <a:ea typeface="Heebo"/>
                <a:cs typeface="Heebo"/>
                <a:sym typeface="Heebo"/>
              </a:rPr>
              <a:t> for industrial automation, PLC interfaces, and safety-critical switching applications</a:t>
            </a:r>
          </a:p>
        </p:txBody>
      </p:sp>
      <p:sp>
        <p:nvSpPr>
          <p:cNvPr name="TextBox 25" id="25"/>
          <p:cNvSpPr txBox="true"/>
          <p:nvPr/>
        </p:nvSpPr>
        <p:spPr>
          <a:xfrm rot="0">
            <a:off x="992991" y="8337185"/>
            <a:ext cx="16315868" cy="323793"/>
          </a:xfrm>
          <a:prstGeom prst="rect">
            <a:avLst/>
          </a:prstGeom>
        </p:spPr>
        <p:txBody>
          <a:bodyPr anchor="t" rtlCol="false" tIns="0" lIns="0" bIns="0" rIns="0">
            <a:spAutoFit/>
          </a:bodyPr>
          <a:lstStyle/>
          <a:p>
            <a:pPr algn="l">
              <a:lnSpc>
                <a:spcPts val="2341"/>
              </a:lnSpc>
            </a:pPr>
            <a:r>
              <a:rPr lang="en-US" sz="1876">
                <a:solidFill>
                  <a:srgbClr val="152D47"/>
                </a:solidFill>
                <a:latin typeface="Crimson Pro"/>
                <a:ea typeface="Crimson Pro"/>
                <a:cs typeface="Crimson Pro"/>
                <a:sym typeface="Crimson Pro"/>
              </a:rPr>
              <a:t>Next Steps:</a:t>
            </a:r>
          </a:p>
        </p:txBody>
      </p:sp>
      <p:sp>
        <p:nvSpPr>
          <p:cNvPr name="TextBox 26" id="26"/>
          <p:cNvSpPr txBox="true"/>
          <p:nvPr/>
        </p:nvSpPr>
        <p:spPr>
          <a:xfrm rot="0">
            <a:off x="992991" y="8833475"/>
            <a:ext cx="16315868" cy="555241"/>
          </a:xfrm>
          <a:prstGeom prst="rect">
            <a:avLst/>
          </a:prstGeom>
        </p:spPr>
        <p:txBody>
          <a:bodyPr anchor="t" rtlCol="false" tIns="0" lIns="0" bIns="0" rIns="0">
            <a:spAutoFit/>
          </a:bodyPr>
          <a:lstStyle/>
          <a:p>
            <a:pPr algn="l">
              <a:lnSpc>
                <a:spcPts val="2035"/>
              </a:lnSpc>
            </a:pPr>
            <a:r>
              <a:rPr lang="en-US" sz="1501">
                <a:solidFill>
                  <a:srgbClr val="4C4C4D"/>
                </a:solidFill>
                <a:latin typeface="Heebo"/>
                <a:ea typeface="Heebo"/>
                <a:cs typeface="Heebo"/>
                <a:sym typeface="Heebo"/>
              </a:rPr>
              <a:t>Circuit 2 will demonstrate how optical isolation dramatically improves system robustness and reliability in harsh industrial environments, making it the preferred solution for mission-critical applications.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0F0F1"/>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6" id="6"/>
          <p:cNvGrpSpPr/>
          <p:nvPr/>
        </p:nvGrpSpPr>
        <p:grpSpPr>
          <a:xfrm rot="0">
            <a:off x="16628307" y="9846183"/>
            <a:ext cx="1609020" cy="384353"/>
            <a:chOff x="0" y="0"/>
            <a:chExt cx="2145360" cy="512470"/>
          </a:xfrm>
        </p:grpSpPr>
        <p:sp>
          <p:nvSpPr>
            <p:cNvPr name="Freeform 7" id="7" descr="preencoded.png">
              <a:hlinkClick r:id="rId3" tooltip="https://gamma.app/?utm_source=made-with-gamma"/>
            </p:cNvPr>
            <p:cNvSpPr/>
            <p:nvPr/>
          </p:nvSpPr>
          <p:spPr>
            <a:xfrm flipH="false" flipV="false" rot="0">
              <a:off x="0" y="0"/>
              <a:ext cx="2145411" cy="512445"/>
            </a:xfrm>
            <a:custGeom>
              <a:avLst/>
              <a:gdLst/>
              <a:ahLst/>
              <a:cxnLst/>
              <a:rect r="r" b="b" t="t" l="l"/>
              <a:pathLst>
                <a:path h="512445" w="2145411">
                  <a:moveTo>
                    <a:pt x="0" y="0"/>
                  </a:moveTo>
                  <a:lnTo>
                    <a:pt x="2145411" y="0"/>
                  </a:lnTo>
                  <a:lnTo>
                    <a:pt x="2145411" y="512445"/>
                  </a:lnTo>
                  <a:lnTo>
                    <a:pt x="0" y="512445"/>
                  </a:lnTo>
                  <a:lnTo>
                    <a:pt x="0" y="0"/>
                  </a:lnTo>
                  <a:close/>
                </a:path>
              </a:pathLst>
            </a:custGeom>
            <a:blipFill>
              <a:blip r:embed="rId4"/>
              <a:stretch>
                <a:fillRect l="0" t="0" r="2" b="-4"/>
              </a:stretch>
            </a:blipFill>
          </p:spPr>
        </p:sp>
      </p:grpSp>
      <p:sp>
        <p:nvSpPr>
          <p:cNvPr name="TextBox 8" id="8"/>
          <p:cNvSpPr txBox="true"/>
          <p:nvPr/>
        </p:nvSpPr>
        <p:spPr>
          <a:xfrm rot="0">
            <a:off x="992991" y="831418"/>
            <a:ext cx="16315868" cy="600980"/>
          </a:xfrm>
          <a:prstGeom prst="rect">
            <a:avLst/>
          </a:prstGeom>
        </p:spPr>
        <p:txBody>
          <a:bodyPr anchor="t" rtlCol="false" tIns="0" lIns="0" bIns="0" rIns="0">
            <a:spAutoFit/>
          </a:bodyPr>
          <a:lstStyle/>
          <a:p>
            <a:pPr algn="l">
              <a:lnSpc>
                <a:spcPts val="4496"/>
              </a:lnSpc>
            </a:pPr>
            <a:r>
              <a:rPr lang="en-US" sz="3602">
                <a:solidFill>
                  <a:srgbClr val="152D47"/>
                </a:solidFill>
                <a:latin typeface="Crimson Pro"/>
                <a:ea typeface="Crimson Pro"/>
                <a:cs typeface="Crimson Pro"/>
                <a:sym typeface="Crimson Pro"/>
              </a:rPr>
              <a:t>Circuit-02:PMOS High-Side Driver using Optocoupler</a:t>
            </a:r>
          </a:p>
        </p:txBody>
      </p:sp>
      <p:sp>
        <p:nvSpPr>
          <p:cNvPr name="TextBox 9" id="9"/>
          <p:cNvSpPr txBox="true"/>
          <p:nvPr/>
        </p:nvSpPr>
        <p:spPr>
          <a:xfrm rot="0">
            <a:off x="992991" y="1709156"/>
            <a:ext cx="8769182" cy="377552"/>
          </a:xfrm>
          <a:prstGeom prst="rect">
            <a:avLst/>
          </a:prstGeom>
        </p:spPr>
        <p:txBody>
          <a:bodyPr anchor="t" rtlCol="false" tIns="0" lIns="0" bIns="0" rIns="0">
            <a:spAutoFit/>
          </a:bodyPr>
          <a:lstStyle/>
          <a:p>
            <a:pPr algn="l">
              <a:lnSpc>
                <a:spcPts val="2716"/>
              </a:lnSpc>
            </a:pPr>
            <a:r>
              <a:rPr lang="en-US" sz="2176">
                <a:solidFill>
                  <a:srgbClr val="152D47"/>
                </a:solidFill>
                <a:latin typeface="Crimson Pro"/>
                <a:ea typeface="Crimson Pro"/>
                <a:cs typeface="Crimson Pro"/>
                <a:sym typeface="Crimson Pro"/>
              </a:rPr>
              <a:t>Introduction</a:t>
            </a:r>
          </a:p>
        </p:txBody>
      </p:sp>
      <p:sp>
        <p:nvSpPr>
          <p:cNvPr name="TextBox 10" id="10"/>
          <p:cNvSpPr txBox="true"/>
          <p:nvPr/>
        </p:nvSpPr>
        <p:spPr>
          <a:xfrm rot="0">
            <a:off x="992991" y="2189798"/>
            <a:ext cx="8769182" cy="2102187"/>
          </a:xfrm>
          <a:prstGeom prst="rect">
            <a:avLst/>
          </a:prstGeom>
        </p:spPr>
        <p:txBody>
          <a:bodyPr anchor="t" rtlCol="false" tIns="0" lIns="0" bIns="0" rIns="0">
            <a:spAutoFit/>
          </a:bodyPr>
          <a:lstStyle/>
          <a:p>
            <a:pPr algn="l">
              <a:lnSpc>
                <a:spcPts val="1882"/>
              </a:lnSpc>
            </a:pPr>
            <a:r>
              <a:rPr lang="en-US" sz="1426">
                <a:solidFill>
                  <a:srgbClr val="4C4C4D"/>
                </a:solidFill>
                <a:latin typeface="Heebo"/>
                <a:ea typeface="Heebo"/>
                <a:cs typeface="Heebo"/>
                <a:sym typeface="Heebo"/>
              </a:rPr>
              <a:t>In industrial control systems, the controller generally operates at a low voltage (3.3 V), whereas the load is powered by a much higher voltage (100 V). Directly connecting the controller to the high-voltage switching circuit may expose it to switching transients, electromagnetic interference (EMI), and ground-loop currents. To improve safety and reliability, an optocoupler (PC817) is introduced between the controller and the PMOS gate driver.</a:t>
            </a:r>
          </a:p>
          <a:p>
            <a:pPr algn="l">
              <a:lnSpc>
                <a:spcPts val="1882"/>
              </a:lnSpc>
            </a:pPr>
            <a:r>
              <a:rPr lang="en-US" sz="1426">
                <a:solidFill>
                  <a:srgbClr val="4C4C4D"/>
                </a:solidFill>
                <a:latin typeface="Heebo"/>
                <a:ea typeface="Heebo"/>
                <a:cs typeface="Heebo"/>
                <a:sym typeface="Heebo"/>
              </a:rPr>
              <a:t>The optocoupler transfers the control signal through light, providing galvanic isolation between the low-voltage control circuit and the high-voltage power circuit. The PMOS transistor continues to function as the high-side switch, while the Zener diode limits the gate-to-source voltage to ensure safe operation.</a:t>
            </a:r>
          </a:p>
        </p:txBody>
      </p:sp>
      <p:sp>
        <p:nvSpPr>
          <p:cNvPr name="TextBox 11" id="11"/>
          <p:cNvSpPr txBox="true"/>
          <p:nvPr/>
        </p:nvSpPr>
        <p:spPr>
          <a:xfrm rot="0">
            <a:off x="992991" y="4385548"/>
            <a:ext cx="8769182" cy="377552"/>
          </a:xfrm>
          <a:prstGeom prst="rect">
            <a:avLst/>
          </a:prstGeom>
        </p:spPr>
        <p:txBody>
          <a:bodyPr anchor="t" rtlCol="false" tIns="0" lIns="0" bIns="0" rIns="0">
            <a:spAutoFit/>
          </a:bodyPr>
          <a:lstStyle/>
          <a:p>
            <a:pPr algn="l">
              <a:lnSpc>
                <a:spcPts val="2716"/>
              </a:lnSpc>
            </a:pPr>
            <a:r>
              <a:rPr lang="en-US" sz="2176">
                <a:solidFill>
                  <a:srgbClr val="152D47"/>
                </a:solidFill>
                <a:latin typeface="Crimson Pro"/>
                <a:ea typeface="Crimson Pro"/>
                <a:cs typeface="Crimson Pro"/>
                <a:sym typeface="Crimson Pro"/>
              </a:rPr>
              <a:t>Working Principle - OFF Condition (Input = 0 V)</a:t>
            </a:r>
          </a:p>
        </p:txBody>
      </p:sp>
      <p:sp>
        <p:nvSpPr>
          <p:cNvPr name="TextBox 12" id="12"/>
          <p:cNvSpPr txBox="true"/>
          <p:nvPr/>
        </p:nvSpPr>
        <p:spPr>
          <a:xfrm rot="0">
            <a:off x="992991" y="4866180"/>
            <a:ext cx="8769182" cy="1959350"/>
          </a:xfrm>
          <a:prstGeom prst="rect">
            <a:avLst/>
          </a:prstGeom>
        </p:spPr>
        <p:txBody>
          <a:bodyPr anchor="t" rtlCol="false" tIns="0" lIns="0" bIns="0" rIns="0">
            <a:spAutoFit/>
          </a:bodyPr>
          <a:lstStyle/>
          <a:p>
            <a:pPr algn="l" marL="258293" indent="-129146" lvl="1">
              <a:lnSpc>
                <a:spcPts val="1882"/>
              </a:lnSpc>
              <a:buFont typeface="Arial"/>
              <a:buChar char="•"/>
            </a:pPr>
            <a:r>
              <a:rPr lang="en-US" sz="1426">
                <a:solidFill>
                  <a:srgbClr val="4C4C4D"/>
                </a:solidFill>
                <a:latin typeface="Heebo"/>
                <a:ea typeface="Heebo"/>
                <a:cs typeface="Heebo"/>
                <a:sym typeface="Heebo"/>
              </a:rPr>
              <a:t>The LED inside the PC817 is OFF</a:t>
            </a:r>
          </a:p>
          <a:p>
            <a:pPr algn="l" marL="258293" indent="-129146" lvl="1">
              <a:lnSpc>
                <a:spcPts val="1882"/>
              </a:lnSpc>
              <a:buFont typeface="Arial"/>
              <a:buChar char="•"/>
            </a:pPr>
            <a:r>
              <a:rPr lang="en-US" sz="1426">
                <a:solidFill>
                  <a:srgbClr val="4C4C4D"/>
                </a:solidFill>
                <a:latin typeface="Heebo"/>
                <a:ea typeface="Heebo"/>
                <a:cs typeface="Heebo"/>
                <a:sym typeface="Heebo"/>
              </a:rPr>
              <a:t>The phototransistor remains in the cut-off region</a:t>
            </a:r>
          </a:p>
          <a:p>
            <a:pPr algn="l" marL="258293" indent="-129146" lvl="1">
              <a:lnSpc>
                <a:spcPts val="1882"/>
              </a:lnSpc>
              <a:buFont typeface="Arial"/>
              <a:buChar char="•"/>
            </a:pPr>
            <a:r>
              <a:rPr lang="en-US" sz="1426">
                <a:solidFill>
                  <a:srgbClr val="4C4C4D"/>
                </a:solidFill>
                <a:latin typeface="Heebo"/>
                <a:ea typeface="Heebo"/>
                <a:cs typeface="Heebo"/>
                <a:sym typeface="Heebo"/>
              </a:rPr>
              <a:t>No current flows through resistor R5</a:t>
            </a:r>
          </a:p>
          <a:p>
            <a:pPr algn="l" marL="258293" indent="-129146" lvl="1">
              <a:lnSpc>
                <a:spcPts val="1882"/>
              </a:lnSpc>
              <a:buFont typeface="Arial"/>
              <a:buChar char="•"/>
            </a:pPr>
            <a:r>
              <a:rPr lang="en-US" sz="1426">
                <a:solidFill>
                  <a:srgbClr val="4C4C4D"/>
                </a:solidFill>
                <a:latin typeface="Heebo"/>
                <a:ea typeface="Heebo"/>
                <a:cs typeface="Heebo"/>
                <a:sym typeface="Heebo"/>
              </a:rPr>
              <a:t>The PMOS gate is pulled up to the source voltage through resistor R4</a:t>
            </a:r>
          </a:p>
          <a:p>
            <a:pPr algn="l" marL="258293" indent="-129146" lvl="1">
              <a:lnSpc>
                <a:spcPts val="1882"/>
              </a:lnSpc>
              <a:buFont typeface="Arial"/>
              <a:buChar char="•"/>
            </a:pPr>
            <a:r>
              <a:rPr lang="en-US" sz="1426">
                <a:solidFill>
                  <a:srgbClr val="4C4C4D"/>
                </a:solidFill>
                <a:latin typeface="Heebo"/>
                <a:ea typeface="Heebo"/>
                <a:cs typeface="Heebo"/>
                <a:sym typeface="Heebo"/>
              </a:rPr>
              <a:t>Therefore, VGS = 0 V</a:t>
            </a:r>
          </a:p>
          <a:p>
            <a:pPr algn="l" marL="258293" indent="-129146" lvl="1">
              <a:lnSpc>
                <a:spcPts val="1882"/>
              </a:lnSpc>
              <a:buFont typeface="Arial"/>
              <a:buChar char="•"/>
            </a:pPr>
            <a:r>
              <a:rPr lang="en-US" sz="1426">
                <a:solidFill>
                  <a:srgbClr val="4C4C4D"/>
                </a:solidFill>
                <a:latin typeface="Heebo"/>
                <a:ea typeface="Heebo"/>
                <a:cs typeface="Heebo"/>
                <a:sym typeface="Heebo"/>
              </a:rPr>
              <a:t>Since the gate-to-source voltage is zero, the PMOS remains OFF and the load is disconnected from the supply</a:t>
            </a:r>
          </a:p>
        </p:txBody>
      </p:sp>
      <p:sp>
        <p:nvSpPr>
          <p:cNvPr name="TextBox 13" id="13"/>
          <p:cNvSpPr txBox="true"/>
          <p:nvPr/>
        </p:nvSpPr>
        <p:spPr>
          <a:xfrm rot="0">
            <a:off x="992991" y="6919093"/>
            <a:ext cx="8769182" cy="377552"/>
          </a:xfrm>
          <a:prstGeom prst="rect">
            <a:avLst/>
          </a:prstGeom>
        </p:spPr>
        <p:txBody>
          <a:bodyPr anchor="t" rtlCol="false" tIns="0" lIns="0" bIns="0" rIns="0">
            <a:spAutoFit/>
          </a:bodyPr>
          <a:lstStyle/>
          <a:p>
            <a:pPr algn="l">
              <a:lnSpc>
                <a:spcPts val="2716"/>
              </a:lnSpc>
            </a:pPr>
            <a:r>
              <a:rPr lang="en-US" sz="2176">
                <a:solidFill>
                  <a:srgbClr val="152D47"/>
                </a:solidFill>
                <a:latin typeface="Crimson Pro"/>
                <a:ea typeface="Crimson Pro"/>
                <a:cs typeface="Crimson Pro"/>
                <a:sym typeface="Crimson Pro"/>
              </a:rPr>
              <a:t>Working Principle - ON Condition (Input = 3.3 V)</a:t>
            </a:r>
          </a:p>
        </p:txBody>
      </p:sp>
      <p:sp>
        <p:nvSpPr>
          <p:cNvPr name="TextBox 14" id="14"/>
          <p:cNvSpPr txBox="true"/>
          <p:nvPr/>
        </p:nvSpPr>
        <p:spPr>
          <a:xfrm rot="0">
            <a:off x="992991" y="7399725"/>
            <a:ext cx="8769182" cy="2002098"/>
          </a:xfrm>
          <a:prstGeom prst="rect">
            <a:avLst/>
          </a:prstGeom>
        </p:spPr>
        <p:txBody>
          <a:bodyPr anchor="t" rtlCol="false" tIns="0" lIns="0" bIns="0" rIns="0">
            <a:spAutoFit/>
          </a:bodyPr>
          <a:lstStyle/>
          <a:p>
            <a:pPr algn="l" marL="258293" indent="-129146" lvl="1">
              <a:lnSpc>
                <a:spcPts val="1882"/>
              </a:lnSpc>
              <a:buFont typeface="Arial"/>
              <a:buChar char="•"/>
            </a:pPr>
            <a:r>
              <a:rPr lang="en-US" sz="1426">
                <a:solidFill>
                  <a:srgbClr val="4C4C4D"/>
                </a:solidFill>
                <a:latin typeface="Heebo"/>
                <a:ea typeface="Heebo"/>
                <a:cs typeface="Heebo"/>
                <a:sym typeface="Heebo"/>
              </a:rPr>
              <a:t>The controller applies a 3.3 V signal to the optocoupler LED</a:t>
            </a:r>
          </a:p>
          <a:p>
            <a:pPr algn="l" marL="258293" indent="-129146" lvl="1">
              <a:lnSpc>
                <a:spcPts val="1882"/>
              </a:lnSpc>
              <a:buFont typeface="Arial"/>
              <a:buChar char="•"/>
            </a:pPr>
            <a:r>
              <a:rPr lang="en-US" sz="1426">
                <a:solidFill>
                  <a:srgbClr val="4C4C4D"/>
                </a:solidFill>
                <a:latin typeface="Heebo"/>
                <a:ea typeface="Heebo"/>
                <a:cs typeface="Heebo"/>
                <a:sym typeface="Heebo"/>
              </a:rPr>
              <a:t>The LED emits infrared light</a:t>
            </a:r>
          </a:p>
          <a:p>
            <a:pPr algn="l" marL="258293" indent="-129146" lvl="1">
              <a:lnSpc>
                <a:spcPts val="1882"/>
              </a:lnSpc>
              <a:buFont typeface="Arial"/>
              <a:buChar char="•"/>
            </a:pPr>
            <a:r>
              <a:rPr lang="en-US" sz="1426">
                <a:solidFill>
                  <a:srgbClr val="4C4C4D"/>
                </a:solidFill>
                <a:latin typeface="Heebo"/>
                <a:ea typeface="Heebo"/>
                <a:cs typeface="Heebo"/>
                <a:sym typeface="Heebo"/>
              </a:rPr>
              <a:t>The phototransistor inside the PC817 turns ON</a:t>
            </a:r>
          </a:p>
          <a:p>
            <a:pPr algn="l" marL="258293" indent="-129146" lvl="1">
              <a:lnSpc>
                <a:spcPts val="1882"/>
              </a:lnSpc>
              <a:buFont typeface="Arial"/>
              <a:buChar char="•"/>
            </a:pPr>
            <a:r>
              <a:rPr lang="en-US" sz="1426">
                <a:solidFill>
                  <a:srgbClr val="4C4C4D"/>
                </a:solidFill>
                <a:latin typeface="Heebo"/>
                <a:ea typeface="Heebo"/>
                <a:cs typeface="Heebo"/>
                <a:sym typeface="Heebo"/>
              </a:rPr>
              <a:t>The PMOS gate is pulled towards ground through resistor R5</a:t>
            </a:r>
          </a:p>
          <a:p>
            <a:pPr algn="l" marL="258293" indent="-129146" lvl="1">
              <a:lnSpc>
                <a:spcPts val="1882"/>
              </a:lnSpc>
              <a:buFont typeface="Arial"/>
              <a:buChar char="•"/>
            </a:pPr>
            <a:r>
              <a:rPr lang="en-US" sz="1426">
                <a:solidFill>
                  <a:srgbClr val="4C4C4D"/>
                </a:solidFill>
                <a:latin typeface="Heebo"/>
                <a:ea typeface="Heebo"/>
                <a:cs typeface="Heebo"/>
                <a:sym typeface="Heebo"/>
              </a:rPr>
              <a:t>The Zener diode clamps the gate voltage to approximately 12 V below the source voltage</a:t>
            </a:r>
          </a:p>
          <a:p>
            <a:pPr algn="l" marL="258293" indent="-129146" lvl="1">
              <a:lnSpc>
                <a:spcPts val="1882"/>
              </a:lnSpc>
              <a:buFont typeface="Arial"/>
              <a:buChar char="•"/>
            </a:pPr>
            <a:r>
              <a:rPr lang="en-US" sz="1426">
                <a:solidFill>
                  <a:srgbClr val="4C4C4D"/>
                </a:solidFill>
                <a:latin typeface="Heebo"/>
                <a:ea typeface="Heebo"/>
                <a:cs typeface="Heebo"/>
                <a:sym typeface="Heebo"/>
              </a:rPr>
              <a:t>Therefore, VGS ≈ −12 V</a:t>
            </a:r>
          </a:p>
          <a:p>
            <a:pPr algn="l" marL="258293" indent="-129146" lvl="1">
              <a:lnSpc>
                <a:spcPts val="1882"/>
              </a:lnSpc>
              <a:buFont typeface="Arial"/>
              <a:buChar char="•"/>
            </a:pPr>
            <a:r>
              <a:rPr lang="en-US" sz="1426">
                <a:solidFill>
                  <a:srgbClr val="4C4C4D"/>
                </a:solidFill>
                <a:latin typeface="Heebo"/>
                <a:ea typeface="Heebo"/>
                <a:cs typeface="Heebo"/>
                <a:sym typeface="Heebo"/>
              </a:rPr>
              <a:t>The PMOS turns ON and connects the 100 V supply to the load</a:t>
            </a:r>
          </a:p>
        </p:txBody>
      </p:sp>
      <p:sp>
        <p:nvSpPr>
          <p:cNvPr name="TextBox 15" id="15"/>
          <p:cNvSpPr txBox="true"/>
          <p:nvPr/>
        </p:nvSpPr>
        <p:spPr>
          <a:xfrm rot="0">
            <a:off x="10225973" y="1709156"/>
            <a:ext cx="7092258" cy="377552"/>
          </a:xfrm>
          <a:prstGeom prst="rect">
            <a:avLst/>
          </a:prstGeom>
        </p:spPr>
        <p:txBody>
          <a:bodyPr anchor="t" rtlCol="false" tIns="0" lIns="0" bIns="0" rIns="0">
            <a:spAutoFit/>
          </a:bodyPr>
          <a:lstStyle/>
          <a:p>
            <a:pPr algn="l">
              <a:lnSpc>
                <a:spcPts val="2716"/>
              </a:lnSpc>
            </a:pPr>
            <a:r>
              <a:rPr lang="en-US" sz="2176">
                <a:solidFill>
                  <a:srgbClr val="152D47"/>
                </a:solidFill>
                <a:latin typeface="Crimson Pro"/>
                <a:ea typeface="Crimson Pro"/>
                <a:cs typeface="Crimson Pro"/>
                <a:sym typeface="Crimson Pro"/>
              </a:rPr>
              <a:t>Main Components</a:t>
            </a:r>
          </a:p>
        </p:txBody>
      </p:sp>
      <p:sp>
        <p:nvSpPr>
          <p:cNvPr name="TextBox 16" id="16"/>
          <p:cNvSpPr txBox="true"/>
          <p:nvPr/>
        </p:nvSpPr>
        <p:spPr>
          <a:xfrm rot="0">
            <a:off x="10225973" y="2189798"/>
            <a:ext cx="7092258" cy="1712700"/>
          </a:xfrm>
          <a:prstGeom prst="rect">
            <a:avLst/>
          </a:prstGeom>
        </p:spPr>
        <p:txBody>
          <a:bodyPr anchor="t" rtlCol="false" tIns="0" lIns="0" bIns="0" rIns="0">
            <a:spAutoFit/>
          </a:bodyPr>
          <a:lstStyle/>
          <a:p>
            <a:pPr algn="l" marL="258293" indent="-129146" lvl="1">
              <a:lnSpc>
                <a:spcPts val="1882"/>
              </a:lnSpc>
              <a:buFont typeface="Arial"/>
              <a:buChar char="•"/>
            </a:pPr>
            <a:r>
              <a:rPr lang="en-US" sz="1426">
                <a:solidFill>
                  <a:srgbClr val="4C4C4D"/>
                </a:solidFill>
                <a:latin typeface="Heebo"/>
                <a:ea typeface="Heebo"/>
                <a:cs typeface="Heebo"/>
                <a:sym typeface="Heebo"/>
              </a:rPr>
              <a:t>PMOS transistor – High-side switching device</a:t>
            </a:r>
          </a:p>
          <a:p>
            <a:pPr algn="l" marL="258293" indent="-129146" lvl="1">
              <a:lnSpc>
                <a:spcPts val="1882"/>
              </a:lnSpc>
              <a:buFont typeface="Arial"/>
              <a:buChar char="•"/>
            </a:pPr>
            <a:r>
              <a:rPr lang="en-US" sz="1426">
                <a:solidFill>
                  <a:srgbClr val="4C4C4D"/>
                </a:solidFill>
                <a:latin typeface="Heebo"/>
                <a:ea typeface="Heebo"/>
                <a:cs typeface="Heebo"/>
                <a:sym typeface="Heebo"/>
              </a:rPr>
              <a:t>PC817 optocoupler – Electrical isolation</a:t>
            </a:r>
          </a:p>
          <a:p>
            <a:pPr algn="l" marL="258293" indent="-129146" lvl="1">
              <a:lnSpc>
                <a:spcPts val="1882"/>
              </a:lnSpc>
              <a:buFont typeface="Arial"/>
              <a:buChar char="•"/>
            </a:pPr>
            <a:r>
              <a:rPr lang="en-US" sz="1426">
                <a:solidFill>
                  <a:srgbClr val="4C4C4D"/>
                </a:solidFill>
                <a:latin typeface="Heebo"/>
                <a:ea typeface="Heebo"/>
                <a:cs typeface="Heebo"/>
                <a:sym typeface="Heebo"/>
              </a:rPr>
              <a:t>Zener diode (12 V) – Gate protection</a:t>
            </a:r>
          </a:p>
          <a:p>
            <a:pPr algn="l" marL="258293" indent="-129146" lvl="1">
              <a:lnSpc>
                <a:spcPts val="1882"/>
              </a:lnSpc>
              <a:buFont typeface="Arial"/>
              <a:buChar char="•"/>
            </a:pPr>
            <a:r>
              <a:rPr lang="en-US" sz="1426">
                <a:solidFill>
                  <a:srgbClr val="4C4C4D"/>
                </a:solidFill>
                <a:latin typeface="Heebo"/>
                <a:ea typeface="Heebo"/>
                <a:cs typeface="Heebo"/>
                <a:sym typeface="Heebo"/>
              </a:rPr>
              <a:t>R4 – Zener bias resistor</a:t>
            </a:r>
          </a:p>
          <a:p>
            <a:pPr algn="l" marL="258293" indent="-129146" lvl="1">
              <a:lnSpc>
                <a:spcPts val="1882"/>
              </a:lnSpc>
              <a:buFont typeface="Arial"/>
              <a:buChar char="•"/>
            </a:pPr>
            <a:r>
              <a:rPr lang="en-US" sz="1426">
                <a:solidFill>
                  <a:srgbClr val="4C4C4D"/>
                </a:solidFill>
                <a:latin typeface="Heebo"/>
                <a:ea typeface="Heebo"/>
                <a:cs typeface="Heebo"/>
                <a:sym typeface="Heebo"/>
              </a:rPr>
              <a:t>R5 – Collector (gate pull-down) resistor</a:t>
            </a:r>
          </a:p>
          <a:p>
            <a:pPr algn="l" marL="258293" indent="-129146" lvl="1">
              <a:lnSpc>
                <a:spcPts val="1882"/>
              </a:lnSpc>
              <a:buFont typeface="Arial"/>
              <a:buChar char="•"/>
            </a:pPr>
            <a:r>
              <a:rPr lang="en-US" sz="1426">
                <a:solidFill>
                  <a:srgbClr val="4C4C4D"/>
                </a:solidFill>
                <a:latin typeface="Heebo"/>
                <a:ea typeface="Heebo"/>
                <a:cs typeface="Heebo"/>
                <a:sym typeface="Heebo"/>
              </a:rPr>
              <a:t>C2 – Noise suppression capacitor</a:t>
            </a:r>
          </a:p>
        </p:txBody>
      </p:sp>
      <p:sp>
        <p:nvSpPr>
          <p:cNvPr name="TextBox 17" id="17"/>
          <p:cNvSpPr txBox="true"/>
          <p:nvPr/>
        </p:nvSpPr>
        <p:spPr>
          <a:xfrm rot="0">
            <a:off x="10225973" y="5065776"/>
            <a:ext cx="7092258" cy="377552"/>
          </a:xfrm>
          <a:prstGeom prst="rect">
            <a:avLst/>
          </a:prstGeom>
        </p:spPr>
        <p:txBody>
          <a:bodyPr anchor="t" rtlCol="false" tIns="0" lIns="0" bIns="0" rIns="0">
            <a:spAutoFit/>
          </a:bodyPr>
          <a:lstStyle/>
          <a:p>
            <a:pPr algn="l">
              <a:lnSpc>
                <a:spcPts val="2716"/>
              </a:lnSpc>
            </a:pPr>
            <a:r>
              <a:rPr lang="en-US" sz="2176">
                <a:solidFill>
                  <a:srgbClr val="152D47"/>
                </a:solidFill>
                <a:latin typeface="Crimson Pro"/>
                <a:ea typeface="Crimson Pro"/>
                <a:cs typeface="Crimson Pro"/>
                <a:sym typeface="Crimson Pro"/>
              </a:rPr>
              <a:t>Circuit Diagram Area</a:t>
            </a:r>
          </a:p>
        </p:txBody>
      </p:sp>
      <p:sp>
        <p:nvSpPr>
          <p:cNvPr name="TextBox 18" id="18"/>
          <p:cNvSpPr txBox="true"/>
          <p:nvPr/>
        </p:nvSpPr>
        <p:spPr>
          <a:xfrm rot="0">
            <a:off x="10225973" y="5546408"/>
            <a:ext cx="8007353" cy="265700"/>
          </a:xfrm>
          <a:prstGeom prst="rect">
            <a:avLst/>
          </a:prstGeom>
        </p:spPr>
        <p:txBody>
          <a:bodyPr anchor="t" rtlCol="false" tIns="0" lIns="0" bIns="0" rIns="0">
            <a:spAutoFit/>
          </a:bodyPr>
          <a:lstStyle/>
          <a:p>
            <a:pPr algn="l">
              <a:lnSpc>
                <a:spcPts val="1882"/>
              </a:lnSpc>
            </a:pPr>
            <a:r>
              <a:rPr lang="en-US" sz="1426">
                <a:solidFill>
                  <a:srgbClr val="4C4C4D"/>
                </a:solidFill>
                <a:latin typeface="Heebo"/>
                <a:ea typeface="Heebo"/>
                <a:cs typeface="Heebo"/>
                <a:sym typeface="Heebo"/>
              </a:rPr>
              <a:t>Space reserved for circuit diagram insertion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0F0F1"/>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6" id="6"/>
          <p:cNvGrpSpPr/>
          <p:nvPr/>
        </p:nvGrpSpPr>
        <p:grpSpPr>
          <a:xfrm rot="0">
            <a:off x="16628307" y="9846183"/>
            <a:ext cx="1609020" cy="384353"/>
            <a:chOff x="0" y="0"/>
            <a:chExt cx="2145360" cy="512470"/>
          </a:xfrm>
        </p:grpSpPr>
        <p:sp>
          <p:nvSpPr>
            <p:cNvPr name="Freeform 7" id="7" descr="preencoded.png">
              <a:hlinkClick r:id="rId3" tooltip="https://gamma.app/?utm_source=made-with-gamma"/>
            </p:cNvPr>
            <p:cNvSpPr/>
            <p:nvPr/>
          </p:nvSpPr>
          <p:spPr>
            <a:xfrm flipH="false" flipV="false" rot="0">
              <a:off x="0" y="0"/>
              <a:ext cx="2145411" cy="512445"/>
            </a:xfrm>
            <a:custGeom>
              <a:avLst/>
              <a:gdLst/>
              <a:ahLst/>
              <a:cxnLst/>
              <a:rect r="r" b="b" t="t" l="l"/>
              <a:pathLst>
                <a:path h="512445" w="2145411">
                  <a:moveTo>
                    <a:pt x="0" y="0"/>
                  </a:moveTo>
                  <a:lnTo>
                    <a:pt x="2145411" y="0"/>
                  </a:lnTo>
                  <a:lnTo>
                    <a:pt x="2145411" y="512445"/>
                  </a:lnTo>
                  <a:lnTo>
                    <a:pt x="0" y="512445"/>
                  </a:lnTo>
                  <a:lnTo>
                    <a:pt x="0" y="0"/>
                  </a:lnTo>
                  <a:close/>
                </a:path>
              </a:pathLst>
            </a:custGeom>
            <a:blipFill>
              <a:blip r:embed="rId4"/>
              <a:stretch>
                <a:fillRect l="0" t="0" r="2" b="-4"/>
              </a:stretch>
            </a:blipFill>
          </p:spPr>
        </p:sp>
      </p:grpSp>
      <p:sp>
        <p:nvSpPr>
          <p:cNvPr name="TextBox 8" id="8"/>
          <p:cNvSpPr txBox="true"/>
          <p:nvPr/>
        </p:nvSpPr>
        <p:spPr>
          <a:xfrm rot="0">
            <a:off x="992991" y="751742"/>
            <a:ext cx="16315868" cy="471830"/>
          </a:xfrm>
          <a:prstGeom prst="rect">
            <a:avLst/>
          </a:prstGeom>
        </p:spPr>
        <p:txBody>
          <a:bodyPr anchor="t" rtlCol="false" tIns="0" lIns="0" bIns="0" rIns="0">
            <a:spAutoFit/>
          </a:bodyPr>
          <a:lstStyle/>
          <a:p>
            <a:pPr algn="l">
              <a:lnSpc>
                <a:spcPts val="3465"/>
              </a:lnSpc>
            </a:pPr>
            <a:r>
              <a:rPr lang="en-US" sz="2777">
                <a:solidFill>
                  <a:srgbClr val="152D47"/>
                </a:solidFill>
                <a:latin typeface="Crimson Pro"/>
                <a:ea typeface="Crimson Pro"/>
                <a:cs typeface="Crimson Pro"/>
                <a:sym typeface="Crimson Pro"/>
              </a:rPr>
              <a:t>Circuit Design and Component Calculations</a:t>
            </a:r>
          </a:p>
        </p:txBody>
      </p:sp>
      <p:sp>
        <p:nvSpPr>
          <p:cNvPr name="TextBox 9" id="9"/>
          <p:cNvSpPr txBox="true"/>
          <p:nvPr/>
        </p:nvSpPr>
        <p:spPr>
          <a:xfrm rot="0">
            <a:off x="992991" y="1232830"/>
            <a:ext cx="16315868" cy="285064"/>
          </a:xfrm>
          <a:prstGeom prst="rect">
            <a:avLst/>
          </a:prstGeom>
        </p:spPr>
        <p:txBody>
          <a:bodyPr anchor="t" rtlCol="false" tIns="0" lIns="0" bIns="0" rIns="0">
            <a:spAutoFit/>
          </a:bodyPr>
          <a:lstStyle/>
          <a:p>
            <a:pPr algn="l">
              <a:lnSpc>
                <a:spcPts val="2060"/>
              </a:lnSpc>
            </a:pPr>
            <a:r>
              <a:rPr lang="en-US" sz="1651">
                <a:solidFill>
                  <a:srgbClr val="152D47"/>
                </a:solidFill>
                <a:latin typeface="Crimson Pro"/>
                <a:ea typeface="Crimson Pro"/>
                <a:cs typeface="Crimson Pro"/>
                <a:sym typeface="Crimson Pro"/>
              </a:rPr>
              <a:t>Design Specifications</a:t>
            </a:r>
          </a:p>
        </p:txBody>
      </p:sp>
      <p:grpSp>
        <p:nvGrpSpPr>
          <p:cNvPr name="Group 10" id="10"/>
          <p:cNvGrpSpPr/>
          <p:nvPr/>
        </p:nvGrpSpPr>
        <p:grpSpPr>
          <a:xfrm rot="0">
            <a:off x="988219" y="1619469"/>
            <a:ext cx="16325393" cy="2005241"/>
            <a:chOff x="0" y="0"/>
            <a:chExt cx="21767190" cy="2673655"/>
          </a:xfrm>
        </p:grpSpPr>
        <p:sp>
          <p:nvSpPr>
            <p:cNvPr name="Freeform 11" id="11"/>
            <p:cNvSpPr/>
            <p:nvPr/>
          </p:nvSpPr>
          <p:spPr>
            <a:xfrm flipH="false" flipV="false" rot="0">
              <a:off x="0" y="0"/>
              <a:ext cx="21767164" cy="2673604"/>
            </a:xfrm>
            <a:custGeom>
              <a:avLst/>
              <a:gdLst/>
              <a:ahLst/>
              <a:cxnLst/>
              <a:rect r="r" b="b" t="t" l="l"/>
              <a:pathLst>
                <a:path h="2673604" w="21767164">
                  <a:moveTo>
                    <a:pt x="0" y="28448"/>
                  </a:moveTo>
                  <a:cubicBezTo>
                    <a:pt x="0" y="12700"/>
                    <a:pt x="12700" y="0"/>
                    <a:pt x="28448" y="0"/>
                  </a:cubicBezTo>
                  <a:lnTo>
                    <a:pt x="21738717" y="0"/>
                  </a:lnTo>
                  <a:cubicBezTo>
                    <a:pt x="21754464" y="0"/>
                    <a:pt x="21767164" y="12700"/>
                    <a:pt x="21767164" y="28448"/>
                  </a:cubicBezTo>
                  <a:lnTo>
                    <a:pt x="21767164" y="2645156"/>
                  </a:lnTo>
                  <a:cubicBezTo>
                    <a:pt x="21767164" y="2660904"/>
                    <a:pt x="21754464" y="2673604"/>
                    <a:pt x="21738717" y="2673604"/>
                  </a:cubicBezTo>
                  <a:lnTo>
                    <a:pt x="28448" y="2673604"/>
                  </a:lnTo>
                  <a:cubicBezTo>
                    <a:pt x="12700" y="2673604"/>
                    <a:pt x="0" y="2660904"/>
                    <a:pt x="0" y="2645156"/>
                  </a:cubicBezTo>
                  <a:close/>
                </a:path>
              </a:pathLst>
            </a:custGeom>
            <a:blipFill>
              <a:blip r:embed="rId5">
                <a:alphaModFix amt="0"/>
              </a:blip>
              <a:stretch>
                <a:fillRect l="0" t="-108636" r="0" b="-108638"/>
              </a:stretch>
            </a:blipFill>
            <a:ln w="9532" cap="sq">
              <a:solidFill>
                <a:srgbClr val="000000"/>
              </a:solidFill>
              <a:prstDash val="solid"/>
              <a:miter/>
            </a:ln>
          </p:spPr>
        </p:sp>
      </p:grpSp>
      <p:grpSp>
        <p:nvGrpSpPr>
          <p:cNvPr name="Group 12" id="12"/>
          <p:cNvGrpSpPr/>
          <p:nvPr/>
        </p:nvGrpSpPr>
        <p:grpSpPr>
          <a:xfrm rot="0">
            <a:off x="992991" y="1912744"/>
            <a:ext cx="16315868" cy="9535"/>
            <a:chOff x="0" y="0"/>
            <a:chExt cx="21754490" cy="12713"/>
          </a:xfrm>
        </p:grpSpPr>
        <p:sp>
          <p:nvSpPr>
            <p:cNvPr name="Freeform 13" id="13"/>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14" id="14"/>
          <p:cNvGrpSpPr/>
          <p:nvPr/>
        </p:nvGrpSpPr>
        <p:grpSpPr>
          <a:xfrm rot="0">
            <a:off x="992991" y="2196484"/>
            <a:ext cx="16315868" cy="9535"/>
            <a:chOff x="0" y="0"/>
            <a:chExt cx="21754490" cy="12713"/>
          </a:xfrm>
        </p:grpSpPr>
        <p:sp>
          <p:nvSpPr>
            <p:cNvPr name="Freeform 15" id="15"/>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16" id="16"/>
          <p:cNvGrpSpPr/>
          <p:nvPr/>
        </p:nvGrpSpPr>
        <p:grpSpPr>
          <a:xfrm rot="0">
            <a:off x="992991" y="2480224"/>
            <a:ext cx="16315868" cy="9535"/>
            <a:chOff x="0" y="0"/>
            <a:chExt cx="21754490" cy="12713"/>
          </a:xfrm>
        </p:grpSpPr>
        <p:sp>
          <p:nvSpPr>
            <p:cNvPr name="Freeform 17" id="17"/>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18" id="18"/>
          <p:cNvGrpSpPr/>
          <p:nvPr/>
        </p:nvGrpSpPr>
        <p:grpSpPr>
          <a:xfrm rot="0">
            <a:off x="992991" y="2763964"/>
            <a:ext cx="16315868" cy="9535"/>
            <a:chOff x="0" y="0"/>
            <a:chExt cx="21754490" cy="12713"/>
          </a:xfrm>
        </p:grpSpPr>
        <p:sp>
          <p:nvSpPr>
            <p:cNvPr name="Freeform 19" id="19"/>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20" id="20"/>
          <p:cNvGrpSpPr/>
          <p:nvPr/>
        </p:nvGrpSpPr>
        <p:grpSpPr>
          <a:xfrm rot="0">
            <a:off x="992991" y="3047705"/>
            <a:ext cx="16315868" cy="9535"/>
            <a:chOff x="0" y="0"/>
            <a:chExt cx="21754490" cy="12713"/>
          </a:xfrm>
        </p:grpSpPr>
        <p:sp>
          <p:nvSpPr>
            <p:cNvPr name="Freeform 21" id="21"/>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22" id="22"/>
          <p:cNvGrpSpPr/>
          <p:nvPr/>
        </p:nvGrpSpPr>
        <p:grpSpPr>
          <a:xfrm rot="0">
            <a:off x="992991" y="3331445"/>
            <a:ext cx="16315868" cy="9535"/>
            <a:chOff x="0" y="0"/>
            <a:chExt cx="21754490" cy="12713"/>
          </a:xfrm>
        </p:grpSpPr>
        <p:sp>
          <p:nvSpPr>
            <p:cNvPr name="Freeform 23" id="23"/>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24" id="24"/>
          <p:cNvGrpSpPr/>
          <p:nvPr/>
        </p:nvGrpSpPr>
        <p:grpSpPr>
          <a:xfrm rot="0">
            <a:off x="9150925" y="1624241"/>
            <a:ext cx="9535" cy="1995707"/>
            <a:chOff x="0" y="0"/>
            <a:chExt cx="12713" cy="2660942"/>
          </a:xfrm>
        </p:grpSpPr>
        <p:sp>
          <p:nvSpPr>
            <p:cNvPr name="Freeform 25" id="25"/>
            <p:cNvSpPr/>
            <p:nvPr/>
          </p:nvSpPr>
          <p:spPr>
            <a:xfrm flipH="false" flipV="false" rot="0">
              <a:off x="0" y="0"/>
              <a:ext cx="12700" cy="2660904"/>
            </a:xfrm>
            <a:custGeom>
              <a:avLst/>
              <a:gdLst/>
              <a:ahLst/>
              <a:cxnLst/>
              <a:rect r="r" b="b" t="t" l="l"/>
              <a:pathLst>
                <a:path h="2660904" w="12700">
                  <a:moveTo>
                    <a:pt x="0" y="0"/>
                  </a:moveTo>
                  <a:lnTo>
                    <a:pt x="12700" y="0"/>
                  </a:lnTo>
                  <a:lnTo>
                    <a:pt x="12700" y="2660904"/>
                  </a:lnTo>
                  <a:lnTo>
                    <a:pt x="0" y="2660904"/>
                  </a:lnTo>
                  <a:close/>
                </a:path>
              </a:pathLst>
            </a:custGeom>
            <a:solidFill>
              <a:srgbClr val="000000">
                <a:alpha val="392"/>
              </a:srgbClr>
            </a:solidFill>
          </p:spPr>
        </p:sp>
      </p:grpSp>
      <p:sp>
        <p:nvSpPr>
          <p:cNvPr name="TextBox 26" id="26"/>
          <p:cNvSpPr txBox="true"/>
          <p:nvPr/>
        </p:nvSpPr>
        <p:spPr>
          <a:xfrm rot="0">
            <a:off x="1144314" y="1695279"/>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Parameter</a:t>
            </a:r>
          </a:p>
        </p:txBody>
      </p:sp>
      <p:sp>
        <p:nvSpPr>
          <p:cNvPr name="TextBox 27" id="27"/>
          <p:cNvSpPr txBox="true"/>
          <p:nvPr/>
        </p:nvSpPr>
        <p:spPr>
          <a:xfrm rot="0">
            <a:off x="9297476" y="1695279"/>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Value</a:t>
            </a:r>
          </a:p>
        </p:txBody>
      </p:sp>
      <p:sp>
        <p:nvSpPr>
          <p:cNvPr name="TextBox 28" id="28"/>
          <p:cNvSpPr txBox="true"/>
          <p:nvPr/>
        </p:nvSpPr>
        <p:spPr>
          <a:xfrm rot="0">
            <a:off x="1144314" y="1979019"/>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High Voltage Supply</a:t>
            </a:r>
          </a:p>
        </p:txBody>
      </p:sp>
      <p:sp>
        <p:nvSpPr>
          <p:cNvPr name="TextBox 29" id="29"/>
          <p:cNvSpPr txBox="true"/>
          <p:nvPr/>
        </p:nvSpPr>
        <p:spPr>
          <a:xfrm rot="0">
            <a:off x="9297476" y="1979019"/>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100 V</a:t>
            </a:r>
          </a:p>
        </p:txBody>
      </p:sp>
      <p:sp>
        <p:nvSpPr>
          <p:cNvPr name="TextBox 30" id="30"/>
          <p:cNvSpPr txBox="true"/>
          <p:nvPr/>
        </p:nvSpPr>
        <p:spPr>
          <a:xfrm rot="0">
            <a:off x="1144314" y="2262759"/>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Logic Input</a:t>
            </a:r>
          </a:p>
        </p:txBody>
      </p:sp>
      <p:sp>
        <p:nvSpPr>
          <p:cNvPr name="TextBox 31" id="31"/>
          <p:cNvSpPr txBox="true"/>
          <p:nvPr/>
        </p:nvSpPr>
        <p:spPr>
          <a:xfrm rot="0">
            <a:off x="9297476" y="2262759"/>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3.3 V</a:t>
            </a:r>
          </a:p>
        </p:txBody>
      </p:sp>
      <p:sp>
        <p:nvSpPr>
          <p:cNvPr name="TextBox 32" id="32"/>
          <p:cNvSpPr txBox="true"/>
          <p:nvPr/>
        </p:nvSpPr>
        <p:spPr>
          <a:xfrm rot="0">
            <a:off x="1144314" y="2546499"/>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Zener Voltage</a:t>
            </a:r>
          </a:p>
        </p:txBody>
      </p:sp>
      <p:sp>
        <p:nvSpPr>
          <p:cNvPr name="TextBox 33" id="33"/>
          <p:cNvSpPr txBox="true"/>
          <p:nvPr/>
        </p:nvSpPr>
        <p:spPr>
          <a:xfrm rot="0">
            <a:off x="9297476" y="2546499"/>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12 V</a:t>
            </a:r>
          </a:p>
        </p:txBody>
      </p:sp>
      <p:sp>
        <p:nvSpPr>
          <p:cNvPr name="TextBox 34" id="34"/>
          <p:cNvSpPr txBox="true"/>
          <p:nvPr/>
        </p:nvSpPr>
        <p:spPr>
          <a:xfrm rot="0">
            <a:off x="1144314" y="2830239"/>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Optocoupler</a:t>
            </a:r>
          </a:p>
        </p:txBody>
      </p:sp>
      <p:sp>
        <p:nvSpPr>
          <p:cNvPr name="TextBox 35" id="35"/>
          <p:cNvSpPr txBox="true"/>
          <p:nvPr/>
        </p:nvSpPr>
        <p:spPr>
          <a:xfrm rot="0">
            <a:off x="9297476" y="2830239"/>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PC817</a:t>
            </a:r>
          </a:p>
        </p:txBody>
      </p:sp>
      <p:sp>
        <p:nvSpPr>
          <p:cNvPr name="TextBox 36" id="36"/>
          <p:cNvSpPr txBox="true"/>
          <p:nvPr/>
        </p:nvSpPr>
        <p:spPr>
          <a:xfrm rot="0">
            <a:off x="1144314" y="3113970"/>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Zener Current</a:t>
            </a:r>
          </a:p>
        </p:txBody>
      </p:sp>
      <p:sp>
        <p:nvSpPr>
          <p:cNvPr name="TextBox 37" id="37"/>
          <p:cNvSpPr txBox="true"/>
          <p:nvPr/>
        </p:nvSpPr>
        <p:spPr>
          <a:xfrm rot="0">
            <a:off x="9297476" y="3113970"/>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5 mA</a:t>
            </a:r>
          </a:p>
        </p:txBody>
      </p:sp>
      <p:sp>
        <p:nvSpPr>
          <p:cNvPr name="TextBox 38" id="38"/>
          <p:cNvSpPr txBox="true"/>
          <p:nvPr/>
        </p:nvSpPr>
        <p:spPr>
          <a:xfrm rot="0">
            <a:off x="1144314" y="3397710"/>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Optocoupler LED Current</a:t>
            </a:r>
          </a:p>
        </p:txBody>
      </p:sp>
      <p:sp>
        <p:nvSpPr>
          <p:cNvPr name="TextBox 39" id="39"/>
          <p:cNvSpPr txBox="true"/>
          <p:nvPr/>
        </p:nvSpPr>
        <p:spPr>
          <a:xfrm rot="0">
            <a:off x="9297476" y="3397710"/>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10 mA</a:t>
            </a:r>
          </a:p>
        </p:txBody>
      </p:sp>
      <p:sp>
        <p:nvSpPr>
          <p:cNvPr name="TextBox 40" id="40"/>
          <p:cNvSpPr txBox="true"/>
          <p:nvPr/>
        </p:nvSpPr>
        <p:spPr>
          <a:xfrm rot="0">
            <a:off x="992991" y="3707244"/>
            <a:ext cx="16315868" cy="285064"/>
          </a:xfrm>
          <a:prstGeom prst="rect">
            <a:avLst/>
          </a:prstGeom>
        </p:spPr>
        <p:txBody>
          <a:bodyPr anchor="t" rtlCol="false" tIns="0" lIns="0" bIns="0" rIns="0">
            <a:spAutoFit/>
          </a:bodyPr>
          <a:lstStyle/>
          <a:p>
            <a:pPr algn="l">
              <a:lnSpc>
                <a:spcPts val="2060"/>
              </a:lnSpc>
            </a:pPr>
            <a:r>
              <a:rPr lang="en-US" sz="1651">
                <a:solidFill>
                  <a:srgbClr val="152D47"/>
                </a:solidFill>
                <a:latin typeface="Crimson Pro"/>
                <a:ea typeface="Crimson Pro"/>
                <a:cs typeface="Crimson Pro"/>
                <a:sym typeface="Crimson Pro"/>
              </a:rPr>
              <a:t>Section 1: Design of Zener Bias Resistor (R4)</a:t>
            </a:r>
          </a:p>
        </p:txBody>
      </p:sp>
      <p:sp>
        <p:nvSpPr>
          <p:cNvPr name="TextBox 41" id="41"/>
          <p:cNvSpPr txBox="true"/>
          <p:nvPr/>
        </p:nvSpPr>
        <p:spPr>
          <a:xfrm rot="0">
            <a:off x="992991" y="4108180"/>
            <a:ext cx="16315868" cy="410651"/>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The resistor R4 supplies sufficient current to the Zener diode while maintaining a stable gate reference voltage.</a:t>
            </a:r>
          </a:p>
          <a:p>
            <a:pPr algn="l">
              <a:lnSpc>
                <a:spcPts val="1260"/>
              </a:lnSpc>
            </a:pPr>
            <a:r>
              <a:rPr lang="en-US" sz="1050">
                <a:solidFill>
                  <a:srgbClr val="4C4C4D"/>
                </a:solidFill>
                <a:latin typeface="Heebo"/>
                <a:ea typeface="Heebo"/>
                <a:cs typeface="Heebo"/>
                <a:sym typeface="Heebo"/>
              </a:rPr>
              <a:t>Applying Kirchhoff's Voltage Law:</a:t>
            </a:r>
          </a:p>
        </p:txBody>
      </p:sp>
      <p:grpSp>
        <p:nvGrpSpPr>
          <p:cNvPr name="Group 42" id="42"/>
          <p:cNvGrpSpPr/>
          <p:nvPr/>
        </p:nvGrpSpPr>
        <p:grpSpPr>
          <a:xfrm rot="0">
            <a:off x="992991" y="4598508"/>
            <a:ext cx="16315868" cy="510578"/>
            <a:chOff x="0" y="0"/>
            <a:chExt cx="21754490" cy="680771"/>
          </a:xfrm>
        </p:grpSpPr>
        <p:sp>
          <p:nvSpPr>
            <p:cNvPr name="Freeform 43" id="43"/>
            <p:cNvSpPr/>
            <p:nvPr/>
          </p:nvSpPr>
          <p:spPr>
            <a:xfrm flipH="false" flipV="false" rot="0">
              <a:off x="0" y="0"/>
              <a:ext cx="21754464" cy="680720"/>
            </a:xfrm>
            <a:custGeom>
              <a:avLst/>
              <a:gdLst/>
              <a:ahLst/>
              <a:cxnLst/>
              <a:rect r="r" b="b" t="t" l="l"/>
              <a:pathLst>
                <a:path h="680720" w="21754464">
                  <a:moveTo>
                    <a:pt x="0" y="28321"/>
                  </a:moveTo>
                  <a:cubicBezTo>
                    <a:pt x="0" y="12700"/>
                    <a:pt x="12700" y="0"/>
                    <a:pt x="28321" y="0"/>
                  </a:cubicBezTo>
                  <a:lnTo>
                    <a:pt x="21726144" y="0"/>
                  </a:lnTo>
                  <a:cubicBezTo>
                    <a:pt x="21741764" y="0"/>
                    <a:pt x="21754464" y="12700"/>
                    <a:pt x="21754464" y="28321"/>
                  </a:cubicBezTo>
                  <a:lnTo>
                    <a:pt x="21754464" y="652399"/>
                  </a:lnTo>
                  <a:cubicBezTo>
                    <a:pt x="21754464" y="668020"/>
                    <a:pt x="21741764" y="680720"/>
                    <a:pt x="21726144" y="680720"/>
                  </a:cubicBezTo>
                  <a:lnTo>
                    <a:pt x="28321" y="680720"/>
                  </a:lnTo>
                  <a:cubicBezTo>
                    <a:pt x="12700" y="680720"/>
                    <a:pt x="0" y="668020"/>
                    <a:pt x="0" y="652399"/>
                  </a:cubicBezTo>
                  <a:close/>
                </a:path>
              </a:pathLst>
            </a:custGeom>
            <a:solidFill>
              <a:srgbClr val="F2F2F2"/>
            </a:solidFill>
          </p:spPr>
        </p:sp>
      </p:grpSp>
      <p:sp>
        <p:nvSpPr>
          <p:cNvPr name="TextBox 44" id="44"/>
          <p:cNvSpPr txBox="true"/>
          <p:nvPr/>
        </p:nvSpPr>
        <p:spPr>
          <a:xfrm rot="0">
            <a:off x="1163231" y="4673632"/>
            <a:ext cx="16890482" cy="293665"/>
          </a:xfrm>
          <a:prstGeom prst="rect">
            <a:avLst/>
          </a:prstGeom>
        </p:spPr>
        <p:txBody>
          <a:bodyPr anchor="t" rtlCol="false" tIns="0" lIns="0" bIns="0" rIns="0">
            <a:spAutoFit/>
          </a:bodyPr>
          <a:lstStyle/>
          <a:p>
            <a:pPr algn="l">
              <a:lnSpc>
                <a:spcPts val="1677"/>
              </a:lnSpc>
            </a:pPr>
            <a:r>
              <a:rPr lang="en-US" sz="1050">
                <a:solidFill>
                  <a:srgbClr val="24292E"/>
                </a:solidFill>
                <a:latin typeface="Consolas"/>
                <a:ea typeface="Consolas"/>
                <a:cs typeface="Consolas"/>
                <a:sym typeface="Consolas"/>
              </a:rPr>
              <a:t>VS = IR4·R4 + VZ</a:t>
            </a:r>
          </a:p>
        </p:txBody>
      </p:sp>
      <p:sp>
        <p:nvSpPr>
          <p:cNvPr name="TextBox 45" id="45"/>
          <p:cNvSpPr txBox="true"/>
          <p:nvPr/>
        </p:nvSpPr>
        <p:spPr>
          <a:xfrm rot="0">
            <a:off x="992991" y="5198307"/>
            <a:ext cx="1723095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Therefore:</a:t>
            </a:r>
          </a:p>
        </p:txBody>
      </p:sp>
      <p:grpSp>
        <p:nvGrpSpPr>
          <p:cNvPr name="Group 46" id="46"/>
          <p:cNvGrpSpPr/>
          <p:nvPr/>
        </p:nvGrpSpPr>
        <p:grpSpPr>
          <a:xfrm rot="0">
            <a:off x="992991" y="5438708"/>
            <a:ext cx="16315868" cy="510578"/>
            <a:chOff x="0" y="0"/>
            <a:chExt cx="21754490" cy="680771"/>
          </a:xfrm>
        </p:grpSpPr>
        <p:sp>
          <p:nvSpPr>
            <p:cNvPr name="Freeform 47" id="47"/>
            <p:cNvSpPr/>
            <p:nvPr/>
          </p:nvSpPr>
          <p:spPr>
            <a:xfrm flipH="false" flipV="false" rot="0">
              <a:off x="0" y="0"/>
              <a:ext cx="21754464" cy="680720"/>
            </a:xfrm>
            <a:custGeom>
              <a:avLst/>
              <a:gdLst/>
              <a:ahLst/>
              <a:cxnLst/>
              <a:rect r="r" b="b" t="t" l="l"/>
              <a:pathLst>
                <a:path h="680720" w="21754464">
                  <a:moveTo>
                    <a:pt x="0" y="28321"/>
                  </a:moveTo>
                  <a:cubicBezTo>
                    <a:pt x="0" y="12700"/>
                    <a:pt x="12700" y="0"/>
                    <a:pt x="28321" y="0"/>
                  </a:cubicBezTo>
                  <a:lnTo>
                    <a:pt x="21726144" y="0"/>
                  </a:lnTo>
                  <a:cubicBezTo>
                    <a:pt x="21741764" y="0"/>
                    <a:pt x="21754464" y="12700"/>
                    <a:pt x="21754464" y="28321"/>
                  </a:cubicBezTo>
                  <a:lnTo>
                    <a:pt x="21754464" y="652399"/>
                  </a:lnTo>
                  <a:cubicBezTo>
                    <a:pt x="21754464" y="668020"/>
                    <a:pt x="21741764" y="680720"/>
                    <a:pt x="21726144" y="680720"/>
                  </a:cubicBezTo>
                  <a:lnTo>
                    <a:pt x="28321" y="680720"/>
                  </a:lnTo>
                  <a:cubicBezTo>
                    <a:pt x="12700" y="680720"/>
                    <a:pt x="0" y="668020"/>
                    <a:pt x="0" y="652399"/>
                  </a:cubicBezTo>
                  <a:close/>
                </a:path>
              </a:pathLst>
            </a:custGeom>
            <a:solidFill>
              <a:srgbClr val="F2F2F2"/>
            </a:solidFill>
          </p:spPr>
        </p:sp>
      </p:grpSp>
      <p:sp>
        <p:nvSpPr>
          <p:cNvPr name="TextBox 48" id="48"/>
          <p:cNvSpPr txBox="true"/>
          <p:nvPr/>
        </p:nvSpPr>
        <p:spPr>
          <a:xfrm rot="0">
            <a:off x="1163231" y="5513832"/>
            <a:ext cx="16890482" cy="293665"/>
          </a:xfrm>
          <a:prstGeom prst="rect">
            <a:avLst/>
          </a:prstGeom>
        </p:spPr>
        <p:txBody>
          <a:bodyPr anchor="t" rtlCol="false" tIns="0" lIns="0" bIns="0" rIns="0">
            <a:spAutoFit/>
          </a:bodyPr>
          <a:lstStyle/>
          <a:p>
            <a:pPr algn="l">
              <a:lnSpc>
                <a:spcPts val="1677"/>
              </a:lnSpc>
            </a:pPr>
            <a:r>
              <a:rPr lang="en-US" sz="1050">
                <a:solidFill>
                  <a:srgbClr val="24292E"/>
                </a:solidFill>
                <a:latin typeface="Consolas"/>
                <a:ea typeface="Consolas"/>
                <a:cs typeface="Consolas"/>
                <a:sym typeface="Consolas"/>
              </a:rPr>
              <a:t>R4 = (VS - VZ) / IZ</a:t>
            </a:r>
          </a:p>
        </p:txBody>
      </p:sp>
      <p:sp>
        <p:nvSpPr>
          <p:cNvPr name="TextBox 49" id="49"/>
          <p:cNvSpPr txBox="true"/>
          <p:nvPr/>
        </p:nvSpPr>
        <p:spPr>
          <a:xfrm rot="0">
            <a:off x="992991" y="6038498"/>
            <a:ext cx="1723095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Substituting:</a:t>
            </a:r>
          </a:p>
        </p:txBody>
      </p:sp>
      <p:grpSp>
        <p:nvGrpSpPr>
          <p:cNvPr name="Group 50" id="50"/>
          <p:cNvGrpSpPr/>
          <p:nvPr/>
        </p:nvGrpSpPr>
        <p:grpSpPr>
          <a:xfrm rot="0">
            <a:off x="992991" y="6278909"/>
            <a:ext cx="16315868" cy="737568"/>
            <a:chOff x="0" y="0"/>
            <a:chExt cx="21754490" cy="983424"/>
          </a:xfrm>
        </p:grpSpPr>
        <p:sp>
          <p:nvSpPr>
            <p:cNvPr name="Freeform 51" id="51"/>
            <p:cNvSpPr/>
            <p:nvPr/>
          </p:nvSpPr>
          <p:spPr>
            <a:xfrm flipH="false" flipV="false" rot="0">
              <a:off x="0" y="0"/>
              <a:ext cx="21754464" cy="983362"/>
            </a:xfrm>
            <a:custGeom>
              <a:avLst/>
              <a:gdLst/>
              <a:ahLst/>
              <a:cxnLst/>
              <a:rect r="r" b="b" t="t" l="l"/>
              <a:pathLst>
                <a:path h="983362" w="21754464">
                  <a:moveTo>
                    <a:pt x="0" y="28321"/>
                  </a:moveTo>
                  <a:cubicBezTo>
                    <a:pt x="0" y="12700"/>
                    <a:pt x="12700" y="0"/>
                    <a:pt x="28321" y="0"/>
                  </a:cubicBezTo>
                  <a:lnTo>
                    <a:pt x="21726144" y="0"/>
                  </a:lnTo>
                  <a:cubicBezTo>
                    <a:pt x="21741764" y="0"/>
                    <a:pt x="21754464" y="12700"/>
                    <a:pt x="21754464" y="28321"/>
                  </a:cubicBezTo>
                  <a:lnTo>
                    <a:pt x="21754464" y="955040"/>
                  </a:lnTo>
                  <a:cubicBezTo>
                    <a:pt x="21754464" y="970661"/>
                    <a:pt x="21741764" y="983361"/>
                    <a:pt x="21726144" y="983361"/>
                  </a:cubicBezTo>
                  <a:lnTo>
                    <a:pt x="28321" y="983361"/>
                  </a:lnTo>
                  <a:cubicBezTo>
                    <a:pt x="12700" y="983488"/>
                    <a:pt x="0" y="970788"/>
                    <a:pt x="0" y="955040"/>
                  </a:cubicBezTo>
                  <a:close/>
                </a:path>
              </a:pathLst>
            </a:custGeom>
            <a:solidFill>
              <a:srgbClr val="F2F2F2"/>
            </a:solidFill>
          </p:spPr>
        </p:sp>
      </p:grpSp>
      <p:sp>
        <p:nvSpPr>
          <p:cNvPr name="TextBox 52" id="52"/>
          <p:cNvSpPr txBox="true"/>
          <p:nvPr/>
        </p:nvSpPr>
        <p:spPr>
          <a:xfrm rot="0">
            <a:off x="1163231" y="6354023"/>
            <a:ext cx="15975387" cy="520656"/>
          </a:xfrm>
          <a:prstGeom prst="rect">
            <a:avLst/>
          </a:prstGeom>
        </p:spPr>
        <p:txBody>
          <a:bodyPr anchor="t" rtlCol="false" tIns="0" lIns="0" bIns="0" rIns="0">
            <a:spAutoFit/>
          </a:bodyPr>
          <a:lstStyle/>
          <a:p>
            <a:pPr algn="l">
              <a:lnSpc>
                <a:spcPts val="1677"/>
              </a:lnSpc>
            </a:pPr>
            <a:r>
              <a:rPr lang="en-US" sz="1050">
                <a:solidFill>
                  <a:srgbClr val="24292E"/>
                </a:solidFill>
                <a:latin typeface="Consolas"/>
                <a:ea typeface="Consolas"/>
                <a:cs typeface="Consolas"/>
                <a:sym typeface="Consolas"/>
              </a:rPr>
              <a:t>R4 = (100 - 12) / (5 × 10⁻³)</a:t>
            </a:r>
          </a:p>
          <a:p>
            <a:pPr algn="l">
              <a:lnSpc>
                <a:spcPts val="1677"/>
              </a:lnSpc>
            </a:pPr>
            <a:r>
              <a:rPr lang="en-US" sz="1050">
                <a:solidFill>
                  <a:srgbClr val="24292E"/>
                </a:solidFill>
                <a:latin typeface="Consolas"/>
                <a:ea typeface="Consolas"/>
                <a:cs typeface="Consolas"/>
                <a:sym typeface="Consolas"/>
              </a:rPr>
              <a:t>R4 = 17.6 kΩ</a:t>
            </a:r>
          </a:p>
        </p:txBody>
      </p:sp>
      <p:sp>
        <p:nvSpPr>
          <p:cNvPr name="TextBox 53" id="53"/>
          <p:cNvSpPr txBox="true"/>
          <p:nvPr/>
        </p:nvSpPr>
        <p:spPr>
          <a:xfrm rot="0">
            <a:off x="992991" y="7105688"/>
            <a:ext cx="16315868" cy="1160431"/>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Nearest standard value:       </a:t>
            </a:r>
            <a:r>
              <a:rPr lang="en-US" sz="1050" b="true">
                <a:solidFill>
                  <a:srgbClr val="4C4C4D"/>
                </a:solidFill>
                <a:latin typeface="Heebo Bold"/>
                <a:ea typeface="Heebo Bold"/>
                <a:cs typeface="Heebo Bold"/>
                <a:sym typeface="Heebo Bold"/>
              </a:rPr>
              <a:t>R4 = 18 kΩ</a:t>
            </a:r>
            <a:r>
              <a:rPr lang="en-US" sz="1050">
                <a:solidFill>
                  <a:srgbClr val="4C4C4D"/>
                </a:solidFill>
                <a:latin typeface="Heebo"/>
                <a:ea typeface="Heebo"/>
                <a:cs typeface="Heebo"/>
                <a:sym typeface="Heebo"/>
              </a:rPr>
              <a:t>     </a:t>
            </a:r>
          </a:p>
          <a:p>
            <a:pPr algn="l">
              <a:lnSpc>
                <a:spcPts val="1260"/>
              </a:lnSpc>
            </a:pPr>
            <a:r>
              <a:rPr lang="en-US" sz="1050">
                <a:solidFill>
                  <a:srgbClr val="4C4C4D"/>
                </a:solidFill>
                <a:latin typeface="Heebo"/>
                <a:ea typeface="Heebo"/>
                <a:cs typeface="Heebo"/>
                <a:sym typeface="Heebo"/>
              </a:rPr>
              <a:t>Power Dissipation:</a:t>
            </a:r>
          </a:p>
          <a:p>
            <a:pPr algn="l">
              <a:lnSpc>
                <a:spcPts val="1260"/>
              </a:lnSpc>
            </a:pPr>
            <a:r>
              <a:rPr lang="en-US" sz="1050">
                <a:solidFill>
                  <a:srgbClr val="4C4C4D"/>
                </a:solidFill>
                <a:latin typeface="Heebo"/>
                <a:ea typeface="Heebo"/>
                <a:cs typeface="Heebo"/>
                <a:sym typeface="Heebo"/>
              </a:rPr>
              <a:t>Voltage across R4: VR4 = 88 V</a:t>
            </a:r>
          </a:p>
          <a:p>
            <a:pPr algn="l">
              <a:lnSpc>
                <a:spcPts val="1260"/>
              </a:lnSpc>
            </a:pPr>
            <a:r>
              <a:rPr lang="en-US" sz="1050">
                <a:solidFill>
                  <a:srgbClr val="4C4C4D"/>
                </a:solidFill>
                <a:latin typeface="Heebo"/>
                <a:ea typeface="Heebo"/>
                <a:cs typeface="Heebo"/>
                <a:sym typeface="Heebo"/>
              </a:rPr>
              <a:t>Power: P = 88² / 18k = 0.43 W</a:t>
            </a:r>
          </a:p>
          <a:p>
            <a:pPr algn="l">
              <a:lnSpc>
                <a:spcPts val="1260"/>
              </a:lnSpc>
            </a:pPr>
            <a:r>
              <a:rPr lang="en-US" sz="1050">
                <a:solidFill>
                  <a:srgbClr val="4C4C4D"/>
                </a:solidFill>
                <a:latin typeface="Heebo"/>
                <a:ea typeface="Heebo"/>
                <a:cs typeface="Heebo"/>
                <a:sym typeface="Heebo"/>
              </a:rPr>
              <a:t>       </a:t>
            </a:r>
            <a:r>
              <a:rPr lang="en-US" sz="1050" b="true">
                <a:solidFill>
                  <a:srgbClr val="4C4C4D"/>
                </a:solidFill>
                <a:latin typeface="Heebo Bold"/>
                <a:ea typeface="Heebo Bold"/>
                <a:cs typeface="Heebo Bold"/>
                <a:sym typeface="Heebo Bold"/>
              </a:rPr>
              <a:t>Choose a 1 W resistor</a:t>
            </a:r>
            <a:r>
              <a:rPr lang="en-US" sz="1050">
                <a:solidFill>
                  <a:srgbClr val="4C4C4D"/>
                </a:solidFill>
                <a:latin typeface="Heebo"/>
                <a:ea typeface="Heebo"/>
                <a:cs typeface="Heebo"/>
                <a:sym typeface="Heebo"/>
              </a:rPr>
              <a:t>     </a:t>
            </a:r>
          </a:p>
        </p:txBody>
      </p:sp>
      <p:sp>
        <p:nvSpPr>
          <p:cNvPr name="TextBox 54" id="54"/>
          <p:cNvSpPr txBox="true"/>
          <p:nvPr/>
        </p:nvSpPr>
        <p:spPr>
          <a:xfrm rot="0">
            <a:off x="992991" y="8353415"/>
            <a:ext cx="16315868" cy="285064"/>
          </a:xfrm>
          <a:prstGeom prst="rect">
            <a:avLst/>
          </a:prstGeom>
        </p:spPr>
        <p:txBody>
          <a:bodyPr anchor="t" rtlCol="false" tIns="0" lIns="0" bIns="0" rIns="0">
            <a:spAutoFit/>
          </a:bodyPr>
          <a:lstStyle/>
          <a:p>
            <a:pPr algn="l">
              <a:lnSpc>
                <a:spcPts val="2060"/>
              </a:lnSpc>
            </a:pPr>
            <a:r>
              <a:rPr lang="en-US" sz="1651">
                <a:solidFill>
                  <a:srgbClr val="152D47"/>
                </a:solidFill>
                <a:latin typeface="Crimson Pro"/>
                <a:ea typeface="Crimson Pro"/>
                <a:cs typeface="Crimson Pro"/>
                <a:sym typeface="Crimson Pro"/>
              </a:rPr>
              <a:t>Section 2: Design of Collector Resistor (R5)</a:t>
            </a:r>
          </a:p>
        </p:txBody>
      </p:sp>
      <p:sp>
        <p:nvSpPr>
          <p:cNvPr name="TextBox 55" id="55"/>
          <p:cNvSpPr txBox="true"/>
          <p:nvPr/>
        </p:nvSpPr>
        <p:spPr>
          <a:xfrm rot="0">
            <a:off x="992991" y="8754351"/>
            <a:ext cx="16315868" cy="410651"/>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The collector resistor limits the collector current of the optocoupler transistor while providing sufficient gate drive current for the PMOS.</a:t>
            </a:r>
          </a:p>
          <a:p>
            <a:pPr algn="l">
              <a:lnSpc>
                <a:spcPts val="1260"/>
              </a:lnSpc>
            </a:pPr>
            <a:r>
              <a:rPr lang="en-US" sz="1050">
                <a:solidFill>
                  <a:srgbClr val="4C4C4D"/>
                </a:solidFill>
                <a:latin typeface="Heebo"/>
                <a:ea typeface="Heebo"/>
                <a:cs typeface="Heebo"/>
                <a:sym typeface="Heebo"/>
              </a:rPr>
              <a:t>Applying KVL:</a:t>
            </a:r>
          </a:p>
        </p:txBody>
      </p:sp>
      <p:grpSp>
        <p:nvGrpSpPr>
          <p:cNvPr name="Group 56" id="56"/>
          <p:cNvGrpSpPr/>
          <p:nvPr/>
        </p:nvGrpSpPr>
        <p:grpSpPr>
          <a:xfrm rot="0">
            <a:off x="992991" y="9244689"/>
            <a:ext cx="16315868" cy="510578"/>
            <a:chOff x="0" y="0"/>
            <a:chExt cx="21754490" cy="680771"/>
          </a:xfrm>
        </p:grpSpPr>
        <p:sp>
          <p:nvSpPr>
            <p:cNvPr name="Freeform 57" id="57"/>
            <p:cNvSpPr/>
            <p:nvPr/>
          </p:nvSpPr>
          <p:spPr>
            <a:xfrm flipH="false" flipV="false" rot="0">
              <a:off x="0" y="0"/>
              <a:ext cx="21754464" cy="680720"/>
            </a:xfrm>
            <a:custGeom>
              <a:avLst/>
              <a:gdLst/>
              <a:ahLst/>
              <a:cxnLst/>
              <a:rect r="r" b="b" t="t" l="l"/>
              <a:pathLst>
                <a:path h="680720" w="21754464">
                  <a:moveTo>
                    <a:pt x="0" y="28321"/>
                  </a:moveTo>
                  <a:cubicBezTo>
                    <a:pt x="0" y="12700"/>
                    <a:pt x="12700" y="0"/>
                    <a:pt x="28321" y="0"/>
                  </a:cubicBezTo>
                  <a:lnTo>
                    <a:pt x="21726144" y="0"/>
                  </a:lnTo>
                  <a:cubicBezTo>
                    <a:pt x="21741764" y="0"/>
                    <a:pt x="21754464" y="12700"/>
                    <a:pt x="21754464" y="28321"/>
                  </a:cubicBezTo>
                  <a:lnTo>
                    <a:pt x="21754464" y="652399"/>
                  </a:lnTo>
                  <a:cubicBezTo>
                    <a:pt x="21754464" y="668020"/>
                    <a:pt x="21741764" y="680720"/>
                    <a:pt x="21726144" y="680720"/>
                  </a:cubicBezTo>
                  <a:lnTo>
                    <a:pt x="28321" y="680720"/>
                  </a:lnTo>
                  <a:cubicBezTo>
                    <a:pt x="12700" y="680720"/>
                    <a:pt x="0" y="668020"/>
                    <a:pt x="0" y="652399"/>
                  </a:cubicBezTo>
                  <a:close/>
                </a:path>
              </a:pathLst>
            </a:custGeom>
            <a:solidFill>
              <a:srgbClr val="F2F2F2"/>
            </a:solidFill>
          </p:spPr>
        </p:sp>
      </p:grpSp>
      <p:sp>
        <p:nvSpPr>
          <p:cNvPr name="TextBox 58" id="58"/>
          <p:cNvSpPr txBox="true"/>
          <p:nvPr/>
        </p:nvSpPr>
        <p:spPr>
          <a:xfrm rot="0">
            <a:off x="1163231" y="9319803"/>
            <a:ext cx="16890482" cy="293665"/>
          </a:xfrm>
          <a:prstGeom prst="rect">
            <a:avLst/>
          </a:prstGeom>
        </p:spPr>
        <p:txBody>
          <a:bodyPr anchor="t" rtlCol="false" tIns="0" lIns="0" bIns="0" rIns="0">
            <a:spAutoFit/>
          </a:bodyPr>
          <a:lstStyle/>
          <a:p>
            <a:pPr algn="l">
              <a:lnSpc>
                <a:spcPts val="1677"/>
              </a:lnSpc>
            </a:pPr>
            <a:r>
              <a:rPr lang="en-US" sz="1050">
                <a:solidFill>
                  <a:srgbClr val="24292E"/>
                </a:solidFill>
                <a:latin typeface="Consolas"/>
                <a:ea typeface="Consolas"/>
                <a:cs typeface="Consolas"/>
                <a:sym typeface="Consolas"/>
              </a:rPr>
              <a:t>VZ = IC·R5 + VCE(sat)</a:t>
            </a:r>
          </a:p>
        </p:txBody>
      </p:sp>
      <p:sp>
        <p:nvSpPr>
          <p:cNvPr name="TextBox 59" id="59"/>
          <p:cNvSpPr txBox="true"/>
          <p:nvPr/>
        </p:nvSpPr>
        <p:spPr>
          <a:xfrm rot="0">
            <a:off x="992991" y="9844478"/>
            <a:ext cx="1723095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Therefore:</a:t>
            </a:r>
          </a:p>
        </p:txBody>
      </p:sp>
      <p:grpSp>
        <p:nvGrpSpPr>
          <p:cNvPr name="Group 60" id="60"/>
          <p:cNvGrpSpPr/>
          <p:nvPr/>
        </p:nvGrpSpPr>
        <p:grpSpPr>
          <a:xfrm rot="0">
            <a:off x="992991" y="10084880"/>
            <a:ext cx="16315868" cy="510578"/>
            <a:chOff x="0" y="0"/>
            <a:chExt cx="21754490" cy="680771"/>
          </a:xfrm>
        </p:grpSpPr>
        <p:sp>
          <p:nvSpPr>
            <p:cNvPr name="Freeform 61" id="61"/>
            <p:cNvSpPr/>
            <p:nvPr/>
          </p:nvSpPr>
          <p:spPr>
            <a:xfrm flipH="false" flipV="false" rot="0">
              <a:off x="0" y="0"/>
              <a:ext cx="21754464" cy="680720"/>
            </a:xfrm>
            <a:custGeom>
              <a:avLst/>
              <a:gdLst/>
              <a:ahLst/>
              <a:cxnLst/>
              <a:rect r="r" b="b" t="t" l="l"/>
              <a:pathLst>
                <a:path h="680720" w="21754464">
                  <a:moveTo>
                    <a:pt x="0" y="28321"/>
                  </a:moveTo>
                  <a:cubicBezTo>
                    <a:pt x="0" y="12700"/>
                    <a:pt x="12700" y="0"/>
                    <a:pt x="28321" y="0"/>
                  </a:cubicBezTo>
                  <a:lnTo>
                    <a:pt x="21726144" y="0"/>
                  </a:lnTo>
                  <a:cubicBezTo>
                    <a:pt x="21741764" y="0"/>
                    <a:pt x="21754464" y="12700"/>
                    <a:pt x="21754464" y="28321"/>
                  </a:cubicBezTo>
                  <a:lnTo>
                    <a:pt x="21754464" y="652399"/>
                  </a:lnTo>
                  <a:cubicBezTo>
                    <a:pt x="21754464" y="668020"/>
                    <a:pt x="21741764" y="680720"/>
                    <a:pt x="21726144" y="680720"/>
                  </a:cubicBezTo>
                  <a:lnTo>
                    <a:pt x="28321" y="680720"/>
                  </a:lnTo>
                  <a:cubicBezTo>
                    <a:pt x="12700" y="680720"/>
                    <a:pt x="0" y="668020"/>
                    <a:pt x="0" y="652399"/>
                  </a:cubicBezTo>
                  <a:close/>
                </a:path>
              </a:pathLst>
            </a:custGeom>
            <a:solidFill>
              <a:srgbClr val="F2F2F2"/>
            </a:solidFill>
          </p:spPr>
        </p:sp>
      </p:grpSp>
      <p:sp>
        <p:nvSpPr>
          <p:cNvPr name="TextBox 62" id="62"/>
          <p:cNvSpPr txBox="true"/>
          <p:nvPr/>
        </p:nvSpPr>
        <p:spPr>
          <a:xfrm rot="0">
            <a:off x="1163231" y="10160003"/>
            <a:ext cx="16890482" cy="293665"/>
          </a:xfrm>
          <a:prstGeom prst="rect">
            <a:avLst/>
          </a:prstGeom>
        </p:spPr>
        <p:txBody>
          <a:bodyPr anchor="t" rtlCol="false" tIns="0" lIns="0" bIns="0" rIns="0">
            <a:spAutoFit/>
          </a:bodyPr>
          <a:lstStyle/>
          <a:p>
            <a:pPr algn="l">
              <a:lnSpc>
                <a:spcPts val="1677"/>
              </a:lnSpc>
            </a:pPr>
            <a:r>
              <a:rPr lang="en-US" sz="1050">
                <a:solidFill>
                  <a:srgbClr val="22863A"/>
                </a:solidFill>
                <a:latin typeface="Consolas"/>
                <a:ea typeface="Consolas"/>
                <a:cs typeface="Consolas"/>
                <a:sym typeface="Consolas"/>
              </a:rPr>
              <a:t>R5 = (VZ - VCE(sat)) / IC</a:t>
            </a:r>
          </a:p>
        </p:txBody>
      </p:sp>
      <p:sp>
        <p:nvSpPr>
          <p:cNvPr name="TextBox 63" id="63"/>
          <p:cNvSpPr txBox="true"/>
          <p:nvPr/>
        </p:nvSpPr>
        <p:spPr>
          <a:xfrm rot="0">
            <a:off x="992991" y="10684678"/>
            <a:ext cx="1723095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Assume:</a:t>
            </a:r>
          </a:p>
        </p:txBody>
      </p:sp>
      <p:sp>
        <p:nvSpPr>
          <p:cNvPr name="TextBox 64" id="64"/>
          <p:cNvSpPr txBox="true"/>
          <p:nvPr/>
        </p:nvSpPr>
        <p:spPr>
          <a:xfrm rot="0">
            <a:off x="992991" y="10934605"/>
            <a:ext cx="16315868" cy="355683"/>
          </a:xfrm>
          <a:prstGeom prst="rect">
            <a:avLst/>
          </a:prstGeom>
        </p:spPr>
        <p:txBody>
          <a:bodyPr anchor="t" rtlCol="false" tIns="0" lIns="0" bIns="0" rIns="0">
            <a:spAutoFit/>
          </a:bodyPr>
          <a:lstStyle/>
          <a:p>
            <a:pPr algn="l" marL="190321" indent="-95161" lvl="1">
              <a:lnSpc>
                <a:spcPts val="1260"/>
              </a:lnSpc>
              <a:buFont typeface="Arial"/>
              <a:buChar char="•"/>
            </a:pPr>
            <a:r>
              <a:rPr lang="en-US" sz="1050">
                <a:solidFill>
                  <a:srgbClr val="4C4C4D"/>
                </a:solidFill>
                <a:latin typeface="Heebo"/>
                <a:ea typeface="Heebo"/>
                <a:cs typeface="Heebo"/>
                <a:sym typeface="Heebo"/>
              </a:rPr>
              <a:t>Collector current: IC = 10 mA</a:t>
            </a:r>
          </a:p>
          <a:p>
            <a:pPr algn="l" marL="190321" indent="-95161" lvl="1">
              <a:lnSpc>
                <a:spcPts val="1260"/>
              </a:lnSpc>
              <a:buFont typeface="Arial"/>
              <a:buChar char="•"/>
            </a:pPr>
            <a:r>
              <a:rPr lang="en-US" sz="1050">
                <a:solidFill>
                  <a:srgbClr val="4C4C4D"/>
                </a:solidFill>
                <a:latin typeface="Heebo"/>
                <a:ea typeface="Heebo"/>
                <a:cs typeface="Heebo"/>
                <a:sym typeface="Heebo"/>
              </a:rPr>
              <a:t>Saturation voltage: VCE(sat) = 0.2 V</a:t>
            </a:r>
          </a:p>
        </p:txBody>
      </p:sp>
      <p:sp>
        <p:nvSpPr>
          <p:cNvPr name="TextBox 65" id="65"/>
          <p:cNvSpPr txBox="true"/>
          <p:nvPr/>
        </p:nvSpPr>
        <p:spPr>
          <a:xfrm rot="0">
            <a:off x="992991" y="11379498"/>
            <a:ext cx="1723095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Substituting:</a:t>
            </a:r>
          </a:p>
        </p:txBody>
      </p:sp>
      <p:grpSp>
        <p:nvGrpSpPr>
          <p:cNvPr name="Group 66" id="66"/>
          <p:cNvGrpSpPr/>
          <p:nvPr/>
        </p:nvGrpSpPr>
        <p:grpSpPr>
          <a:xfrm rot="0">
            <a:off x="992991" y="11619900"/>
            <a:ext cx="16315868" cy="737568"/>
            <a:chOff x="0" y="0"/>
            <a:chExt cx="21754490" cy="983424"/>
          </a:xfrm>
        </p:grpSpPr>
        <p:sp>
          <p:nvSpPr>
            <p:cNvPr name="Freeform 67" id="67"/>
            <p:cNvSpPr/>
            <p:nvPr/>
          </p:nvSpPr>
          <p:spPr>
            <a:xfrm flipH="false" flipV="false" rot="0">
              <a:off x="0" y="0"/>
              <a:ext cx="21754464" cy="983362"/>
            </a:xfrm>
            <a:custGeom>
              <a:avLst/>
              <a:gdLst/>
              <a:ahLst/>
              <a:cxnLst/>
              <a:rect r="r" b="b" t="t" l="l"/>
              <a:pathLst>
                <a:path h="983362" w="21754464">
                  <a:moveTo>
                    <a:pt x="0" y="28321"/>
                  </a:moveTo>
                  <a:cubicBezTo>
                    <a:pt x="0" y="12700"/>
                    <a:pt x="12700" y="0"/>
                    <a:pt x="28321" y="0"/>
                  </a:cubicBezTo>
                  <a:lnTo>
                    <a:pt x="21726144" y="0"/>
                  </a:lnTo>
                  <a:cubicBezTo>
                    <a:pt x="21741764" y="0"/>
                    <a:pt x="21754464" y="12700"/>
                    <a:pt x="21754464" y="28321"/>
                  </a:cubicBezTo>
                  <a:lnTo>
                    <a:pt x="21754464" y="955040"/>
                  </a:lnTo>
                  <a:cubicBezTo>
                    <a:pt x="21754464" y="970661"/>
                    <a:pt x="21741764" y="983361"/>
                    <a:pt x="21726144" y="983361"/>
                  </a:cubicBezTo>
                  <a:lnTo>
                    <a:pt x="28321" y="983361"/>
                  </a:lnTo>
                  <a:cubicBezTo>
                    <a:pt x="12700" y="983488"/>
                    <a:pt x="0" y="970788"/>
                    <a:pt x="0" y="955040"/>
                  </a:cubicBezTo>
                  <a:close/>
                </a:path>
              </a:pathLst>
            </a:custGeom>
            <a:solidFill>
              <a:srgbClr val="F2F2F2"/>
            </a:solidFill>
          </p:spPr>
        </p:sp>
      </p:grpSp>
      <p:sp>
        <p:nvSpPr>
          <p:cNvPr name="TextBox 68" id="68"/>
          <p:cNvSpPr txBox="true"/>
          <p:nvPr/>
        </p:nvSpPr>
        <p:spPr>
          <a:xfrm rot="0">
            <a:off x="1163231" y="11695024"/>
            <a:ext cx="15975387" cy="520656"/>
          </a:xfrm>
          <a:prstGeom prst="rect">
            <a:avLst/>
          </a:prstGeom>
        </p:spPr>
        <p:txBody>
          <a:bodyPr anchor="t" rtlCol="false" tIns="0" lIns="0" bIns="0" rIns="0">
            <a:spAutoFit/>
          </a:bodyPr>
          <a:lstStyle/>
          <a:p>
            <a:pPr algn="l">
              <a:lnSpc>
                <a:spcPts val="1677"/>
              </a:lnSpc>
            </a:pPr>
            <a:r>
              <a:rPr lang="en-US" sz="1050">
                <a:solidFill>
                  <a:srgbClr val="24292E"/>
                </a:solidFill>
                <a:latin typeface="Consolas"/>
                <a:ea typeface="Consolas"/>
                <a:cs typeface="Consolas"/>
                <a:sym typeface="Consolas"/>
              </a:rPr>
              <a:t>R5 = (12 - 0.2) / 10 mA</a:t>
            </a:r>
          </a:p>
          <a:p>
            <a:pPr algn="l">
              <a:lnSpc>
                <a:spcPts val="1677"/>
              </a:lnSpc>
            </a:pPr>
            <a:r>
              <a:rPr lang="en-US" sz="1050">
                <a:solidFill>
                  <a:srgbClr val="24292E"/>
                </a:solidFill>
                <a:latin typeface="Consolas"/>
                <a:ea typeface="Consolas"/>
                <a:cs typeface="Consolas"/>
                <a:sym typeface="Consolas"/>
              </a:rPr>
              <a:t>R5 = 1.18 kΩ</a:t>
            </a:r>
          </a:p>
        </p:txBody>
      </p:sp>
      <p:sp>
        <p:nvSpPr>
          <p:cNvPr name="TextBox 69" id="69"/>
          <p:cNvSpPr txBox="true"/>
          <p:nvPr/>
        </p:nvSpPr>
        <p:spPr>
          <a:xfrm rot="0">
            <a:off x="992991" y="12446689"/>
            <a:ext cx="16315868" cy="410651"/>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Nearest standard value:       </a:t>
            </a:r>
            <a:r>
              <a:rPr lang="en-US" sz="1050" b="true">
                <a:solidFill>
                  <a:srgbClr val="4C4C4D"/>
                </a:solidFill>
                <a:latin typeface="Heebo Bold"/>
                <a:ea typeface="Heebo Bold"/>
                <a:cs typeface="Heebo Bold"/>
                <a:sym typeface="Heebo Bold"/>
              </a:rPr>
              <a:t>R5 = 1 kΩ</a:t>
            </a:r>
            <a:r>
              <a:rPr lang="en-US" sz="1050">
                <a:solidFill>
                  <a:srgbClr val="4C4C4D"/>
                </a:solidFill>
                <a:latin typeface="Heebo"/>
                <a:ea typeface="Heebo"/>
                <a:cs typeface="Heebo"/>
                <a:sym typeface="Heebo"/>
              </a:rPr>
              <a:t>     </a:t>
            </a:r>
          </a:p>
          <a:p>
            <a:pPr algn="l">
              <a:lnSpc>
                <a:spcPts val="1260"/>
              </a:lnSpc>
            </a:pPr>
            <a:r>
              <a:rPr lang="en-US" sz="1050">
                <a:solidFill>
                  <a:srgbClr val="4C4C4D"/>
                </a:solidFill>
                <a:latin typeface="Heebo"/>
                <a:ea typeface="Heebo"/>
                <a:cs typeface="Heebo"/>
                <a:sym typeface="Heebo"/>
              </a:rPr>
              <a:t>Power:</a:t>
            </a:r>
          </a:p>
        </p:txBody>
      </p:sp>
      <p:grpSp>
        <p:nvGrpSpPr>
          <p:cNvPr name="Group 70" id="70"/>
          <p:cNvGrpSpPr/>
          <p:nvPr/>
        </p:nvGrpSpPr>
        <p:grpSpPr>
          <a:xfrm rot="0">
            <a:off x="992991" y="12937017"/>
            <a:ext cx="16315868" cy="510578"/>
            <a:chOff x="0" y="0"/>
            <a:chExt cx="21754490" cy="680771"/>
          </a:xfrm>
        </p:grpSpPr>
        <p:sp>
          <p:nvSpPr>
            <p:cNvPr name="Freeform 71" id="71"/>
            <p:cNvSpPr/>
            <p:nvPr/>
          </p:nvSpPr>
          <p:spPr>
            <a:xfrm flipH="false" flipV="false" rot="0">
              <a:off x="0" y="0"/>
              <a:ext cx="21754464" cy="680720"/>
            </a:xfrm>
            <a:custGeom>
              <a:avLst/>
              <a:gdLst/>
              <a:ahLst/>
              <a:cxnLst/>
              <a:rect r="r" b="b" t="t" l="l"/>
              <a:pathLst>
                <a:path h="680720" w="21754464">
                  <a:moveTo>
                    <a:pt x="0" y="28321"/>
                  </a:moveTo>
                  <a:cubicBezTo>
                    <a:pt x="0" y="12700"/>
                    <a:pt x="12700" y="0"/>
                    <a:pt x="28321" y="0"/>
                  </a:cubicBezTo>
                  <a:lnTo>
                    <a:pt x="21726144" y="0"/>
                  </a:lnTo>
                  <a:cubicBezTo>
                    <a:pt x="21741764" y="0"/>
                    <a:pt x="21754464" y="12700"/>
                    <a:pt x="21754464" y="28321"/>
                  </a:cubicBezTo>
                  <a:lnTo>
                    <a:pt x="21754464" y="652399"/>
                  </a:lnTo>
                  <a:cubicBezTo>
                    <a:pt x="21754464" y="668020"/>
                    <a:pt x="21741764" y="680720"/>
                    <a:pt x="21726144" y="680720"/>
                  </a:cubicBezTo>
                  <a:lnTo>
                    <a:pt x="28321" y="680720"/>
                  </a:lnTo>
                  <a:cubicBezTo>
                    <a:pt x="12700" y="680720"/>
                    <a:pt x="0" y="668020"/>
                    <a:pt x="0" y="652399"/>
                  </a:cubicBezTo>
                  <a:close/>
                </a:path>
              </a:pathLst>
            </a:custGeom>
            <a:solidFill>
              <a:srgbClr val="F2F2F2"/>
            </a:solidFill>
          </p:spPr>
        </p:sp>
      </p:grpSp>
      <p:sp>
        <p:nvSpPr>
          <p:cNvPr name="TextBox 72" id="72"/>
          <p:cNvSpPr txBox="true"/>
          <p:nvPr/>
        </p:nvSpPr>
        <p:spPr>
          <a:xfrm rot="0">
            <a:off x="1163231" y="13012141"/>
            <a:ext cx="16890482" cy="293665"/>
          </a:xfrm>
          <a:prstGeom prst="rect">
            <a:avLst/>
          </a:prstGeom>
        </p:spPr>
        <p:txBody>
          <a:bodyPr anchor="t" rtlCol="false" tIns="0" lIns="0" bIns="0" rIns="0">
            <a:spAutoFit/>
          </a:bodyPr>
          <a:lstStyle/>
          <a:p>
            <a:pPr algn="l">
              <a:lnSpc>
                <a:spcPts val="1677"/>
              </a:lnSpc>
            </a:pPr>
            <a:r>
              <a:rPr lang="en-US" sz="1050">
                <a:solidFill>
                  <a:srgbClr val="22863A"/>
                </a:solidFill>
                <a:latin typeface="Consolas"/>
                <a:ea typeface="Consolas"/>
                <a:cs typeface="Consolas"/>
                <a:sym typeface="Consolas"/>
              </a:rPr>
              <a:t>P = 11.8² / 1000 = 0.139 W</a:t>
            </a:r>
          </a:p>
        </p:txBody>
      </p:sp>
      <p:sp>
        <p:nvSpPr>
          <p:cNvPr name="TextBox 73" id="73"/>
          <p:cNvSpPr txBox="true"/>
          <p:nvPr/>
        </p:nvSpPr>
        <p:spPr>
          <a:xfrm rot="0">
            <a:off x="992991" y="13536816"/>
            <a:ext cx="1723095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       </a:t>
            </a:r>
            <a:r>
              <a:rPr lang="en-US" sz="1050" b="true">
                <a:solidFill>
                  <a:srgbClr val="4C4C4D"/>
                </a:solidFill>
                <a:latin typeface="Heebo Bold"/>
                <a:ea typeface="Heebo Bold"/>
                <a:cs typeface="Heebo Bold"/>
                <a:sym typeface="Heebo Bold"/>
              </a:rPr>
              <a:t>Select a 0.25 W resistor</a:t>
            </a:r>
            <a:r>
              <a:rPr lang="en-US" sz="1050">
                <a:solidFill>
                  <a:srgbClr val="4C4C4D"/>
                </a:solidFill>
                <a:latin typeface="Heebo"/>
                <a:ea typeface="Heebo"/>
                <a:cs typeface="Heebo"/>
                <a:sym typeface="Heebo"/>
              </a:rPr>
              <a:t>     </a:t>
            </a:r>
          </a:p>
        </p:txBody>
      </p:sp>
      <p:sp>
        <p:nvSpPr>
          <p:cNvPr name="TextBox 74" id="74"/>
          <p:cNvSpPr txBox="true"/>
          <p:nvPr/>
        </p:nvSpPr>
        <p:spPr>
          <a:xfrm rot="0">
            <a:off x="992991" y="13784828"/>
            <a:ext cx="16315868" cy="285064"/>
          </a:xfrm>
          <a:prstGeom prst="rect">
            <a:avLst/>
          </a:prstGeom>
        </p:spPr>
        <p:txBody>
          <a:bodyPr anchor="t" rtlCol="false" tIns="0" lIns="0" bIns="0" rIns="0">
            <a:spAutoFit/>
          </a:bodyPr>
          <a:lstStyle/>
          <a:p>
            <a:pPr algn="l">
              <a:lnSpc>
                <a:spcPts val="2060"/>
              </a:lnSpc>
            </a:pPr>
            <a:r>
              <a:rPr lang="en-US" sz="1651">
                <a:solidFill>
                  <a:srgbClr val="152D47"/>
                </a:solidFill>
                <a:latin typeface="Crimson Pro"/>
                <a:ea typeface="Crimson Pro"/>
                <a:cs typeface="Crimson Pro"/>
                <a:sym typeface="Crimson Pro"/>
              </a:rPr>
              <a:t>Section 3: Optocoupler LED Resistor</a:t>
            </a:r>
          </a:p>
        </p:txBody>
      </p:sp>
      <p:sp>
        <p:nvSpPr>
          <p:cNvPr name="TextBox 75" id="75"/>
          <p:cNvSpPr txBox="true"/>
          <p:nvPr/>
        </p:nvSpPr>
        <p:spPr>
          <a:xfrm rot="0">
            <a:off x="992991" y="14185763"/>
            <a:ext cx="16315868" cy="410651"/>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To safely drive the LED inside the PC817:</a:t>
            </a:r>
          </a:p>
          <a:p>
            <a:pPr algn="l">
              <a:lnSpc>
                <a:spcPts val="1260"/>
              </a:lnSpc>
            </a:pPr>
            <a:r>
              <a:rPr lang="en-US" sz="1050">
                <a:solidFill>
                  <a:srgbClr val="4C4C4D"/>
                </a:solidFill>
                <a:latin typeface="Heebo"/>
                <a:ea typeface="Heebo"/>
                <a:cs typeface="Heebo"/>
                <a:sym typeface="Heebo"/>
              </a:rPr>
              <a:t>Applying Ohm's Law:</a:t>
            </a:r>
          </a:p>
        </p:txBody>
      </p:sp>
      <p:grpSp>
        <p:nvGrpSpPr>
          <p:cNvPr name="Group 76" id="76"/>
          <p:cNvGrpSpPr/>
          <p:nvPr/>
        </p:nvGrpSpPr>
        <p:grpSpPr>
          <a:xfrm rot="0">
            <a:off x="992991" y="14676091"/>
            <a:ext cx="16315868" cy="510578"/>
            <a:chOff x="0" y="0"/>
            <a:chExt cx="21754490" cy="680771"/>
          </a:xfrm>
        </p:grpSpPr>
        <p:sp>
          <p:nvSpPr>
            <p:cNvPr name="Freeform 77" id="77"/>
            <p:cNvSpPr/>
            <p:nvPr/>
          </p:nvSpPr>
          <p:spPr>
            <a:xfrm flipH="false" flipV="false" rot="0">
              <a:off x="0" y="0"/>
              <a:ext cx="21754464" cy="680720"/>
            </a:xfrm>
            <a:custGeom>
              <a:avLst/>
              <a:gdLst/>
              <a:ahLst/>
              <a:cxnLst/>
              <a:rect r="r" b="b" t="t" l="l"/>
              <a:pathLst>
                <a:path h="680720" w="21754464">
                  <a:moveTo>
                    <a:pt x="0" y="28321"/>
                  </a:moveTo>
                  <a:cubicBezTo>
                    <a:pt x="0" y="12700"/>
                    <a:pt x="12700" y="0"/>
                    <a:pt x="28321" y="0"/>
                  </a:cubicBezTo>
                  <a:lnTo>
                    <a:pt x="21726144" y="0"/>
                  </a:lnTo>
                  <a:cubicBezTo>
                    <a:pt x="21741764" y="0"/>
                    <a:pt x="21754464" y="12700"/>
                    <a:pt x="21754464" y="28321"/>
                  </a:cubicBezTo>
                  <a:lnTo>
                    <a:pt x="21754464" y="652399"/>
                  </a:lnTo>
                  <a:cubicBezTo>
                    <a:pt x="21754464" y="668020"/>
                    <a:pt x="21741764" y="680720"/>
                    <a:pt x="21726144" y="680720"/>
                  </a:cubicBezTo>
                  <a:lnTo>
                    <a:pt x="28321" y="680720"/>
                  </a:lnTo>
                  <a:cubicBezTo>
                    <a:pt x="12700" y="680720"/>
                    <a:pt x="0" y="668020"/>
                    <a:pt x="0" y="652399"/>
                  </a:cubicBezTo>
                  <a:close/>
                </a:path>
              </a:pathLst>
            </a:custGeom>
            <a:solidFill>
              <a:srgbClr val="F2F2F2"/>
            </a:solidFill>
          </p:spPr>
        </p:sp>
      </p:grpSp>
      <p:sp>
        <p:nvSpPr>
          <p:cNvPr name="TextBox 78" id="78"/>
          <p:cNvSpPr txBox="true"/>
          <p:nvPr/>
        </p:nvSpPr>
        <p:spPr>
          <a:xfrm rot="0">
            <a:off x="1163231" y="14751215"/>
            <a:ext cx="16890482" cy="293665"/>
          </a:xfrm>
          <a:prstGeom prst="rect">
            <a:avLst/>
          </a:prstGeom>
        </p:spPr>
        <p:txBody>
          <a:bodyPr anchor="t" rtlCol="false" tIns="0" lIns="0" bIns="0" rIns="0">
            <a:spAutoFit/>
          </a:bodyPr>
          <a:lstStyle/>
          <a:p>
            <a:pPr algn="l">
              <a:lnSpc>
                <a:spcPts val="1677"/>
              </a:lnSpc>
            </a:pPr>
            <a:r>
              <a:rPr lang="en-US" sz="1050">
                <a:solidFill>
                  <a:srgbClr val="24292E"/>
                </a:solidFill>
                <a:latin typeface="Consolas"/>
                <a:ea typeface="Consolas"/>
                <a:cs typeface="Consolas"/>
                <a:sym typeface="Consolas"/>
              </a:rPr>
              <a:t>RLED = (VIN - VF) / IF</a:t>
            </a:r>
          </a:p>
        </p:txBody>
      </p:sp>
      <p:sp>
        <p:nvSpPr>
          <p:cNvPr name="TextBox 79" id="79"/>
          <p:cNvSpPr txBox="true"/>
          <p:nvPr/>
        </p:nvSpPr>
        <p:spPr>
          <a:xfrm rot="0">
            <a:off x="992991" y="15275890"/>
            <a:ext cx="1723095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Where:</a:t>
            </a:r>
          </a:p>
        </p:txBody>
      </p:sp>
      <p:sp>
        <p:nvSpPr>
          <p:cNvPr name="TextBox 80" id="80"/>
          <p:cNvSpPr txBox="true"/>
          <p:nvPr/>
        </p:nvSpPr>
        <p:spPr>
          <a:xfrm rot="0">
            <a:off x="992991" y="15525817"/>
            <a:ext cx="16315868" cy="550659"/>
          </a:xfrm>
          <a:prstGeom prst="rect">
            <a:avLst/>
          </a:prstGeom>
        </p:spPr>
        <p:txBody>
          <a:bodyPr anchor="t" rtlCol="false" tIns="0" lIns="0" bIns="0" rIns="0">
            <a:spAutoFit/>
          </a:bodyPr>
          <a:lstStyle/>
          <a:p>
            <a:pPr algn="l" marL="190321" indent="-95161" lvl="1">
              <a:lnSpc>
                <a:spcPts val="1260"/>
              </a:lnSpc>
              <a:buFont typeface="Arial"/>
              <a:buChar char="•"/>
            </a:pPr>
            <a:r>
              <a:rPr lang="en-US" sz="1050">
                <a:solidFill>
                  <a:srgbClr val="4C4C4D"/>
                </a:solidFill>
                <a:latin typeface="Heebo"/>
                <a:ea typeface="Heebo"/>
                <a:cs typeface="Heebo"/>
                <a:sym typeface="Heebo"/>
              </a:rPr>
              <a:t>VIN = 3.3 V</a:t>
            </a:r>
          </a:p>
          <a:p>
            <a:pPr algn="l" marL="190321" indent="-95161" lvl="1">
              <a:lnSpc>
                <a:spcPts val="1260"/>
              </a:lnSpc>
              <a:buFont typeface="Arial"/>
              <a:buChar char="•"/>
            </a:pPr>
            <a:r>
              <a:rPr lang="en-US" sz="1050">
                <a:solidFill>
                  <a:srgbClr val="4C4C4D"/>
                </a:solidFill>
                <a:latin typeface="Heebo"/>
                <a:ea typeface="Heebo"/>
                <a:cs typeface="Heebo"/>
                <a:sym typeface="Heebo"/>
              </a:rPr>
              <a:t>VF = 1.2 V</a:t>
            </a:r>
          </a:p>
          <a:p>
            <a:pPr algn="l" marL="190321" indent="-95161" lvl="1">
              <a:lnSpc>
                <a:spcPts val="1260"/>
              </a:lnSpc>
              <a:buFont typeface="Arial"/>
              <a:buChar char="•"/>
            </a:pPr>
            <a:r>
              <a:rPr lang="en-US" sz="1050">
                <a:solidFill>
                  <a:srgbClr val="4C4C4D"/>
                </a:solidFill>
                <a:latin typeface="Heebo"/>
                <a:ea typeface="Heebo"/>
                <a:cs typeface="Heebo"/>
                <a:sym typeface="Heebo"/>
              </a:rPr>
              <a:t>IF = 10 mA</a:t>
            </a:r>
          </a:p>
        </p:txBody>
      </p:sp>
      <p:sp>
        <p:nvSpPr>
          <p:cNvPr name="TextBox 81" id="81"/>
          <p:cNvSpPr txBox="true"/>
          <p:nvPr/>
        </p:nvSpPr>
        <p:spPr>
          <a:xfrm rot="0">
            <a:off x="992991" y="16165687"/>
            <a:ext cx="1723095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Substituting:</a:t>
            </a:r>
          </a:p>
        </p:txBody>
      </p:sp>
      <p:grpSp>
        <p:nvGrpSpPr>
          <p:cNvPr name="Group 82" id="82"/>
          <p:cNvGrpSpPr/>
          <p:nvPr/>
        </p:nvGrpSpPr>
        <p:grpSpPr>
          <a:xfrm rot="0">
            <a:off x="992991" y="16406089"/>
            <a:ext cx="16315868" cy="737568"/>
            <a:chOff x="0" y="0"/>
            <a:chExt cx="21754490" cy="983424"/>
          </a:xfrm>
        </p:grpSpPr>
        <p:sp>
          <p:nvSpPr>
            <p:cNvPr name="Freeform 83" id="83"/>
            <p:cNvSpPr/>
            <p:nvPr/>
          </p:nvSpPr>
          <p:spPr>
            <a:xfrm flipH="false" flipV="false" rot="0">
              <a:off x="0" y="0"/>
              <a:ext cx="21754464" cy="983362"/>
            </a:xfrm>
            <a:custGeom>
              <a:avLst/>
              <a:gdLst/>
              <a:ahLst/>
              <a:cxnLst/>
              <a:rect r="r" b="b" t="t" l="l"/>
              <a:pathLst>
                <a:path h="983362" w="21754464">
                  <a:moveTo>
                    <a:pt x="0" y="28321"/>
                  </a:moveTo>
                  <a:cubicBezTo>
                    <a:pt x="0" y="12700"/>
                    <a:pt x="12700" y="0"/>
                    <a:pt x="28321" y="0"/>
                  </a:cubicBezTo>
                  <a:lnTo>
                    <a:pt x="21726144" y="0"/>
                  </a:lnTo>
                  <a:cubicBezTo>
                    <a:pt x="21741764" y="0"/>
                    <a:pt x="21754464" y="12700"/>
                    <a:pt x="21754464" y="28321"/>
                  </a:cubicBezTo>
                  <a:lnTo>
                    <a:pt x="21754464" y="955040"/>
                  </a:lnTo>
                  <a:cubicBezTo>
                    <a:pt x="21754464" y="970661"/>
                    <a:pt x="21741764" y="983361"/>
                    <a:pt x="21726144" y="983361"/>
                  </a:cubicBezTo>
                  <a:lnTo>
                    <a:pt x="28321" y="983361"/>
                  </a:lnTo>
                  <a:cubicBezTo>
                    <a:pt x="12700" y="983488"/>
                    <a:pt x="0" y="970788"/>
                    <a:pt x="0" y="955040"/>
                  </a:cubicBezTo>
                  <a:close/>
                </a:path>
              </a:pathLst>
            </a:custGeom>
            <a:solidFill>
              <a:srgbClr val="F2F2F2"/>
            </a:solidFill>
          </p:spPr>
        </p:sp>
      </p:grpSp>
      <p:sp>
        <p:nvSpPr>
          <p:cNvPr name="TextBox 84" id="84"/>
          <p:cNvSpPr txBox="true"/>
          <p:nvPr/>
        </p:nvSpPr>
        <p:spPr>
          <a:xfrm rot="0">
            <a:off x="1163231" y="16481203"/>
            <a:ext cx="15975387" cy="520656"/>
          </a:xfrm>
          <a:prstGeom prst="rect">
            <a:avLst/>
          </a:prstGeom>
        </p:spPr>
        <p:txBody>
          <a:bodyPr anchor="t" rtlCol="false" tIns="0" lIns="0" bIns="0" rIns="0">
            <a:spAutoFit/>
          </a:bodyPr>
          <a:lstStyle/>
          <a:p>
            <a:pPr algn="l">
              <a:lnSpc>
                <a:spcPts val="1677"/>
              </a:lnSpc>
            </a:pPr>
            <a:r>
              <a:rPr lang="en-US" sz="1050">
                <a:solidFill>
                  <a:srgbClr val="24292E"/>
                </a:solidFill>
                <a:latin typeface="Consolas"/>
                <a:ea typeface="Consolas"/>
                <a:cs typeface="Consolas"/>
                <a:sym typeface="Consolas"/>
              </a:rPr>
              <a:t>RLED = (3.3 - 1.2) / 10 mA</a:t>
            </a:r>
          </a:p>
          <a:p>
            <a:pPr algn="l">
              <a:lnSpc>
                <a:spcPts val="1677"/>
              </a:lnSpc>
            </a:pPr>
            <a:r>
              <a:rPr lang="en-US" sz="1050">
                <a:solidFill>
                  <a:srgbClr val="24292E"/>
                </a:solidFill>
                <a:latin typeface="Consolas"/>
                <a:ea typeface="Consolas"/>
                <a:cs typeface="Consolas"/>
                <a:sym typeface="Consolas"/>
              </a:rPr>
              <a:t>RLED = 210 Ω</a:t>
            </a:r>
          </a:p>
        </p:txBody>
      </p:sp>
      <p:sp>
        <p:nvSpPr>
          <p:cNvPr name="TextBox 85" id="85"/>
          <p:cNvSpPr txBox="true"/>
          <p:nvPr/>
        </p:nvSpPr>
        <p:spPr>
          <a:xfrm rot="0">
            <a:off x="992991" y="17232868"/>
            <a:ext cx="1723095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Selected value:       </a:t>
            </a:r>
            <a:r>
              <a:rPr lang="en-US" sz="1050" b="true">
                <a:solidFill>
                  <a:srgbClr val="4C4C4D"/>
                </a:solidFill>
                <a:latin typeface="Heebo Bold"/>
                <a:ea typeface="Heebo Bold"/>
                <a:cs typeface="Heebo Bold"/>
                <a:sym typeface="Heebo Bold"/>
              </a:rPr>
              <a:t>220 Ω</a:t>
            </a:r>
            <a:r>
              <a:rPr lang="en-US" sz="1050">
                <a:solidFill>
                  <a:srgbClr val="4C4C4D"/>
                </a:solidFill>
                <a:latin typeface="Heebo"/>
                <a:ea typeface="Heebo"/>
                <a:cs typeface="Heebo"/>
                <a:sym typeface="Heebo"/>
              </a:rPr>
              <a:t>     </a:t>
            </a:r>
          </a:p>
        </p:txBody>
      </p:sp>
      <p:sp>
        <p:nvSpPr>
          <p:cNvPr name="TextBox 86" id="86"/>
          <p:cNvSpPr txBox="true"/>
          <p:nvPr/>
        </p:nvSpPr>
        <p:spPr>
          <a:xfrm rot="0">
            <a:off x="992991" y="17480890"/>
            <a:ext cx="16315868" cy="285064"/>
          </a:xfrm>
          <a:prstGeom prst="rect">
            <a:avLst/>
          </a:prstGeom>
        </p:spPr>
        <p:txBody>
          <a:bodyPr anchor="t" rtlCol="false" tIns="0" lIns="0" bIns="0" rIns="0">
            <a:spAutoFit/>
          </a:bodyPr>
          <a:lstStyle/>
          <a:p>
            <a:pPr algn="l">
              <a:lnSpc>
                <a:spcPts val="2060"/>
              </a:lnSpc>
            </a:pPr>
            <a:r>
              <a:rPr lang="en-US" sz="1651">
                <a:solidFill>
                  <a:srgbClr val="152D47"/>
                </a:solidFill>
                <a:latin typeface="Crimson Pro"/>
                <a:ea typeface="Crimson Pro"/>
                <a:cs typeface="Crimson Pro"/>
                <a:sym typeface="Crimson Pro"/>
              </a:rPr>
              <a:t>Section 4: Capacitor Selection</a:t>
            </a:r>
          </a:p>
        </p:txBody>
      </p:sp>
      <p:sp>
        <p:nvSpPr>
          <p:cNvPr name="TextBox 87" id="87"/>
          <p:cNvSpPr txBox="true"/>
          <p:nvPr/>
        </p:nvSpPr>
        <p:spPr>
          <a:xfrm rot="0">
            <a:off x="992991" y="17881816"/>
            <a:ext cx="16315868" cy="410651"/>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To suppress switching transients and stabilize the Zener reference:</a:t>
            </a:r>
          </a:p>
          <a:p>
            <a:pPr algn="l">
              <a:lnSpc>
                <a:spcPts val="1260"/>
              </a:lnSpc>
            </a:pPr>
            <a:r>
              <a:rPr lang="en-US" sz="1050">
                <a:solidFill>
                  <a:srgbClr val="4C4C4D"/>
                </a:solidFill>
                <a:latin typeface="Heebo"/>
                <a:ea typeface="Heebo"/>
                <a:cs typeface="Heebo"/>
                <a:sym typeface="Heebo"/>
              </a:rPr>
              <a:t>       </a:t>
            </a:r>
            <a:r>
              <a:rPr lang="en-US" sz="1050" b="true">
                <a:solidFill>
                  <a:srgbClr val="4C4C4D"/>
                </a:solidFill>
                <a:latin typeface="Heebo Bold"/>
                <a:ea typeface="Heebo Bold"/>
                <a:cs typeface="Heebo Bold"/>
                <a:sym typeface="Heebo Bold"/>
              </a:rPr>
              <a:t>C2 = 100 nF</a:t>
            </a:r>
            <a:r>
              <a:rPr lang="en-US" sz="1050">
                <a:solidFill>
                  <a:srgbClr val="4C4C4D"/>
                </a:solidFill>
                <a:latin typeface="Heebo"/>
                <a:ea typeface="Heebo"/>
                <a:cs typeface="Heebo"/>
                <a:sym typeface="Heebo"/>
              </a:rPr>
              <a:t>     </a:t>
            </a:r>
          </a:p>
        </p:txBody>
      </p:sp>
      <p:sp>
        <p:nvSpPr>
          <p:cNvPr name="TextBox 88" id="88"/>
          <p:cNvSpPr txBox="true"/>
          <p:nvPr/>
        </p:nvSpPr>
        <p:spPr>
          <a:xfrm rot="0">
            <a:off x="992991" y="18379764"/>
            <a:ext cx="16315868" cy="285064"/>
          </a:xfrm>
          <a:prstGeom prst="rect">
            <a:avLst/>
          </a:prstGeom>
        </p:spPr>
        <p:txBody>
          <a:bodyPr anchor="t" rtlCol="false" tIns="0" lIns="0" bIns="0" rIns="0">
            <a:spAutoFit/>
          </a:bodyPr>
          <a:lstStyle/>
          <a:p>
            <a:pPr algn="l">
              <a:lnSpc>
                <a:spcPts val="2060"/>
              </a:lnSpc>
            </a:pPr>
            <a:r>
              <a:rPr lang="en-US" sz="1651">
                <a:solidFill>
                  <a:srgbClr val="152D47"/>
                </a:solidFill>
                <a:latin typeface="Crimson Pro"/>
                <a:ea typeface="Crimson Pro"/>
                <a:cs typeface="Crimson Pro"/>
                <a:sym typeface="Crimson Pro"/>
              </a:rPr>
              <a:t>Final Designed Component Values</a:t>
            </a:r>
          </a:p>
        </p:txBody>
      </p:sp>
      <p:grpSp>
        <p:nvGrpSpPr>
          <p:cNvPr name="Group 89" id="89"/>
          <p:cNvGrpSpPr/>
          <p:nvPr/>
        </p:nvGrpSpPr>
        <p:grpSpPr>
          <a:xfrm rot="0">
            <a:off x="988219" y="18766412"/>
            <a:ext cx="16325393" cy="1721501"/>
            <a:chOff x="0" y="0"/>
            <a:chExt cx="21767190" cy="2295334"/>
          </a:xfrm>
        </p:grpSpPr>
        <p:sp>
          <p:nvSpPr>
            <p:cNvPr name="Freeform 90" id="90"/>
            <p:cNvSpPr/>
            <p:nvPr/>
          </p:nvSpPr>
          <p:spPr>
            <a:xfrm flipH="false" flipV="false" rot="0">
              <a:off x="0" y="0"/>
              <a:ext cx="21767292" cy="2295398"/>
            </a:xfrm>
            <a:custGeom>
              <a:avLst/>
              <a:gdLst/>
              <a:ahLst/>
              <a:cxnLst/>
              <a:rect r="r" b="b" t="t" l="l"/>
              <a:pathLst>
                <a:path h="2295398" w="21767292">
                  <a:moveTo>
                    <a:pt x="0" y="28575"/>
                  </a:moveTo>
                  <a:cubicBezTo>
                    <a:pt x="0" y="12827"/>
                    <a:pt x="12827" y="0"/>
                    <a:pt x="28575" y="0"/>
                  </a:cubicBezTo>
                  <a:lnTo>
                    <a:pt x="21738717" y="0"/>
                  </a:lnTo>
                  <a:cubicBezTo>
                    <a:pt x="21754464" y="0"/>
                    <a:pt x="21767292" y="12827"/>
                    <a:pt x="21767292" y="28575"/>
                  </a:cubicBezTo>
                  <a:lnTo>
                    <a:pt x="21767292" y="2266823"/>
                  </a:lnTo>
                  <a:cubicBezTo>
                    <a:pt x="21767292" y="2282571"/>
                    <a:pt x="21754464" y="2295398"/>
                    <a:pt x="21738717" y="2295398"/>
                  </a:cubicBezTo>
                  <a:lnTo>
                    <a:pt x="28575" y="2295398"/>
                  </a:lnTo>
                  <a:cubicBezTo>
                    <a:pt x="12827" y="2295398"/>
                    <a:pt x="0" y="2282571"/>
                    <a:pt x="0" y="2266823"/>
                  </a:cubicBezTo>
                  <a:close/>
                </a:path>
              </a:pathLst>
            </a:custGeom>
            <a:blipFill>
              <a:blip r:embed="rId5">
                <a:alphaModFix amt="0"/>
              </a:blip>
              <a:stretch>
                <a:fillRect l="0" t="-134777" r="0" b="-134774"/>
              </a:stretch>
            </a:blipFill>
            <a:ln w="9532" cap="sq">
              <a:solidFill>
                <a:srgbClr val="000000"/>
              </a:solidFill>
              <a:prstDash val="solid"/>
              <a:miter/>
            </a:ln>
          </p:spPr>
        </p:sp>
      </p:grpSp>
      <p:grpSp>
        <p:nvGrpSpPr>
          <p:cNvPr name="Group 91" id="91"/>
          <p:cNvGrpSpPr/>
          <p:nvPr/>
        </p:nvGrpSpPr>
        <p:grpSpPr>
          <a:xfrm rot="0">
            <a:off x="992991" y="19059677"/>
            <a:ext cx="16315868" cy="9535"/>
            <a:chOff x="0" y="0"/>
            <a:chExt cx="21754490" cy="12713"/>
          </a:xfrm>
        </p:grpSpPr>
        <p:sp>
          <p:nvSpPr>
            <p:cNvPr name="Freeform 92" id="92"/>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93" id="93"/>
          <p:cNvGrpSpPr/>
          <p:nvPr/>
        </p:nvGrpSpPr>
        <p:grpSpPr>
          <a:xfrm rot="0">
            <a:off x="992991" y="19343418"/>
            <a:ext cx="16315868" cy="9535"/>
            <a:chOff x="0" y="0"/>
            <a:chExt cx="21754490" cy="12713"/>
          </a:xfrm>
        </p:grpSpPr>
        <p:sp>
          <p:nvSpPr>
            <p:cNvPr name="Freeform 94" id="94"/>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95" id="95"/>
          <p:cNvGrpSpPr/>
          <p:nvPr/>
        </p:nvGrpSpPr>
        <p:grpSpPr>
          <a:xfrm rot="0">
            <a:off x="992991" y="19627158"/>
            <a:ext cx="16315868" cy="9535"/>
            <a:chOff x="0" y="0"/>
            <a:chExt cx="21754490" cy="12713"/>
          </a:xfrm>
        </p:grpSpPr>
        <p:sp>
          <p:nvSpPr>
            <p:cNvPr name="Freeform 96" id="96"/>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97" id="97"/>
          <p:cNvGrpSpPr/>
          <p:nvPr/>
        </p:nvGrpSpPr>
        <p:grpSpPr>
          <a:xfrm rot="0">
            <a:off x="992991" y="19910898"/>
            <a:ext cx="16315868" cy="9535"/>
            <a:chOff x="0" y="0"/>
            <a:chExt cx="21754490" cy="12713"/>
          </a:xfrm>
        </p:grpSpPr>
        <p:sp>
          <p:nvSpPr>
            <p:cNvPr name="Freeform 98" id="98"/>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99" id="99"/>
          <p:cNvGrpSpPr/>
          <p:nvPr/>
        </p:nvGrpSpPr>
        <p:grpSpPr>
          <a:xfrm rot="0">
            <a:off x="992991" y="20194638"/>
            <a:ext cx="16315868" cy="9535"/>
            <a:chOff x="0" y="0"/>
            <a:chExt cx="21754490" cy="12713"/>
          </a:xfrm>
        </p:grpSpPr>
        <p:sp>
          <p:nvSpPr>
            <p:cNvPr name="Freeform 100" id="100"/>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101" id="101"/>
          <p:cNvGrpSpPr/>
          <p:nvPr/>
        </p:nvGrpSpPr>
        <p:grpSpPr>
          <a:xfrm rot="0">
            <a:off x="9150925" y="18771175"/>
            <a:ext cx="9535" cy="1711966"/>
            <a:chOff x="0" y="0"/>
            <a:chExt cx="12713" cy="2282622"/>
          </a:xfrm>
        </p:grpSpPr>
        <p:sp>
          <p:nvSpPr>
            <p:cNvPr name="Freeform 102" id="102"/>
            <p:cNvSpPr/>
            <p:nvPr/>
          </p:nvSpPr>
          <p:spPr>
            <a:xfrm flipH="false" flipV="false" rot="0">
              <a:off x="0" y="0"/>
              <a:ext cx="12700" cy="2282571"/>
            </a:xfrm>
            <a:custGeom>
              <a:avLst/>
              <a:gdLst/>
              <a:ahLst/>
              <a:cxnLst/>
              <a:rect r="r" b="b" t="t" l="l"/>
              <a:pathLst>
                <a:path h="2282571" w="12700">
                  <a:moveTo>
                    <a:pt x="0" y="0"/>
                  </a:moveTo>
                  <a:lnTo>
                    <a:pt x="12700" y="0"/>
                  </a:lnTo>
                  <a:lnTo>
                    <a:pt x="12700" y="2282571"/>
                  </a:lnTo>
                  <a:lnTo>
                    <a:pt x="0" y="2282571"/>
                  </a:lnTo>
                  <a:close/>
                </a:path>
              </a:pathLst>
            </a:custGeom>
            <a:solidFill>
              <a:srgbClr val="000000">
                <a:alpha val="392"/>
              </a:srgbClr>
            </a:solidFill>
          </p:spPr>
        </p:sp>
      </p:grpSp>
      <p:sp>
        <p:nvSpPr>
          <p:cNvPr name="TextBox 103" id="103"/>
          <p:cNvSpPr txBox="true"/>
          <p:nvPr/>
        </p:nvSpPr>
        <p:spPr>
          <a:xfrm rot="0">
            <a:off x="1144314" y="18842212"/>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Component</a:t>
            </a:r>
          </a:p>
        </p:txBody>
      </p:sp>
      <p:sp>
        <p:nvSpPr>
          <p:cNvPr name="TextBox 104" id="104"/>
          <p:cNvSpPr txBox="true"/>
          <p:nvPr/>
        </p:nvSpPr>
        <p:spPr>
          <a:xfrm rot="0">
            <a:off x="9297476" y="18842212"/>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Selected Value</a:t>
            </a:r>
          </a:p>
        </p:txBody>
      </p:sp>
      <p:sp>
        <p:nvSpPr>
          <p:cNvPr name="TextBox 105" id="105"/>
          <p:cNvSpPr txBox="true"/>
          <p:nvPr/>
        </p:nvSpPr>
        <p:spPr>
          <a:xfrm rot="0">
            <a:off x="1144314" y="19125952"/>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R4</a:t>
            </a:r>
          </a:p>
        </p:txBody>
      </p:sp>
      <p:sp>
        <p:nvSpPr>
          <p:cNvPr name="TextBox 106" id="106"/>
          <p:cNvSpPr txBox="true"/>
          <p:nvPr/>
        </p:nvSpPr>
        <p:spPr>
          <a:xfrm rot="0">
            <a:off x="9297476" y="19125952"/>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18 kΩ (1 W)</a:t>
            </a:r>
          </a:p>
        </p:txBody>
      </p:sp>
      <p:sp>
        <p:nvSpPr>
          <p:cNvPr name="TextBox 107" id="107"/>
          <p:cNvSpPr txBox="true"/>
          <p:nvPr/>
        </p:nvSpPr>
        <p:spPr>
          <a:xfrm rot="0">
            <a:off x="1144314" y="19409693"/>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R5</a:t>
            </a:r>
          </a:p>
        </p:txBody>
      </p:sp>
      <p:sp>
        <p:nvSpPr>
          <p:cNvPr name="TextBox 108" id="108"/>
          <p:cNvSpPr txBox="true"/>
          <p:nvPr/>
        </p:nvSpPr>
        <p:spPr>
          <a:xfrm rot="0">
            <a:off x="9297476" y="19409693"/>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1 kΩ (0.25 W)</a:t>
            </a:r>
          </a:p>
        </p:txBody>
      </p:sp>
      <p:sp>
        <p:nvSpPr>
          <p:cNvPr name="TextBox 109" id="109"/>
          <p:cNvSpPr txBox="true"/>
          <p:nvPr/>
        </p:nvSpPr>
        <p:spPr>
          <a:xfrm rot="0">
            <a:off x="1144314" y="19693433"/>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LED Resistor</a:t>
            </a:r>
          </a:p>
        </p:txBody>
      </p:sp>
      <p:sp>
        <p:nvSpPr>
          <p:cNvPr name="TextBox 110" id="110"/>
          <p:cNvSpPr txBox="true"/>
          <p:nvPr/>
        </p:nvSpPr>
        <p:spPr>
          <a:xfrm rot="0">
            <a:off x="9297476" y="19693433"/>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220 Ω</a:t>
            </a:r>
          </a:p>
        </p:txBody>
      </p:sp>
      <p:sp>
        <p:nvSpPr>
          <p:cNvPr name="TextBox 111" id="111"/>
          <p:cNvSpPr txBox="true"/>
          <p:nvPr/>
        </p:nvSpPr>
        <p:spPr>
          <a:xfrm rot="0">
            <a:off x="1144314" y="19977173"/>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Zener</a:t>
            </a:r>
          </a:p>
        </p:txBody>
      </p:sp>
      <p:sp>
        <p:nvSpPr>
          <p:cNvPr name="TextBox 112" id="112"/>
          <p:cNvSpPr txBox="true"/>
          <p:nvPr/>
        </p:nvSpPr>
        <p:spPr>
          <a:xfrm rot="0">
            <a:off x="9297476" y="19977173"/>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12 V</a:t>
            </a:r>
          </a:p>
        </p:txBody>
      </p:sp>
      <p:sp>
        <p:nvSpPr>
          <p:cNvPr name="TextBox 113" id="113"/>
          <p:cNvSpPr txBox="true"/>
          <p:nvPr/>
        </p:nvSpPr>
        <p:spPr>
          <a:xfrm rot="0">
            <a:off x="1144314" y="20260913"/>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Capacitor</a:t>
            </a:r>
          </a:p>
        </p:txBody>
      </p:sp>
      <p:sp>
        <p:nvSpPr>
          <p:cNvPr name="TextBox 114" id="114"/>
          <p:cNvSpPr txBox="true"/>
          <p:nvPr/>
        </p:nvSpPr>
        <p:spPr>
          <a:xfrm rot="0">
            <a:off x="9297476" y="20260913"/>
            <a:ext cx="877514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100 nF</a:t>
            </a:r>
          </a:p>
        </p:txBody>
      </p:sp>
      <p:sp>
        <p:nvSpPr>
          <p:cNvPr name="TextBox 115" id="115"/>
          <p:cNvSpPr txBox="true"/>
          <p:nvPr/>
        </p:nvSpPr>
        <p:spPr>
          <a:xfrm rot="0">
            <a:off x="992991" y="20572352"/>
            <a:ext cx="1723095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These values ensure safe PMOS gate operation, reliable optocoupler switching, and effective electrical isolation.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0F0F1"/>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6" id="6"/>
          <p:cNvGrpSpPr/>
          <p:nvPr/>
        </p:nvGrpSpPr>
        <p:grpSpPr>
          <a:xfrm rot="0">
            <a:off x="16628307" y="9846183"/>
            <a:ext cx="1609020" cy="384353"/>
            <a:chOff x="0" y="0"/>
            <a:chExt cx="2145360" cy="512470"/>
          </a:xfrm>
        </p:grpSpPr>
        <p:sp>
          <p:nvSpPr>
            <p:cNvPr name="Freeform 7" id="7" descr="preencoded.png">
              <a:hlinkClick r:id="rId3" tooltip="https://gamma.app/?utm_source=made-with-gamma"/>
            </p:cNvPr>
            <p:cNvSpPr/>
            <p:nvPr/>
          </p:nvSpPr>
          <p:spPr>
            <a:xfrm flipH="false" flipV="false" rot="0">
              <a:off x="0" y="0"/>
              <a:ext cx="2145411" cy="512445"/>
            </a:xfrm>
            <a:custGeom>
              <a:avLst/>
              <a:gdLst/>
              <a:ahLst/>
              <a:cxnLst/>
              <a:rect r="r" b="b" t="t" l="l"/>
              <a:pathLst>
                <a:path h="512445" w="2145411">
                  <a:moveTo>
                    <a:pt x="0" y="0"/>
                  </a:moveTo>
                  <a:lnTo>
                    <a:pt x="2145411" y="0"/>
                  </a:lnTo>
                  <a:lnTo>
                    <a:pt x="2145411" y="512445"/>
                  </a:lnTo>
                  <a:lnTo>
                    <a:pt x="0" y="512445"/>
                  </a:lnTo>
                  <a:lnTo>
                    <a:pt x="0" y="0"/>
                  </a:lnTo>
                  <a:close/>
                </a:path>
              </a:pathLst>
            </a:custGeom>
            <a:blipFill>
              <a:blip r:embed="rId4"/>
              <a:stretch>
                <a:fillRect l="0" t="0" r="2" b="-4"/>
              </a:stretch>
            </a:blipFill>
          </p:spPr>
        </p:sp>
      </p:grpSp>
      <p:sp>
        <p:nvSpPr>
          <p:cNvPr name="TextBox 8" id="8"/>
          <p:cNvSpPr txBox="true"/>
          <p:nvPr/>
        </p:nvSpPr>
        <p:spPr>
          <a:xfrm rot="0">
            <a:off x="992991" y="751742"/>
            <a:ext cx="16315868" cy="471830"/>
          </a:xfrm>
          <a:prstGeom prst="rect">
            <a:avLst/>
          </a:prstGeom>
        </p:spPr>
        <p:txBody>
          <a:bodyPr anchor="t" rtlCol="false" tIns="0" lIns="0" bIns="0" rIns="0">
            <a:spAutoFit/>
          </a:bodyPr>
          <a:lstStyle/>
          <a:p>
            <a:pPr algn="l">
              <a:lnSpc>
                <a:spcPts val="3465"/>
              </a:lnSpc>
            </a:pPr>
            <a:r>
              <a:rPr lang="en-US" sz="2777">
                <a:solidFill>
                  <a:srgbClr val="152D47"/>
                </a:solidFill>
                <a:latin typeface="Crimson Pro"/>
                <a:ea typeface="Crimson Pro"/>
                <a:cs typeface="Crimson Pro"/>
                <a:sym typeface="Crimson Pro"/>
              </a:rPr>
              <a:t>Simulation Results</a:t>
            </a:r>
          </a:p>
        </p:txBody>
      </p:sp>
      <p:sp>
        <p:nvSpPr>
          <p:cNvPr name="TextBox 9" id="9"/>
          <p:cNvSpPr txBox="true"/>
          <p:nvPr/>
        </p:nvSpPr>
        <p:spPr>
          <a:xfrm rot="0">
            <a:off x="992991" y="1242355"/>
            <a:ext cx="16315868" cy="231153"/>
          </a:xfrm>
          <a:prstGeom prst="rect">
            <a:avLst/>
          </a:prstGeom>
        </p:spPr>
        <p:txBody>
          <a:bodyPr anchor="t" rtlCol="false" tIns="0" lIns="0" bIns="0" rIns="0">
            <a:spAutoFit/>
          </a:bodyPr>
          <a:lstStyle/>
          <a:p>
            <a:pPr algn="l">
              <a:lnSpc>
                <a:spcPts val="1686"/>
              </a:lnSpc>
            </a:pPr>
            <a:r>
              <a:rPr lang="en-US" sz="1351">
                <a:solidFill>
                  <a:srgbClr val="152D47"/>
                </a:solidFill>
                <a:latin typeface="Crimson Pro"/>
                <a:ea typeface="Crimson Pro"/>
                <a:cs typeface="Crimson Pro"/>
                <a:sym typeface="Crimson Pro"/>
              </a:rPr>
              <a:t>LTspice Simulation Conditions</a:t>
            </a:r>
          </a:p>
        </p:txBody>
      </p:sp>
      <p:sp>
        <p:nvSpPr>
          <p:cNvPr name="TextBox 10" id="10"/>
          <p:cNvSpPr txBox="true"/>
          <p:nvPr/>
        </p:nvSpPr>
        <p:spPr>
          <a:xfrm rot="0">
            <a:off x="992991" y="1589380"/>
            <a:ext cx="16315868" cy="940594"/>
          </a:xfrm>
          <a:prstGeom prst="rect">
            <a:avLst/>
          </a:prstGeom>
        </p:spPr>
        <p:txBody>
          <a:bodyPr anchor="t" rtlCol="false" tIns="0" lIns="0" bIns="0" rIns="0">
            <a:spAutoFit/>
          </a:bodyPr>
          <a:lstStyle/>
          <a:p>
            <a:pPr algn="l" marL="190321" indent="-95161" lvl="1">
              <a:lnSpc>
                <a:spcPts val="1260"/>
              </a:lnSpc>
              <a:buFont typeface="Arial"/>
              <a:buChar char="•"/>
            </a:pPr>
            <a:r>
              <a:rPr lang="en-US" sz="1050">
                <a:solidFill>
                  <a:srgbClr val="4C4C4D"/>
                </a:solidFill>
                <a:latin typeface="Heebo"/>
                <a:ea typeface="Heebo"/>
                <a:cs typeface="Heebo"/>
                <a:sym typeface="Heebo"/>
              </a:rPr>
              <a:t>Supply Voltage = 100 V</a:t>
            </a:r>
          </a:p>
          <a:p>
            <a:pPr algn="l" marL="190321" indent="-95161" lvl="1">
              <a:lnSpc>
                <a:spcPts val="1260"/>
              </a:lnSpc>
              <a:buFont typeface="Arial"/>
              <a:buChar char="•"/>
            </a:pPr>
            <a:r>
              <a:rPr lang="en-US" sz="1050">
                <a:solidFill>
                  <a:srgbClr val="4C4C4D"/>
                </a:solidFill>
                <a:latin typeface="Heebo"/>
                <a:ea typeface="Heebo"/>
                <a:cs typeface="Heebo"/>
                <a:sym typeface="Heebo"/>
              </a:rPr>
              <a:t>Logic Input = 0–3.3 V Pulse</a:t>
            </a:r>
          </a:p>
          <a:p>
            <a:pPr algn="l" marL="190321" indent="-95161" lvl="1">
              <a:lnSpc>
                <a:spcPts val="1260"/>
              </a:lnSpc>
              <a:buFont typeface="Arial"/>
              <a:buChar char="•"/>
            </a:pPr>
            <a:r>
              <a:rPr lang="en-US" sz="1050">
                <a:solidFill>
                  <a:srgbClr val="4C4C4D"/>
                </a:solidFill>
                <a:latin typeface="Heebo"/>
                <a:ea typeface="Heebo"/>
                <a:cs typeface="Heebo"/>
                <a:sym typeface="Heebo"/>
              </a:rPr>
              <a:t>Optocoupler = PC817</a:t>
            </a:r>
          </a:p>
          <a:p>
            <a:pPr algn="l" marL="190321" indent="-95161" lvl="1">
              <a:lnSpc>
                <a:spcPts val="1260"/>
              </a:lnSpc>
              <a:buFont typeface="Arial"/>
              <a:buChar char="•"/>
            </a:pPr>
            <a:r>
              <a:rPr lang="en-US" sz="1050">
                <a:solidFill>
                  <a:srgbClr val="4C4C4D"/>
                </a:solidFill>
                <a:latin typeface="Heebo"/>
                <a:ea typeface="Heebo"/>
                <a:cs typeface="Heebo"/>
                <a:sym typeface="Heebo"/>
              </a:rPr>
              <a:t>Zener Voltage = 12 V</a:t>
            </a:r>
          </a:p>
          <a:p>
            <a:pPr algn="l" marL="190321" indent="-95161" lvl="1">
              <a:lnSpc>
                <a:spcPts val="1260"/>
              </a:lnSpc>
              <a:buFont typeface="Arial"/>
              <a:buChar char="•"/>
            </a:pPr>
            <a:r>
              <a:rPr lang="en-US" sz="1050">
                <a:solidFill>
                  <a:srgbClr val="4C4C4D"/>
                </a:solidFill>
                <a:latin typeface="Heebo"/>
                <a:ea typeface="Heebo"/>
                <a:cs typeface="Heebo"/>
                <a:sym typeface="Heebo"/>
              </a:rPr>
              <a:t>Load = 1 kΩ resistive load</a:t>
            </a:r>
          </a:p>
        </p:txBody>
      </p:sp>
      <p:sp>
        <p:nvSpPr>
          <p:cNvPr name="TextBox 11" id="11"/>
          <p:cNvSpPr txBox="true"/>
          <p:nvPr/>
        </p:nvSpPr>
        <p:spPr>
          <a:xfrm rot="0">
            <a:off x="992991" y="2626795"/>
            <a:ext cx="16315868" cy="231153"/>
          </a:xfrm>
          <a:prstGeom prst="rect">
            <a:avLst/>
          </a:prstGeom>
        </p:spPr>
        <p:txBody>
          <a:bodyPr anchor="t" rtlCol="false" tIns="0" lIns="0" bIns="0" rIns="0">
            <a:spAutoFit/>
          </a:bodyPr>
          <a:lstStyle/>
          <a:p>
            <a:pPr algn="l">
              <a:lnSpc>
                <a:spcPts val="1686"/>
              </a:lnSpc>
            </a:pPr>
            <a:r>
              <a:rPr lang="en-US" sz="1351">
                <a:solidFill>
                  <a:srgbClr val="152D47"/>
                </a:solidFill>
                <a:latin typeface="Crimson Pro"/>
                <a:ea typeface="Crimson Pro"/>
                <a:cs typeface="Crimson Pro"/>
                <a:sym typeface="Crimson Pro"/>
              </a:rPr>
              <a:t>Simulation Waveforms Analyzed</a:t>
            </a:r>
          </a:p>
        </p:txBody>
      </p:sp>
      <p:sp>
        <p:nvSpPr>
          <p:cNvPr name="TextBox 12" id="12"/>
          <p:cNvSpPr txBox="true"/>
          <p:nvPr/>
        </p:nvSpPr>
        <p:spPr>
          <a:xfrm rot="0">
            <a:off x="992991" y="2973819"/>
            <a:ext cx="16315868" cy="940594"/>
          </a:xfrm>
          <a:prstGeom prst="rect">
            <a:avLst/>
          </a:prstGeom>
        </p:spPr>
        <p:txBody>
          <a:bodyPr anchor="t" rtlCol="false" tIns="0" lIns="0" bIns="0" rIns="0">
            <a:spAutoFit/>
          </a:bodyPr>
          <a:lstStyle/>
          <a:p>
            <a:pPr algn="l" marL="190321" indent="-95161" lvl="1">
              <a:lnSpc>
                <a:spcPts val="1260"/>
              </a:lnSpc>
              <a:buAutoNum type="arabicPeriod" startAt="1"/>
            </a:pPr>
            <a:r>
              <a:rPr lang="en-US" sz="1050">
                <a:solidFill>
                  <a:srgbClr val="4C4C4D"/>
                </a:solidFill>
                <a:latin typeface="Heebo"/>
                <a:ea typeface="Heebo"/>
                <a:cs typeface="Heebo"/>
                <a:sym typeface="Heebo"/>
              </a:rPr>
              <a:t>3.3 V input pulse</a:t>
            </a:r>
          </a:p>
          <a:p>
            <a:pPr algn="l" marL="190321" indent="-95161" lvl="1">
              <a:lnSpc>
                <a:spcPts val="1260"/>
              </a:lnSpc>
              <a:buAutoNum type="arabicPeriod" startAt="1"/>
            </a:pPr>
            <a:r>
              <a:rPr lang="en-US" sz="1050">
                <a:solidFill>
                  <a:srgbClr val="4C4C4D"/>
                </a:solidFill>
                <a:latin typeface="Heebo"/>
                <a:ea typeface="Heebo"/>
                <a:cs typeface="Heebo"/>
                <a:sym typeface="Heebo"/>
              </a:rPr>
              <a:t>Optocoupler output (collector voltage)</a:t>
            </a:r>
          </a:p>
          <a:p>
            <a:pPr algn="l" marL="190321" indent="-95161" lvl="1">
              <a:lnSpc>
                <a:spcPts val="1260"/>
              </a:lnSpc>
              <a:buAutoNum type="arabicPeriod" startAt="1"/>
            </a:pPr>
            <a:r>
              <a:rPr lang="en-US" sz="1050">
                <a:solidFill>
                  <a:srgbClr val="4C4C4D"/>
                </a:solidFill>
                <a:latin typeface="Heebo"/>
                <a:ea typeface="Heebo"/>
                <a:cs typeface="Heebo"/>
                <a:sym typeface="Heebo"/>
              </a:rPr>
              <a:t>PMOS gate voltage</a:t>
            </a:r>
          </a:p>
          <a:p>
            <a:pPr algn="l" marL="190321" indent="-95161" lvl="1">
              <a:lnSpc>
                <a:spcPts val="1260"/>
              </a:lnSpc>
              <a:buAutoNum type="arabicPeriod" startAt="1"/>
            </a:pPr>
            <a:r>
              <a:rPr lang="en-US" sz="1050">
                <a:solidFill>
                  <a:srgbClr val="4C4C4D"/>
                </a:solidFill>
                <a:latin typeface="Heebo"/>
                <a:ea typeface="Heebo"/>
                <a:cs typeface="Heebo"/>
                <a:sym typeface="Heebo"/>
              </a:rPr>
              <a:t>Output voltage across the load</a:t>
            </a:r>
          </a:p>
          <a:p>
            <a:pPr algn="l" marL="190321" indent="-95161" lvl="1">
              <a:lnSpc>
                <a:spcPts val="1260"/>
              </a:lnSpc>
              <a:buAutoNum type="arabicPeriod" startAt="1"/>
            </a:pPr>
            <a:r>
              <a:rPr lang="en-US" sz="1050">
                <a:solidFill>
                  <a:srgbClr val="4C4C4D"/>
                </a:solidFill>
                <a:latin typeface="Heebo"/>
                <a:ea typeface="Heebo"/>
                <a:cs typeface="Heebo"/>
                <a:sym typeface="Heebo"/>
              </a:rPr>
              <a:t>Load current</a:t>
            </a:r>
          </a:p>
        </p:txBody>
      </p:sp>
      <p:sp>
        <p:nvSpPr>
          <p:cNvPr name="TextBox 13" id="13"/>
          <p:cNvSpPr txBox="true"/>
          <p:nvPr/>
        </p:nvSpPr>
        <p:spPr>
          <a:xfrm rot="0">
            <a:off x="992991" y="4011235"/>
            <a:ext cx="16315868" cy="231153"/>
          </a:xfrm>
          <a:prstGeom prst="rect">
            <a:avLst/>
          </a:prstGeom>
        </p:spPr>
        <p:txBody>
          <a:bodyPr anchor="t" rtlCol="false" tIns="0" lIns="0" bIns="0" rIns="0">
            <a:spAutoFit/>
          </a:bodyPr>
          <a:lstStyle/>
          <a:p>
            <a:pPr algn="l">
              <a:lnSpc>
                <a:spcPts val="1686"/>
              </a:lnSpc>
            </a:pPr>
            <a:r>
              <a:rPr lang="en-US" sz="1351">
                <a:solidFill>
                  <a:srgbClr val="152D47"/>
                </a:solidFill>
                <a:latin typeface="Crimson Pro"/>
                <a:ea typeface="Crimson Pro"/>
                <a:cs typeface="Crimson Pro"/>
                <a:sym typeface="Crimson Pro"/>
              </a:rPr>
              <a:t>Simulation Observations</a:t>
            </a:r>
          </a:p>
        </p:txBody>
      </p:sp>
      <p:grpSp>
        <p:nvGrpSpPr>
          <p:cNvPr name="Group 14" id="14"/>
          <p:cNvGrpSpPr/>
          <p:nvPr/>
        </p:nvGrpSpPr>
        <p:grpSpPr>
          <a:xfrm rot="0">
            <a:off x="992991" y="4348734"/>
            <a:ext cx="319183" cy="319192"/>
            <a:chOff x="0" y="0"/>
            <a:chExt cx="425577" cy="425590"/>
          </a:xfrm>
        </p:grpSpPr>
        <p:sp>
          <p:nvSpPr>
            <p:cNvPr name="Freeform 15" id="15"/>
            <p:cNvSpPr/>
            <p:nvPr/>
          </p:nvSpPr>
          <p:spPr>
            <a:xfrm flipH="false" flipV="false" rot="0">
              <a:off x="0" y="0"/>
              <a:ext cx="425577" cy="425577"/>
            </a:xfrm>
            <a:custGeom>
              <a:avLst/>
              <a:gdLst/>
              <a:ahLst/>
              <a:cxnLst/>
              <a:rect r="r" b="b" t="t" l="l"/>
              <a:pathLst>
                <a:path h="425577" w="425577">
                  <a:moveTo>
                    <a:pt x="0" y="28321"/>
                  </a:moveTo>
                  <a:cubicBezTo>
                    <a:pt x="0" y="12700"/>
                    <a:pt x="12700" y="0"/>
                    <a:pt x="28321" y="0"/>
                  </a:cubicBezTo>
                  <a:lnTo>
                    <a:pt x="397256" y="0"/>
                  </a:lnTo>
                  <a:cubicBezTo>
                    <a:pt x="412877" y="0"/>
                    <a:pt x="425577" y="12700"/>
                    <a:pt x="425577" y="28321"/>
                  </a:cubicBezTo>
                  <a:lnTo>
                    <a:pt x="425577" y="397256"/>
                  </a:lnTo>
                  <a:cubicBezTo>
                    <a:pt x="425577" y="412877"/>
                    <a:pt x="412877" y="425577"/>
                    <a:pt x="397256" y="425577"/>
                  </a:cubicBezTo>
                  <a:lnTo>
                    <a:pt x="28321" y="425577"/>
                  </a:lnTo>
                  <a:cubicBezTo>
                    <a:pt x="12700" y="425577"/>
                    <a:pt x="0" y="412877"/>
                    <a:pt x="0" y="397256"/>
                  </a:cubicBezTo>
                  <a:close/>
                </a:path>
              </a:pathLst>
            </a:custGeom>
            <a:solidFill>
              <a:srgbClr val="F2EEEE"/>
            </a:solidFill>
          </p:spPr>
        </p:sp>
      </p:grpSp>
      <p:grpSp>
        <p:nvGrpSpPr>
          <p:cNvPr name="Group 16" id="16"/>
          <p:cNvGrpSpPr/>
          <p:nvPr/>
        </p:nvGrpSpPr>
        <p:grpSpPr>
          <a:xfrm rot="0">
            <a:off x="1046159" y="4375242"/>
            <a:ext cx="212684" cy="266014"/>
            <a:chOff x="0" y="0"/>
            <a:chExt cx="283578" cy="354686"/>
          </a:xfrm>
        </p:grpSpPr>
        <p:sp>
          <p:nvSpPr>
            <p:cNvPr name="Freeform 17" id="17"/>
            <p:cNvSpPr/>
            <p:nvPr/>
          </p:nvSpPr>
          <p:spPr>
            <a:xfrm flipH="false" flipV="false" rot="0">
              <a:off x="0" y="0"/>
              <a:ext cx="283584" cy="354687"/>
            </a:xfrm>
            <a:custGeom>
              <a:avLst/>
              <a:gdLst/>
              <a:ahLst/>
              <a:cxnLst/>
              <a:rect r="r" b="b" t="t" l="l"/>
              <a:pathLst>
                <a:path h="354687" w="283584">
                  <a:moveTo>
                    <a:pt x="0" y="0"/>
                  </a:moveTo>
                  <a:lnTo>
                    <a:pt x="283584" y="0"/>
                  </a:lnTo>
                  <a:lnTo>
                    <a:pt x="283584" y="354687"/>
                  </a:lnTo>
                  <a:lnTo>
                    <a:pt x="0" y="354687"/>
                  </a:lnTo>
                  <a:close/>
                </a:path>
              </a:pathLst>
            </a:custGeom>
            <a:blipFill>
              <a:blip r:embed="rId5">
                <a:alphaModFix amt="0"/>
              </a:blip>
              <a:stretch>
                <a:fillRect l="-110473" t="0" r="-110471" b="0"/>
              </a:stretch>
            </a:blipFill>
          </p:spPr>
        </p:sp>
        <p:sp>
          <p:nvSpPr>
            <p:cNvPr name="TextBox 18" id="18"/>
            <p:cNvSpPr txBox="true"/>
            <p:nvPr/>
          </p:nvSpPr>
          <p:spPr>
            <a:xfrm>
              <a:off x="0" y="-9525"/>
              <a:ext cx="283578" cy="364211"/>
            </a:xfrm>
            <a:prstGeom prst="rect">
              <a:avLst/>
            </a:prstGeom>
          </p:spPr>
          <p:txBody>
            <a:bodyPr anchor="ctr" rtlCol="false" tIns="0" lIns="0" bIns="0" rIns="0"/>
            <a:lstStyle/>
            <a:p>
              <a:pPr algn="ctr">
                <a:lnSpc>
                  <a:spcPts val="1981"/>
                </a:lnSpc>
              </a:pPr>
              <a:r>
                <a:rPr lang="en-US" sz="1651">
                  <a:solidFill>
                    <a:srgbClr val="4C4C4D"/>
                  </a:solidFill>
                  <a:latin typeface="Crimson Pro"/>
                  <a:ea typeface="Crimson Pro"/>
                  <a:cs typeface="Crimson Pro"/>
                  <a:sym typeface="Crimson Pro"/>
                </a:rPr>
                <a:t>1</a:t>
              </a:r>
            </a:p>
          </p:txBody>
        </p:sp>
      </p:grpSp>
      <p:sp>
        <p:nvSpPr>
          <p:cNvPr name="TextBox 19" id="19"/>
          <p:cNvSpPr txBox="true"/>
          <p:nvPr/>
        </p:nvSpPr>
        <p:spPr>
          <a:xfrm rot="0">
            <a:off x="1383068" y="4404284"/>
            <a:ext cx="15925790"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Optocoupler Isolation:</a:t>
            </a:r>
            <a:r>
              <a:rPr lang="en-US" sz="1050">
                <a:solidFill>
                  <a:srgbClr val="4C4C4D"/>
                </a:solidFill>
                <a:latin typeface="Heebo"/>
                <a:ea typeface="Heebo"/>
                <a:cs typeface="Heebo"/>
                <a:sym typeface="Heebo"/>
              </a:rPr>
              <a:t> The optocoupler provides complete electrical isolation between the controller and the power circuit, with no direct electrical path between the two sides.</a:t>
            </a:r>
          </a:p>
        </p:txBody>
      </p:sp>
      <p:grpSp>
        <p:nvGrpSpPr>
          <p:cNvPr name="Group 20" id="20"/>
          <p:cNvGrpSpPr/>
          <p:nvPr/>
        </p:nvGrpSpPr>
        <p:grpSpPr>
          <a:xfrm rot="0">
            <a:off x="992991" y="4809715"/>
            <a:ext cx="319183" cy="319192"/>
            <a:chOff x="0" y="0"/>
            <a:chExt cx="425577" cy="425590"/>
          </a:xfrm>
        </p:grpSpPr>
        <p:sp>
          <p:nvSpPr>
            <p:cNvPr name="Freeform 21" id="21"/>
            <p:cNvSpPr/>
            <p:nvPr/>
          </p:nvSpPr>
          <p:spPr>
            <a:xfrm flipH="false" flipV="false" rot="0">
              <a:off x="0" y="0"/>
              <a:ext cx="425577" cy="425577"/>
            </a:xfrm>
            <a:custGeom>
              <a:avLst/>
              <a:gdLst/>
              <a:ahLst/>
              <a:cxnLst/>
              <a:rect r="r" b="b" t="t" l="l"/>
              <a:pathLst>
                <a:path h="425577" w="425577">
                  <a:moveTo>
                    <a:pt x="0" y="28321"/>
                  </a:moveTo>
                  <a:cubicBezTo>
                    <a:pt x="0" y="12700"/>
                    <a:pt x="12700" y="0"/>
                    <a:pt x="28321" y="0"/>
                  </a:cubicBezTo>
                  <a:lnTo>
                    <a:pt x="397256" y="0"/>
                  </a:lnTo>
                  <a:cubicBezTo>
                    <a:pt x="412877" y="0"/>
                    <a:pt x="425577" y="12700"/>
                    <a:pt x="425577" y="28321"/>
                  </a:cubicBezTo>
                  <a:lnTo>
                    <a:pt x="425577" y="397256"/>
                  </a:lnTo>
                  <a:cubicBezTo>
                    <a:pt x="425577" y="412877"/>
                    <a:pt x="412877" y="425577"/>
                    <a:pt x="397256" y="425577"/>
                  </a:cubicBezTo>
                  <a:lnTo>
                    <a:pt x="28321" y="425577"/>
                  </a:lnTo>
                  <a:cubicBezTo>
                    <a:pt x="12700" y="425577"/>
                    <a:pt x="0" y="412877"/>
                    <a:pt x="0" y="397256"/>
                  </a:cubicBezTo>
                  <a:close/>
                </a:path>
              </a:pathLst>
            </a:custGeom>
            <a:solidFill>
              <a:srgbClr val="F2EEEE"/>
            </a:solidFill>
          </p:spPr>
        </p:sp>
      </p:grpSp>
      <p:grpSp>
        <p:nvGrpSpPr>
          <p:cNvPr name="Group 22" id="22"/>
          <p:cNvGrpSpPr/>
          <p:nvPr/>
        </p:nvGrpSpPr>
        <p:grpSpPr>
          <a:xfrm rot="0">
            <a:off x="1046159" y="4836224"/>
            <a:ext cx="212684" cy="266014"/>
            <a:chOff x="0" y="0"/>
            <a:chExt cx="283578" cy="354686"/>
          </a:xfrm>
        </p:grpSpPr>
        <p:sp>
          <p:nvSpPr>
            <p:cNvPr name="Freeform 23" id="23"/>
            <p:cNvSpPr/>
            <p:nvPr/>
          </p:nvSpPr>
          <p:spPr>
            <a:xfrm flipH="false" flipV="false" rot="0">
              <a:off x="0" y="0"/>
              <a:ext cx="283584" cy="354687"/>
            </a:xfrm>
            <a:custGeom>
              <a:avLst/>
              <a:gdLst/>
              <a:ahLst/>
              <a:cxnLst/>
              <a:rect r="r" b="b" t="t" l="l"/>
              <a:pathLst>
                <a:path h="354687" w="283584">
                  <a:moveTo>
                    <a:pt x="0" y="0"/>
                  </a:moveTo>
                  <a:lnTo>
                    <a:pt x="283584" y="0"/>
                  </a:lnTo>
                  <a:lnTo>
                    <a:pt x="283584" y="354687"/>
                  </a:lnTo>
                  <a:lnTo>
                    <a:pt x="0" y="354687"/>
                  </a:lnTo>
                  <a:close/>
                </a:path>
              </a:pathLst>
            </a:custGeom>
            <a:blipFill>
              <a:blip r:embed="rId5">
                <a:alphaModFix amt="0"/>
              </a:blip>
              <a:stretch>
                <a:fillRect l="-110473" t="0" r="-110471" b="0"/>
              </a:stretch>
            </a:blipFill>
          </p:spPr>
        </p:sp>
        <p:sp>
          <p:nvSpPr>
            <p:cNvPr name="TextBox 24" id="24"/>
            <p:cNvSpPr txBox="true"/>
            <p:nvPr/>
          </p:nvSpPr>
          <p:spPr>
            <a:xfrm>
              <a:off x="0" y="-9525"/>
              <a:ext cx="283578" cy="364211"/>
            </a:xfrm>
            <a:prstGeom prst="rect">
              <a:avLst/>
            </a:prstGeom>
          </p:spPr>
          <p:txBody>
            <a:bodyPr anchor="ctr" rtlCol="false" tIns="0" lIns="0" bIns="0" rIns="0"/>
            <a:lstStyle/>
            <a:p>
              <a:pPr algn="ctr">
                <a:lnSpc>
                  <a:spcPts val="1981"/>
                </a:lnSpc>
              </a:pPr>
              <a:r>
                <a:rPr lang="en-US" sz="1651">
                  <a:solidFill>
                    <a:srgbClr val="4C4C4D"/>
                  </a:solidFill>
                  <a:latin typeface="Crimson Pro"/>
                  <a:ea typeface="Crimson Pro"/>
                  <a:cs typeface="Crimson Pro"/>
                  <a:sym typeface="Crimson Pro"/>
                </a:rPr>
                <a:t>2</a:t>
              </a:r>
            </a:p>
          </p:txBody>
        </p:sp>
      </p:grpSp>
      <p:sp>
        <p:nvSpPr>
          <p:cNvPr name="TextBox 25" id="25"/>
          <p:cNvSpPr txBox="true"/>
          <p:nvPr/>
        </p:nvSpPr>
        <p:spPr>
          <a:xfrm rot="0">
            <a:off x="1383068" y="4865265"/>
            <a:ext cx="15925790"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Phototransistor Switching:</a:t>
            </a:r>
            <a:r>
              <a:rPr lang="en-US" sz="1050">
                <a:solidFill>
                  <a:srgbClr val="4C4C4D"/>
                </a:solidFill>
                <a:latin typeface="Heebo"/>
                <a:ea typeface="Heebo"/>
                <a:cs typeface="Heebo"/>
                <a:sym typeface="Heebo"/>
              </a:rPr>
              <a:t> The phototransistor switches correctly in response to the LED input, demonstrating reliable optical signal transfer.</a:t>
            </a:r>
          </a:p>
        </p:txBody>
      </p:sp>
      <p:grpSp>
        <p:nvGrpSpPr>
          <p:cNvPr name="Group 26" id="26"/>
          <p:cNvGrpSpPr/>
          <p:nvPr/>
        </p:nvGrpSpPr>
        <p:grpSpPr>
          <a:xfrm rot="0">
            <a:off x="992991" y="5270697"/>
            <a:ext cx="319183" cy="319192"/>
            <a:chOff x="0" y="0"/>
            <a:chExt cx="425577" cy="425590"/>
          </a:xfrm>
        </p:grpSpPr>
        <p:sp>
          <p:nvSpPr>
            <p:cNvPr name="Freeform 27" id="27"/>
            <p:cNvSpPr/>
            <p:nvPr/>
          </p:nvSpPr>
          <p:spPr>
            <a:xfrm flipH="false" flipV="false" rot="0">
              <a:off x="0" y="0"/>
              <a:ext cx="425577" cy="425577"/>
            </a:xfrm>
            <a:custGeom>
              <a:avLst/>
              <a:gdLst/>
              <a:ahLst/>
              <a:cxnLst/>
              <a:rect r="r" b="b" t="t" l="l"/>
              <a:pathLst>
                <a:path h="425577" w="425577">
                  <a:moveTo>
                    <a:pt x="0" y="28321"/>
                  </a:moveTo>
                  <a:cubicBezTo>
                    <a:pt x="0" y="12700"/>
                    <a:pt x="12700" y="0"/>
                    <a:pt x="28321" y="0"/>
                  </a:cubicBezTo>
                  <a:lnTo>
                    <a:pt x="397256" y="0"/>
                  </a:lnTo>
                  <a:cubicBezTo>
                    <a:pt x="412877" y="0"/>
                    <a:pt x="425577" y="12700"/>
                    <a:pt x="425577" y="28321"/>
                  </a:cubicBezTo>
                  <a:lnTo>
                    <a:pt x="425577" y="397256"/>
                  </a:lnTo>
                  <a:cubicBezTo>
                    <a:pt x="425577" y="412877"/>
                    <a:pt x="412877" y="425577"/>
                    <a:pt x="397256" y="425577"/>
                  </a:cubicBezTo>
                  <a:lnTo>
                    <a:pt x="28321" y="425577"/>
                  </a:lnTo>
                  <a:cubicBezTo>
                    <a:pt x="12700" y="425577"/>
                    <a:pt x="0" y="412877"/>
                    <a:pt x="0" y="397256"/>
                  </a:cubicBezTo>
                  <a:close/>
                </a:path>
              </a:pathLst>
            </a:custGeom>
            <a:solidFill>
              <a:srgbClr val="F2EEEE"/>
            </a:solidFill>
          </p:spPr>
        </p:sp>
      </p:grpSp>
      <p:grpSp>
        <p:nvGrpSpPr>
          <p:cNvPr name="Group 28" id="28"/>
          <p:cNvGrpSpPr/>
          <p:nvPr/>
        </p:nvGrpSpPr>
        <p:grpSpPr>
          <a:xfrm rot="0">
            <a:off x="1046159" y="5297214"/>
            <a:ext cx="212684" cy="266014"/>
            <a:chOff x="0" y="0"/>
            <a:chExt cx="283578" cy="354686"/>
          </a:xfrm>
        </p:grpSpPr>
        <p:sp>
          <p:nvSpPr>
            <p:cNvPr name="Freeform 29" id="29"/>
            <p:cNvSpPr/>
            <p:nvPr/>
          </p:nvSpPr>
          <p:spPr>
            <a:xfrm flipH="false" flipV="false" rot="0">
              <a:off x="0" y="0"/>
              <a:ext cx="283584" cy="354687"/>
            </a:xfrm>
            <a:custGeom>
              <a:avLst/>
              <a:gdLst/>
              <a:ahLst/>
              <a:cxnLst/>
              <a:rect r="r" b="b" t="t" l="l"/>
              <a:pathLst>
                <a:path h="354687" w="283584">
                  <a:moveTo>
                    <a:pt x="0" y="0"/>
                  </a:moveTo>
                  <a:lnTo>
                    <a:pt x="283584" y="0"/>
                  </a:lnTo>
                  <a:lnTo>
                    <a:pt x="283584" y="354687"/>
                  </a:lnTo>
                  <a:lnTo>
                    <a:pt x="0" y="354687"/>
                  </a:lnTo>
                  <a:close/>
                </a:path>
              </a:pathLst>
            </a:custGeom>
            <a:blipFill>
              <a:blip r:embed="rId5">
                <a:alphaModFix amt="0"/>
              </a:blip>
              <a:stretch>
                <a:fillRect l="-110473" t="0" r="-110471" b="0"/>
              </a:stretch>
            </a:blipFill>
          </p:spPr>
        </p:sp>
        <p:sp>
          <p:nvSpPr>
            <p:cNvPr name="TextBox 30" id="30"/>
            <p:cNvSpPr txBox="true"/>
            <p:nvPr/>
          </p:nvSpPr>
          <p:spPr>
            <a:xfrm>
              <a:off x="0" y="-9525"/>
              <a:ext cx="283578" cy="364211"/>
            </a:xfrm>
            <a:prstGeom prst="rect">
              <a:avLst/>
            </a:prstGeom>
          </p:spPr>
          <p:txBody>
            <a:bodyPr anchor="ctr" rtlCol="false" tIns="0" lIns="0" bIns="0" rIns="0"/>
            <a:lstStyle/>
            <a:p>
              <a:pPr algn="ctr">
                <a:lnSpc>
                  <a:spcPts val="1981"/>
                </a:lnSpc>
              </a:pPr>
              <a:r>
                <a:rPr lang="en-US" sz="1651">
                  <a:solidFill>
                    <a:srgbClr val="4C4C4D"/>
                  </a:solidFill>
                  <a:latin typeface="Crimson Pro"/>
                  <a:ea typeface="Crimson Pro"/>
                  <a:cs typeface="Crimson Pro"/>
                  <a:sym typeface="Crimson Pro"/>
                </a:rPr>
                <a:t>3</a:t>
              </a:r>
            </a:p>
          </p:txBody>
        </p:sp>
      </p:grpSp>
      <p:sp>
        <p:nvSpPr>
          <p:cNvPr name="TextBox 31" id="31"/>
          <p:cNvSpPr txBox="true"/>
          <p:nvPr/>
        </p:nvSpPr>
        <p:spPr>
          <a:xfrm rot="0">
            <a:off x="1383068" y="5326247"/>
            <a:ext cx="15925790"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PMOS Gate Voltage Clamping:</a:t>
            </a:r>
            <a:r>
              <a:rPr lang="en-US" sz="1050">
                <a:solidFill>
                  <a:srgbClr val="4C4C4D"/>
                </a:solidFill>
                <a:latin typeface="Heebo"/>
                <a:ea typeface="Heebo"/>
                <a:cs typeface="Heebo"/>
                <a:sym typeface="Heebo"/>
              </a:rPr>
              <a:t> The PMOS gate voltage is clamped to approximately −12 V, ensuring safe operation within the ±20 V maximum rating.</a:t>
            </a:r>
          </a:p>
        </p:txBody>
      </p:sp>
      <p:grpSp>
        <p:nvGrpSpPr>
          <p:cNvPr name="Group 32" id="32"/>
          <p:cNvGrpSpPr/>
          <p:nvPr/>
        </p:nvGrpSpPr>
        <p:grpSpPr>
          <a:xfrm rot="0">
            <a:off x="992991" y="5731678"/>
            <a:ext cx="319183" cy="319192"/>
            <a:chOff x="0" y="0"/>
            <a:chExt cx="425577" cy="425590"/>
          </a:xfrm>
        </p:grpSpPr>
        <p:sp>
          <p:nvSpPr>
            <p:cNvPr name="Freeform 33" id="33"/>
            <p:cNvSpPr/>
            <p:nvPr/>
          </p:nvSpPr>
          <p:spPr>
            <a:xfrm flipH="false" flipV="false" rot="0">
              <a:off x="0" y="0"/>
              <a:ext cx="425577" cy="425577"/>
            </a:xfrm>
            <a:custGeom>
              <a:avLst/>
              <a:gdLst/>
              <a:ahLst/>
              <a:cxnLst/>
              <a:rect r="r" b="b" t="t" l="l"/>
              <a:pathLst>
                <a:path h="425577" w="425577">
                  <a:moveTo>
                    <a:pt x="0" y="28321"/>
                  </a:moveTo>
                  <a:cubicBezTo>
                    <a:pt x="0" y="12700"/>
                    <a:pt x="12700" y="0"/>
                    <a:pt x="28321" y="0"/>
                  </a:cubicBezTo>
                  <a:lnTo>
                    <a:pt x="397256" y="0"/>
                  </a:lnTo>
                  <a:cubicBezTo>
                    <a:pt x="412877" y="0"/>
                    <a:pt x="425577" y="12700"/>
                    <a:pt x="425577" y="28321"/>
                  </a:cubicBezTo>
                  <a:lnTo>
                    <a:pt x="425577" y="397256"/>
                  </a:lnTo>
                  <a:cubicBezTo>
                    <a:pt x="425577" y="412877"/>
                    <a:pt x="412877" y="425577"/>
                    <a:pt x="397256" y="425577"/>
                  </a:cubicBezTo>
                  <a:lnTo>
                    <a:pt x="28321" y="425577"/>
                  </a:lnTo>
                  <a:cubicBezTo>
                    <a:pt x="12700" y="425577"/>
                    <a:pt x="0" y="412877"/>
                    <a:pt x="0" y="397256"/>
                  </a:cubicBezTo>
                  <a:close/>
                </a:path>
              </a:pathLst>
            </a:custGeom>
            <a:solidFill>
              <a:srgbClr val="F2EEEE"/>
            </a:solidFill>
          </p:spPr>
        </p:sp>
      </p:grpSp>
      <p:grpSp>
        <p:nvGrpSpPr>
          <p:cNvPr name="Group 34" id="34"/>
          <p:cNvGrpSpPr/>
          <p:nvPr/>
        </p:nvGrpSpPr>
        <p:grpSpPr>
          <a:xfrm rot="0">
            <a:off x="1046159" y="5758196"/>
            <a:ext cx="212684" cy="266014"/>
            <a:chOff x="0" y="0"/>
            <a:chExt cx="283578" cy="354686"/>
          </a:xfrm>
        </p:grpSpPr>
        <p:sp>
          <p:nvSpPr>
            <p:cNvPr name="Freeform 35" id="35"/>
            <p:cNvSpPr/>
            <p:nvPr/>
          </p:nvSpPr>
          <p:spPr>
            <a:xfrm flipH="false" flipV="false" rot="0">
              <a:off x="0" y="0"/>
              <a:ext cx="283584" cy="354687"/>
            </a:xfrm>
            <a:custGeom>
              <a:avLst/>
              <a:gdLst/>
              <a:ahLst/>
              <a:cxnLst/>
              <a:rect r="r" b="b" t="t" l="l"/>
              <a:pathLst>
                <a:path h="354687" w="283584">
                  <a:moveTo>
                    <a:pt x="0" y="0"/>
                  </a:moveTo>
                  <a:lnTo>
                    <a:pt x="283584" y="0"/>
                  </a:lnTo>
                  <a:lnTo>
                    <a:pt x="283584" y="354687"/>
                  </a:lnTo>
                  <a:lnTo>
                    <a:pt x="0" y="354687"/>
                  </a:lnTo>
                  <a:close/>
                </a:path>
              </a:pathLst>
            </a:custGeom>
            <a:blipFill>
              <a:blip r:embed="rId5">
                <a:alphaModFix amt="0"/>
              </a:blip>
              <a:stretch>
                <a:fillRect l="-110473" t="0" r="-110471" b="0"/>
              </a:stretch>
            </a:blipFill>
          </p:spPr>
        </p:sp>
        <p:sp>
          <p:nvSpPr>
            <p:cNvPr name="TextBox 36" id="36"/>
            <p:cNvSpPr txBox="true"/>
            <p:nvPr/>
          </p:nvSpPr>
          <p:spPr>
            <a:xfrm>
              <a:off x="0" y="-9525"/>
              <a:ext cx="283578" cy="364211"/>
            </a:xfrm>
            <a:prstGeom prst="rect">
              <a:avLst/>
            </a:prstGeom>
          </p:spPr>
          <p:txBody>
            <a:bodyPr anchor="ctr" rtlCol="false" tIns="0" lIns="0" bIns="0" rIns="0"/>
            <a:lstStyle/>
            <a:p>
              <a:pPr algn="ctr">
                <a:lnSpc>
                  <a:spcPts val="1981"/>
                </a:lnSpc>
              </a:pPr>
              <a:r>
                <a:rPr lang="en-US" sz="1651">
                  <a:solidFill>
                    <a:srgbClr val="4C4C4D"/>
                  </a:solidFill>
                  <a:latin typeface="Crimson Pro"/>
                  <a:ea typeface="Crimson Pro"/>
                  <a:cs typeface="Crimson Pro"/>
                  <a:sym typeface="Crimson Pro"/>
                </a:rPr>
                <a:t>4</a:t>
              </a:r>
            </a:p>
          </p:txBody>
        </p:sp>
      </p:grpSp>
      <p:sp>
        <p:nvSpPr>
          <p:cNvPr name="TextBox 37" id="37"/>
          <p:cNvSpPr txBox="true"/>
          <p:nvPr/>
        </p:nvSpPr>
        <p:spPr>
          <a:xfrm rot="0">
            <a:off x="1383068" y="5787228"/>
            <a:ext cx="15925790"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PMOS Turn-ON:</a:t>
            </a:r>
            <a:r>
              <a:rPr lang="en-US" sz="1050">
                <a:solidFill>
                  <a:srgbClr val="4C4C4D"/>
                </a:solidFill>
                <a:latin typeface="Heebo"/>
                <a:ea typeface="Heebo"/>
                <a:cs typeface="Heebo"/>
                <a:sym typeface="Heebo"/>
              </a:rPr>
              <a:t> The PMOS turns ON fully when the optocoupler conducts, allowing complete connection of the 100 V supply to the load.</a:t>
            </a:r>
          </a:p>
        </p:txBody>
      </p:sp>
      <p:grpSp>
        <p:nvGrpSpPr>
          <p:cNvPr name="Group 38" id="38"/>
          <p:cNvGrpSpPr/>
          <p:nvPr/>
        </p:nvGrpSpPr>
        <p:grpSpPr>
          <a:xfrm rot="0">
            <a:off x="992991" y="6192669"/>
            <a:ext cx="319183" cy="319192"/>
            <a:chOff x="0" y="0"/>
            <a:chExt cx="425577" cy="425590"/>
          </a:xfrm>
        </p:grpSpPr>
        <p:sp>
          <p:nvSpPr>
            <p:cNvPr name="Freeform 39" id="39"/>
            <p:cNvSpPr/>
            <p:nvPr/>
          </p:nvSpPr>
          <p:spPr>
            <a:xfrm flipH="false" flipV="false" rot="0">
              <a:off x="0" y="0"/>
              <a:ext cx="425577" cy="425577"/>
            </a:xfrm>
            <a:custGeom>
              <a:avLst/>
              <a:gdLst/>
              <a:ahLst/>
              <a:cxnLst/>
              <a:rect r="r" b="b" t="t" l="l"/>
              <a:pathLst>
                <a:path h="425577" w="425577">
                  <a:moveTo>
                    <a:pt x="0" y="28321"/>
                  </a:moveTo>
                  <a:cubicBezTo>
                    <a:pt x="0" y="12700"/>
                    <a:pt x="12700" y="0"/>
                    <a:pt x="28321" y="0"/>
                  </a:cubicBezTo>
                  <a:lnTo>
                    <a:pt x="397256" y="0"/>
                  </a:lnTo>
                  <a:cubicBezTo>
                    <a:pt x="412877" y="0"/>
                    <a:pt x="425577" y="12700"/>
                    <a:pt x="425577" y="28321"/>
                  </a:cubicBezTo>
                  <a:lnTo>
                    <a:pt x="425577" y="397256"/>
                  </a:lnTo>
                  <a:cubicBezTo>
                    <a:pt x="425577" y="412877"/>
                    <a:pt x="412877" y="425577"/>
                    <a:pt x="397256" y="425577"/>
                  </a:cubicBezTo>
                  <a:lnTo>
                    <a:pt x="28321" y="425577"/>
                  </a:lnTo>
                  <a:cubicBezTo>
                    <a:pt x="12700" y="425577"/>
                    <a:pt x="0" y="412877"/>
                    <a:pt x="0" y="397256"/>
                  </a:cubicBezTo>
                  <a:close/>
                </a:path>
              </a:pathLst>
            </a:custGeom>
            <a:solidFill>
              <a:srgbClr val="F2EEEE"/>
            </a:solidFill>
          </p:spPr>
        </p:sp>
      </p:grpSp>
      <p:grpSp>
        <p:nvGrpSpPr>
          <p:cNvPr name="Group 40" id="40"/>
          <p:cNvGrpSpPr/>
          <p:nvPr/>
        </p:nvGrpSpPr>
        <p:grpSpPr>
          <a:xfrm rot="0">
            <a:off x="1046159" y="6219177"/>
            <a:ext cx="212684" cy="266014"/>
            <a:chOff x="0" y="0"/>
            <a:chExt cx="283578" cy="354686"/>
          </a:xfrm>
        </p:grpSpPr>
        <p:sp>
          <p:nvSpPr>
            <p:cNvPr name="Freeform 41" id="41"/>
            <p:cNvSpPr/>
            <p:nvPr/>
          </p:nvSpPr>
          <p:spPr>
            <a:xfrm flipH="false" flipV="false" rot="0">
              <a:off x="0" y="0"/>
              <a:ext cx="283584" cy="354687"/>
            </a:xfrm>
            <a:custGeom>
              <a:avLst/>
              <a:gdLst/>
              <a:ahLst/>
              <a:cxnLst/>
              <a:rect r="r" b="b" t="t" l="l"/>
              <a:pathLst>
                <a:path h="354687" w="283584">
                  <a:moveTo>
                    <a:pt x="0" y="0"/>
                  </a:moveTo>
                  <a:lnTo>
                    <a:pt x="283584" y="0"/>
                  </a:lnTo>
                  <a:lnTo>
                    <a:pt x="283584" y="354687"/>
                  </a:lnTo>
                  <a:lnTo>
                    <a:pt x="0" y="354687"/>
                  </a:lnTo>
                  <a:close/>
                </a:path>
              </a:pathLst>
            </a:custGeom>
            <a:blipFill>
              <a:blip r:embed="rId5">
                <a:alphaModFix amt="0"/>
              </a:blip>
              <a:stretch>
                <a:fillRect l="-110473" t="0" r="-110471" b="0"/>
              </a:stretch>
            </a:blipFill>
          </p:spPr>
        </p:sp>
        <p:sp>
          <p:nvSpPr>
            <p:cNvPr name="TextBox 42" id="42"/>
            <p:cNvSpPr txBox="true"/>
            <p:nvPr/>
          </p:nvSpPr>
          <p:spPr>
            <a:xfrm>
              <a:off x="0" y="-9525"/>
              <a:ext cx="283578" cy="364211"/>
            </a:xfrm>
            <a:prstGeom prst="rect">
              <a:avLst/>
            </a:prstGeom>
          </p:spPr>
          <p:txBody>
            <a:bodyPr anchor="ctr" rtlCol="false" tIns="0" lIns="0" bIns="0" rIns="0"/>
            <a:lstStyle/>
            <a:p>
              <a:pPr algn="ctr">
                <a:lnSpc>
                  <a:spcPts val="1981"/>
                </a:lnSpc>
              </a:pPr>
              <a:r>
                <a:rPr lang="en-US" sz="1651">
                  <a:solidFill>
                    <a:srgbClr val="4C4C4D"/>
                  </a:solidFill>
                  <a:latin typeface="Crimson Pro"/>
                  <a:ea typeface="Crimson Pro"/>
                  <a:cs typeface="Crimson Pro"/>
                  <a:sym typeface="Crimson Pro"/>
                </a:rPr>
                <a:t>5</a:t>
              </a:r>
            </a:p>
          </p:txBody>
        </p:sp>
      </p:grpSp>
      <p:sp>
        <p:nvSpPr>
          <p:cNvPr name="TextBox 43" id="43"/>
          <p:cNvSpPr txBox="true"/>
          <p:nvPr/>
        </p:nvSpPr>
        <p:spPr>
          <a:xfrm rot="0">
            <a:off x="1383068" y="6248219"/>
            <a:ext cx="15925790"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Output Voltage Response:</a:t>
            </a:r>
            <a:r>
              <a:rPr lang="en-US" sz="1050">
                <a:solidFill>
                  <a:srgbClr val="4C4C4D"/>
                </a:solidFill>
                <a:latin typeface="Heebo"/>
                <a:ea typeface="Heebo"/>
                <a:cs typeface="Heebo"/>
                <a:sym typeface="Heebo"/>
              </a:rPr>
              <a:t> The output voltage reaches the supply voltage (100 V) with minimal switching delay, confirming proper high-side switching operation.</a:t>
            </a:r>
          </a:p>
        </p:txBody>
      </p:sp>
      <p:grpSp>
        <p:nvGrpSpPr>
          <p:cNvPr name="Group 44" id="44"/>
          <p:cNvGrpSpPr/>
          <p:nvPr/>
        </p:nvGrpSpPr>
        <p:grpSpPr>
          <a:xfrm rot="0">
            <a:off x="992991" y="6653651"/>
            <a:ext cx="319183" cy="319192"/>
            <a:chOff x="0" y="0"/>
            <a:chExt cx="425577" cy="425590"/>
          </a:xfrm>
        </p:grpSpPr>
        <p:sp>
          <p:nvSpPr>
            <p:cNvPr name="Freeform 45" id="45"/>
            <p:cNvSpPr/>
            <p:nvPr/>
          </p:nvSpPr>
          <p:spPr>
            <a:xfrm flipH="false" flipV="false" rot="0">
              <a:off x="0" y="0"/>
              <a:ext cx="425577" cy="425577"/>
            </a:xfrm>
            <a:custGeom>
              <a:avLst/>
              <a:gdLst/>
              <a:ahLst/>
              <a:cxnLst/>
              <a:rect r="r" b="b" t="t" l="l"/>
              <a:pathLst>
                <a:path h="425577" w="425577">
                  <a:moveTo>
                    <a:pt x="0" y="28321"/>
                  </a:moveTo>
                  <a:cubicBezTo>
                    <a:pt x="0" y="12700"/>
                    <a:pt x="12700" y="0"/>
                    <a:pt x="28321" y="0"/>
                  </a:cubicBezTo>
                  <a:lnTo>
                    <a:pt x="397256" y="0"/>
                  </a:lnTo>
                  <a:cubicBezTo>
                    <a:pt x="412877" y="0"/>
                    <a:pt x="425577" y="12700"/>
                    <a:pt x="425577" y="28321"/>
                  </a:cubicBezTo>
                  <a:lnTo>
                    <a:pt x="425577" y="397256"/>
                  </a:lnTo>
                  <a:cubicBezTo>
                    <a:pt x="425577" y="412877"/>
                    <a:pt x="412877" y="425577"/>
                    <a:pt x="397256" y="425577"/>
                  </a:cubicBezTo>
                  <a:lnTo>
                    <a:pt x="28321" y="425577"/>
                  </a:lnTo>
                  <a:cubicBezTo>
                    <a:pt x="12700" y="425577"/>
                    <a:pt x="0" y="412877"/>
                    <a:pt x="0" y="397256"/>
                  </a:cubicBezTo>
                  <a:close/>
                </a:path>
              </a:pathLst>
            </a:custGeom>
            <a:solidFill>
              <a:srgbClr val="F2EEEE"/>
            </a:solidFill>
          </p:spPr>
        </p:sp>
      </p:grpSp>
      <p:grpSp>
        <p:nvGrpSpPr>
          <p:cNvPr name="Group 46" id="46"/>
          <p:cNvGrpSpPr/>
          <p:nvPr/>
        </p:nvGrpSpPr>
        <p:grpSpPr>
          <a:xfrm rot="0">
            <a:off x="1046159" y="6680159"/>
            <a:ext cx="212684" cy="266014"/>
            <a:chOff x="0" y="0"/>
            <a:chExt cx="283578" cy="354686"/>
          </a:xfrm>
        </p:grpSpPr>
        <p:sp>
          <p:nvSpPr>
            <p:cNvPr name="Freeform 47" id="47"/>
            <p:cNvSpPr/>
            <p:nvPr/>
          </p:nvSpPr>
          <p:spPr>
            <a:xfrm flipH="false" flipV="false" rot="0">
              <a:off x="0" y="0"/>
              <a:ext cx="283584" cy="354687"/>
            </a:xfrm>
            <a:custGeom>
              <a:avLst/>
              <a:gdLst/>
              <a:ahLst/>
              <a:cxnLst/>
              <a:rect r="r" b="b" t="t" l="l"/>
              <a:pathLst>
                <a:path h="354687" w="283584">
                  <a:moveTo>
                    <a:pt x="0" y="0"/>
                  </a:moveTo>
                  <a:lnTo>
                    <a:pt x="283584" y="0"/>
                  </a:lnTo>
                  <a:lnTo>
                    <a:pt x="283584" y="354687"/>
                  </a:lnTo>
                  <a:lnTo>
                    <a:pt x="0" y="354687"/>
                  </a:lnTo>
                  <a:close/>
                </a:path>
              </a:pathLst>
            </a:custGeom>
            <a:blipFill>
              <a:blip r:embed="rId5">
                <a:alphaModFix amt="0"/>
              </a:blip>
              <a:stretch>
                <a:fillRect l="-110473" t="0" r="-110471" b="0"/>
              </a:stretch>
            </a:blipFill>
          </p:spPr>
        </p:sp>
        <p:sp>
          <p:nvSpPr>
            <p:cNvPr name="TextBox 48" id="48"/>
            <p:cNvSpPr txBox="true"/>
            <p:nvPr/>
          </p:nvSpPr>
          <p:spPr>
            <a:xfrm>
              <a:off x="0" y="-9525"/>
              <a:ext cx="283578" cy="364211"/>
            </a:xfrm>
            <a:prstGeom prst="rect">
              <a:avLst/>
            </a:prstGeom>
          </p:spPr>
          <p:txBody>
            <a:bodyPr anchor="ctr" rtlCol="false" tIns="0" lIns="0" bIns="0" rIns="0"/>
            <a:lstStyle/>
            <a:p>
              <a:pPr algn="ctr">
                <a:lnSpc>
                  <a:spcPts val="1981"/>
                </a:lnSpc>
              </a:pPr>
              <a:r>
                <a:rPr lang="en-US" sz="1651">
                  <a:solidFill>
                    <a:srgbClr val="4C4C4D"/>
                  </a:solidFill>
                  <a:latin typeface="Crimson Pro"/>
                  <a:ea typeface="Crimson Pro"/>
                  <a:cs typeface="Crimson Pro"/>
                  <a:sym typeface="Crimson Pro"/>
                </a:rPr>
                <a:t>6</a:t>
              </a:r>
            </a:p>
          </p:txBody>
        </p:sp>
      </p:grpSp>
      <p:sp>
        <p:nvSpPr>
          <p:cNvPr name="TextBox 49" id="49"/>
          <p:cNvSpPr txBox="true"/>
          <p:nvPr/>
        </p:nvSpPr>
        <p:spPr>
          <a:xfrm rot="0">
            <a:off x="1383068" y="6709200"/>
            <a:ext cx="15925790"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Noise Immunity:</a:t>
            </a:r>
            <a:r>
              <a:rPr lang="en-US" sz="1050">
                <a:solidFill>
                  <a:srgbClr val="4C4C4D"/>
                </a:solidFill>
                <a:latin typeface="Heebo"/>
                <a:ea typeface="Heebo"/>
                <a:cs typeface="Heebo"/>
                <a:sym typeface="Heebo"/>
              </a:rPr>
              <a:t> Stable switching is achieved with reduced susceptibility to electrical noise, making the circuit suitable for industrial applications with EMI present.</a:t>
            </a:r>
          </a:p>
        </p:txBody>
      </p:sp>
      <p:grpSp>
        <p:nvGrpSpPr>
          <p:cNvPr name="Group 50" id="50"/>
          <p:cNvGrpSpPr/>
          <p:nvPr/>
        </p:nvGrpSpPr>
        <p:grpSpPr>
          <a:xfrm rot="0">
            <a:off x="992991" y="7114632"/>
            <a:ext cx="319183" cy="319192"/>
            <a:chOff x="0" y="0"/>
            <a:chExt cx="425577" cy="425590"/>
          </a:xfrm>
        </p:grpSpPr>
        <p:sp>
          <p:nvSpPr>
            <p:cNvPr name="Freeform 51" id="51"/>
            <p:cNvSpPr/>
            <p:nvPr/>
          </p:nvSpPr>
          <p:spPr>
            <a:xfrm flipH="false" flipV="false" rot="0">
              <a:off x="0" y="0"/>
              <a:ext cx="425577" cy="425577"/>
            </a:xfrm>
            <a:custGeom>
              <a:avLst/>
              <a:gdLst/>
              <a:ahLst/>
              <a:cxnLst/>
              <a:rect r="r" b="b" t="t" l="l"/>
              <a:pathLst>
                <a:path h="425577" w="425577">
                  <a:moveTo>
                    <a:pt x="0" y="28321"/>
                  </a:moveTo>
                  <a:cubicBezTo>
                    <a:pt x="0" y="12700"/>
                    <a:pt x="12700" y="0"/>
                    <a:pt x="28321" y="0"/>
                  </a:cubicBezTo>
                  <a:lnTo>
                    <a:pt x="397256" y="0"/>
                  </a:lnTo>
                  <a:cubicBezTo>
                    <a:pt x="412877" y="0"/>
                    <a:pt x="425577" y="12700"/>
                    <a:pt x="425577" y="28321"/>
                  </a:cubicBezTo>
                  <a:lnTo>
                    <a:pt x="425577" y="397256"/>
                  </a:lnTo>
                  <a:cubicBezTo>
                    <a:pt x="425577" y="412877"/>
                    <a:pt x="412877" y="425577"/>
                    <a:pt x="397256" y="425577"/>
                  </a:cubicBezTo>
                  <a:lnTo>
                    <a:pt x="28321" y="425577"/>
                  </a:lnTo>
                  <a:cubicBezTo>
                    <a:pt x="12700" y="425577"/>
                    <a:pt x="0" y="412877"/>
                    <a:pt x="0" y="397256"/>
                  </a:cubicBezTo>
                  <a:close/>
                </a:path>
              </a:pathLst>
            </a:custGeom>
            <a:solidFill>
              <a:srgbClr val="F2EEEE"/>
            </a:solidFill>
          </p:spPr>
        </p:sp>
      </p:grpSp>
      <p:grpSp>
        <p:nvGrpSpPr>
          <p:cNvPr name="Group 52" id="52"/>
          <p:cNvGrpSpPr/>
          <p:nvPr/>
        </p:nvGrpSpPr>
        <p:grpSpPr>
          <a:xfrm rot="0">
            <a:off x="1046159" y="7141140"/>
            <a:ext cx="212684" cy="266014"/>
            <a:chOff x="0" y="0"/>
            <a:chExt cx="283578" cy="354686"/>
          </a:xfrm>
        </p:grpSpPr>
        <p:sp>
          <p:nvSpPr>
            <p:cNvPr name="Freeform 53" id="53"/>
            <p:cNvSpPr/>
            <p:nvPr/>
          </p:nvSpPr>
          <p:spPr>
            <a:xfrm flipH="false" flipV="false" rot="0">
              <a:off x="0" y="0"/>
              <a:ext cx="283584" cy="354687"/>
            </a:xfrm>
            <a:custGeom>
              <a:avLst/>
              <a:gdLst/>
              <a:ahLst/>
              <a:cxnLst/>
              <a:rect r="r" b="b" t="t" l="l"/>
              <a:pathLst>
                <a:path h="354687" w="283584">
                  <a:moveTo>
                    <a:pt x="0" y="0"/>
                  </a:moveTo>
                  <a:lnTo>
                    <a:pt x="283584" y="0"/>
                  </a:lnTo>
                  <a:lnTo>
                    <a:pt x="283584" y="354687"/>
                  </a:lnTo>
                  <a:lnTo>
                    <a:pt x="0" y="354687"/>
                  </a:lnTo>
                  <a:close/>
                </a:path>
              </a:pathLst>
            </a:custGeom>
            <a:blipFill>
              <a:blip r:embed="rId5">
                <a:alphaModFix amt="0"/>
              </a:blip>
              <a:stretch>
                <a:fillRect l="-110473" t="0" r="-110471" b="0"/>
              </a:stretch>
            </a:blipFill>
          </p:spPr>
        </p:sp>
        <p:sp>
          <p:nvSpPr>
            <p:cNvPr name="TextBox 54" id="54"/>
            <p:cNvSpPr txBox="true"/>
            <p:nvPr/>
          </p:nvSpPr>
          <p:spPr>
            <a:xfrm>
              <a:off x="0" y="-9525"/>
              <a:ext cx="283578" cy="364211"/>
            </a:xfrm>
            <a:prstGeom prst="rect">
              <a:avLst/>
            </a:prstGeom>
          </p:spPr>
          <p:txBody>
            <a:bodyPr anchor="ctr" rtlCol="false" tIns="0" lIns="0" bIns="0" rIns="0"/>
            <a:lstStyle/>
            <a:p>
              <a:pPr algn="ctr">
                <a:lnSpc>
                  <a:spcPts val="1981"/>
                </a:lnSpc>
              </a:pPr>
              <a:r>
                <a:rPr lang="en-US" sz="1651">
                  <a:solidFill>
                    <a:srgbClr val="4C4C4D"/>
                  </a:solidFill>
                  <a:latin typeface="Crimson Pro"/>
                  <a:ea typeface="Crimson Pro"/>
                  <a:cs typeface="Crimson Pro"/>
                  <a:sym typeface="Crimson Pro"/>
                </a:rPr>
                <a:t>7</a:t>
              </a:r>
            </a:p>
          </p:txBody>
        </p:sp>
      </p:grpSp>
      <p:sp>
        <p:nvSpPr>
          <p:cNvPr name="TextBox 55" id="55"/>
          <p:cNvSpPr txBox="true"/>
          <p:nvPr/>
        </p:nvSpPr>
        <p:spPr>
          <a:xfrm rot="0">
            <a:off x="1383068" y="7170182"/>
            <a:ext cx="15925790"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Isolation Verification:</a:t>
            </a:r>
            <a:r>
              <a:rPr lang="en-US" sz="1050">
                <a:solidFill>
                  <a:srgbClr val="4C4C4D"/>
                </a:solidFill>
                <a:latin typeface="Heebo"/>
                <a:ea typeface="Heebo"/>
                <a:cs typeface="Heebo"/>
                <a:sym typeface="Heebo"/>
              </a:rPr>
              <a:t> The simulation confirms that the optocoupler successfully isolates the low-voltage control circuit from the high-voltage power stage, protecting the microcontroller from transients.</a:t>
            </a:r>
          </a:p>
        </p:txBody>
      </p:sp>
      <p:sp>
        <p:nvSpPr>
          <p:cNvPr name="TextBox 56" id="56"/>
          <p:cNvSpPr txBox="true"/>
          <p:nvPr/>
        </p:nvSpPr>
        <p:spPr>
          <a:xfrm rot="0">
            <a:off x="992991" y="7530636"/>
            <a:ext cx="16315868" cy="231153"/>
          </a:xfrm>
          <a:prstGeom prst="rect">
            <a:avLst/>
          </a:prstGeom>
        </p:spPr>
        <p:txBody>
          <a:bodyPr anchor="t" rtlCol="false" tIns="0" lIns="0" bIns="0" rIns="0">
            <a:spAutoFit/>
          </a:bodyPr>
          <a:lstStyle/>
          <a:p>
            <a:pPr algn="l">
              <a:lnSpc>
                <a:spcPts val="1686"/>
              </a:lnSpc>
            </a:pPr>
            <a:r>
              <a:rPr lang="en-US" sz="1351">
                <a:solidFill>
                  <a:srgbClr val="152D47"/>
                </a:solidFill>
                <a:latin typeface="Crimson Pro"/>
                <a:ea typeface="Crimson Pro"/>
                <a:cs typeface="Crimson Pro"/>
                <a:sym typeface="Crimson Pro"/>
              </a:rPr>
              <a:t>Key Performance Metrics</a:t>
            </a:r>
          </a:p>
        </p:txBody>
      </p:sp>
      <p:grpSp>
        <p:nvGrpSpPr>
          <p:cNvPr name="Group 57" id="57"/>
          <p:cNvGrpSpPr/>
          <p:nvPr/>
        </p:nvGrpSpPr>
        <p:grpSpPr>
          <a:xfrm rot="0">
            <a:off x="983456" y="7858611"/>
            <a:ext cx="8141551" cy="511026"/>
            <a:chOff x="0" y="0"/>
            <a:chExt cx="10855401" cy="681368"/>
          </a:xfrm>
        </p:grpSpPr>
        <p:sp>
          <p:nvSpPr>
            <p:cNvPr name="Freeform 58" id="58"/>
            <p:cNvSpPr/>
            <p:nvPr/>
          </p:nvSpPr>
          <p:spPr>
            <a:xfrm flipH="false" flipV="false" rot="0">
              <a:off x="0" y="0"/>
              <a:ext cx="10855325" cy="681355"/>
            </a:xfrm>
            <a:custGeom>
              <a:avLst/>
              <a:gdLst/>
              <a:ahLst/>
              <a:cxnLst/>
              <a:rect r="r" b="b" t="t" l="l"/>
              <a:pathLst>
                <a:path h="681355" w="10855325">
                  <a:moveTo>
                    <a:pt x="0" y="29464"/>
                  </a:moveTo>
                  <a:cubicBezTo>
                    <a:pt x="0" y="13208"/>
                    <a:pt x="13208" y="0"/>
                    <a:pt x="29464" y="0"/>
                  </a:cubicBezTo>
                  <a:lnTo>
                    <a:pt x="10825861" y="0"/>
                  </a:lnTo>
                  <a:cubicBezTo>
                    <a:pt x="10842117" y="0"/>
                    <a:pt x="10855325" y="13208"/>
                    <a:pt x="10855325" y="29464"/>
                  </a:cubicBezTo>
                  <a:lnTo>
                    <a:pt x="10855325" y="651891"/>
                  </a:lnTo>
                  <a:cubicBezTo>
                    <a:pt x="10855325" y="668147"/>
                    <a:pt x="10842117" y="681355"/>
                    <a:pt x="10825861" y="681355"/>
                  </a:cubicBezTo>
                  <a:lnTo>
                    <a:pt x="29464" y="681355"/>
                  </a:lnTo>
                  <a:cubicBezTo>
                    <a:pt x="13208" y="681355"/>
                    <a:pt x="0" y="668147"/>
                    <a:pt x="0" y="651891"/>
                  </a:cubicBezTo>
                  <a:close/>
                </a:path>
              </a:pathLst>
            </a:custGeom>
            <a:solidFill>
              <a:srgbClr val="FFFFFF"/>
            </a:solidFill>
            <a:ln w="19065" cap="sq">
              <a:solidFill>
                <a:srgbClr val="D8D4D4"/>
              </a:solidFill>
              <a:prstDash val="solid"/>
              <a:miter/>
            </a:ln>
          </p:spPr>
        </p:sp>
      </p:grpSp>
      <p:sp>
        <p:nvSpPr>
          <p:cNvPr name="TextBox 59" id="59"/>
          <p:cNvSpPr txBox="true"/>
          <p:nvPr/>
        </p:nvSpPr>
        <p:spPr>
          <a:xfrm rot="0">
            <a:off x="1153839" y="8038529"/>
            <a:ext cx="7800775"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Gate-to-Source Voltage Range:</a:t>
            </a:r>
            <a:r>
              <a:rPr lang="en-US" sz="1050">
                <a:solidFill>
                  <a:srgbClr val="4C4C4D"/>
                </a:solidFill>
                <a:latin typeface="Heebo"/>
                <a:ea typeface="Heebo"/>
                <a:cs typeface="Heebo"/>
                <a:sym typeface="Heebo"/>
              </a:rPr>
              <a:t> −12 V to 0 V (within ±20 V limit)</a:t>
            </a:r>
          </a:p>
        </p:txBody>
      </p:sp>
      <p:grpSp>
        <p:nvGrpSpPr>
          <p:cNvPr name="Group 60" id="60"/>
          <p:cNvGrpSpPr/>
          <p:nvPr/>
        </p:nvGrpSpPr>
        <p:grpSpPr>
          <a:xfrm rot="0">
            <a:off x="9176833" y="7858611"/>
            <a:ext cx="8141551" cy="511026"/>
            <a:chOff x="0" y="0"/>
            <a:chExt cx="10855401" cy="681368"/>
          </a:xfrm>
        </p:grpSpPr>
        <p:sp>
          <p:nvSpPr>
            <p:cNvPr name="Freeform 61" id="61"/>
            <p:cNvSpPr/>
            <p:nvPr/>
          </p:nvSpPr>
          <p:spPr>
            <a:xfrm flipH="false" flipV="false" rot="0">
              <a:off x="0" y="0"/>
              <a:ext cx="10855325" cy="681355"/>
            </a:xfrm>
            <a:custGeom>
              <a:avLst/>
              <a:gdLst/>
              <a:ahLst/>
              <a:cxnLst/>
              <a:rect r="r" b="b" t="t" l="l"/>
              <a:pathLst>
                <a:path h="681355" w="10855325">
                  <a:moveTo>
                    <a:pt x="0" y="29464"/>
                  </a:moveTo>
                  <a:cubicBezTo>
                    <a:pt x="0" y="13208"/>
                    <a:pt x="13208" y="0"/>
                    <a:pt x="29464" y="0"/>
                  </a:cubicBezTo>
                  <a:lnTo>
                    <a:pt x="10825861" y="0"/>
                  </a:lnTo>
                  <a:cubicBezTo>
                    <a:pt x="10842117" y="0"/>
                    <a:pt x="10855325" y="13208"/>
                    <a:pt x="10855325" y="29464"/>
                  </a:cubicBezTo>
                  <a:lnTo>
                    <a:pt x="10855325" y="651891"/>
                  </a:lnTo>
                  <a:cubicBezTo>
                    <a:pt x="10855325" y="668147"/>
                    <a:pt x="10842117" y="681355"/>
                    <a:pt x="10825861" y="681355"/>
                  </a:cubicBezTo>
                  <a:lnTo>
                    <a:pt x="29464" y="681355"/>
                  </a:lnTo>
                  <a:cubicBezTo>
                    <a:pt x="13208" y="681355"/>
                    <a:pt x="0" y="668147"/>
                    <a:pt x="0" y="651891"/>
                  </a:cubicBezTo>
                  <a:close/>
                </a:path>
              </a:pathLst>
            </a:custGeom>
            <a:solidFill>
              <a:srgbClr val="FFFFFF"/>
            </a:solidFill>
            <a:ln w="19065" cap="sq">
              <a:solidFill>
                <a:srgbClr val="D8D4D4"/>
              </a:solidFill>
              <a:prstDash val="solid"/>
              <a:miter/>
            </a:ln>
          </p:spPr>
        </p:sp>
      </p:grpSp>
      <p:sp>
        <p:nvSpPr>
          <p:cNvPr name="TextBox 62" id="62"/>
          <p:cNvSpPr txBox="true"/>
          <p:nvPr/>
        </p:nvSpPr>
        <p:spPr>
          <a:xfrm rot="0">
            <a:off x="9347225" y="8038529"/>
            <a:ext cx="7800775"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Optocoupler Propagation Delay:</a:t>
            </a:r>
            <a:r>
              <a:rPr lang="en-US" sz="1050">
                <a:solidFill>
                  <a:srgbClr val="4C4C4D"/>
                </a:solidFill>
                <a:latin typeface="Heebo"/>
                <a:ea typeface="Heebo"/>
                <a:cs typeface="Heebo"/>
                <a:sym typeface="Heebo"/>
              </a:rPr>
              <a:t> Minimal (typical 2-5 μs for PC817)</a:t>
            </a:r>
          </a:p>
        </p:txBody>
      </p:sp>
      <p:grpSp>
        <p:nvGrpSpPr>
          <p:cNvPr name="Group 63" id="63"/>
          <p:cNvGrpSpPr/>
          <p:nvPr/>
        </p:nvGrpSpPr>
        <p:grpSpPr>
          <a:xfrm rot="0">
            <a:off x="983456" y="8421472"/>
            <a:ext cx="8141551" cy="511026"/>
            <a:chOff x="0" y="0"/>
            <a:chExt cx="10855401" cy="681368"/>
          </a:xfrm>
        </p:grpSpPr>
        <p:sp>
          <p:nvSpPr>
            <p:cNvPr name="Freeform 64" id="64"/>
            <p:cNvSpPr/>
            <p:nvPr/>
          </p:nvSpPr>
          <p:spPr>
            <a:xfrm flipH="false" flipV="false" rot="0">
              <a:off x="0" y="0"/>
              <a:ext cx="10855325" cy="681355"/>
            </a:xfrm>
            <a:custGeom>
              <a:avLst/>
              <a:gdLst/>
              <a:ahLst/>
              <a:cxnLst/>
              <a:rect r="r" b="b" t="t" l="l"/>
              <a:pathLst>
                <a:path h="681355" w="10855325">
                  <a:moveTo>
                    <a:pt x="0" y="29464"/>
                  </a:moveTo>
                  <a:cubicBezTo>
                    <a:pt x="0" y="13208"/>
                    <a:pt x="13208" y="0"/>
                    <a:pt x="29464" y="0"/>
                  </a:cubicBezTo>
                  <a:lnTo>
                    <a:pt x="10825861" y="0"/>
                  </a:lnTo>
                  <a:cubicBezTo>
                    <a:pt x="10842117" y="0"/>
                    <a:pt x="10855325" y="13208"/>
                    <a:pt x="10855325" y="29464"/>
                  </a:cubicBezTo>
                  <a:lnTo>
                    <a:pt x="10855325" y="651891"/>
                  </a:lnTo>
                  <a:cubicBezTo>
                    <a:pt x="10855325" y="668147"/>
                    <a:pt x="10842117" y="681355"/>
                    <a:pt x="10825861" y="681355"/>
                  </a:cubicBezTo>
                  <a:lnTo>
                    <a:pt x="29464" y="681355"/>
                  </a:lnTo>
                  <a:cubicBezTo>
                    <a:pt x="13208" y="681355"/>
                    <a:pt x="0" y="668147"/>
                    <a:pt x="0" y="651891"/>
                  </a:cubicBezTo>
                  <a:close/>
                </a:path>
              </a:pathLst>
            </a:custGeom>
            <a:solidFill>
              <a:srgbClr val="FFFFFF"/>
            </a:solidFill>
            <a:ln w="19065" cap="sq">
              <a:solidFill>
                <a:srgbClr val="D8D4D4"/>
              </a:solidFill>
              <a:prstDash val="solid"/>
              <a:miter/>
            </a:ln>
          </p:spPr>
        </p:sp>
      </p:grpSp>
      <p:sp>
        <p:nvSpPr>
          <p:cNvPr name="TextBox 65" id="65"/>
          <p:cNvSpPr txBox="true"/>
          <p:nvPr/>
        </p:nvSpPr>
        <p:spPr>
          <a:xfrm rot="0">
            <a:off x="1153839" y="8601389"/>
            <a:ext cx="7800775"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Output Voltage:</a:t>
            </a:r>
            <a:r>
              <a:rPr lang="en-US" sz="1050">
                <a:solidFill>
                  <a:srgbClr val="4C4C4D"/>
                </a:solidFill>
                <a:latin typeface="Heebo"/>
                <a:ea typeface="Heebo"/>
                <a:cs typeface="Heebo"/>
                <a:sym typeface="Heebo"/>
              </a:rPr>
              <a:t> Reaches 100 V when PMOS is ON</a:t>
            </a:r>
          </a:p>
        </p:txBody>
      </p:sp>
      <p:grpSp>
        <p:nvGrpSpPr>
          <p:cNvPr name="Group 66" id="66"/>
          <p:cNvGrpSpPr/>
          <p:nvPr/>
        </p:nvGrpSpPr>
        <p:grpSpPr>
          <a:xfrm rot="0">
            <a:off x="9176833" y="8421472"/>
            <a:ext cx="8141551" cy="511026"/>
            <a:chOff x="0" y="0"/>
            <a:chExt cx="10855401" cy="681368"/>
          </a:xfrm>
        </p:grpSpPr>
        <p:sp>
          <p:nvSpPr>
            <p:cNvPr name="Freeform 67" id="67"/>
            <p:cNvSpPr/>
            <p:nvPr/>
          </p:nvSpPr>
          <p:spPr>
            <a:xfrm flipH="false" flipV="false" rot="0">
              <a:off x="0" y="0"/>
              <a:ext cx="10855325" cy="681355"/>
            </a:xfrm>
            <a:custGeom>
              <a:avLst/>
              <a:gdLst/>
              <a:ahLst/>
              <a:cxnLst/>
              <a:rect r="r" b="b" t="t" l="l"/>
              <a:pathLst>
                <a:path h="681355" w="10855325">
                  <a:moveTo>
                    <a:pt x="0" y="29464"/>
                  </a:moveTo>
                  <a:cubicBezTo>
                    <a:pt x="0" y="13208"/>
                    <a:pt x="13208" y="0"/>
                    <a:pt x="29464" y="0"/>
                  </a:cubicBezTo>
                  <a:lnTo>
                    <a:pt x="10825861" y="0"/>
                  </a:lnTo>
                  <a:cubicBezTo>
                    <a:pt x="10842117" y="0"/>
                    <a:pt x="10855325" y="13208"/>
                    <a:pt x="10855325" y="29464"/>
                  </a:cubicBezTo>
                  <a:lnTo>
                    <a:pt x="10855325" y="651891"/>
                  </a:lnTo>
                  <a:cubicBezTo>
                    <a:pt x="10855325" y="668147"/>
                    <a:pt x="10842117" y="681355"/>
                    <a:pt x="10825861" y="681355"/>
                  </a:cubicBezTo>
                  <a:lnTo>
                    <a:pt x="29464" y="681355"/>
                  </a:lnTo>
                  <a:cubicBezTo>
                    <a:pt x="13208" y="681355"/>
                    <a:pt x="0" y="668147"/>
                    <a:pt x="0" y="651891"/>
                  </a:cubicBezTo>
                  <a:close/>
                </a:path>
              </a:pathLst>
            </a:custGeom>
            <a:solidFill>
              <a:srgbClr val="FFFFFF"/>
            </a:solidFill>
            <a:ln w="19065" cap="sq">
              <a:solidFill>
                <a:srgbClr val="D8D4D4"/>
              </a:solidFill>
              <a:prstDash val="solid"/>
              <a:miter/>
            </a:ln>
          </p:spPr>
        </p:sp>
      </p:grpSp>
      <p:sp>
        <p:nvSpPr>
          <p:cNvPr name="TextBox 68" id="68"/>
          <p:cNvSpPr txBox="true"/>
          <p:nvPr/>
        </p:nvSpPr>
        <p:spPr>
          <a:xfrm rot="0">
            <a:off x="9347225" y="8601389"/>
            <a:ext cx="7800775"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Load Current:</a:t>
            </a:r>
            <a:r>
              <a:rPr lang="en-US" sz="1050">
                <a:solidFill>
                  <a:srgbClr val="4C4C4D"/>
                </a:solidFill>
                <a:latin typeface="Heebo"/>
                <a:ea typeface="Heebo"/>
                <a:cs typeface="Heebo"/>
                <a:sym typeface="Heebo"/>
              </a:rPr>
              <a:t> Full conduction when PMOS is ON</a:t>
            </a:r>
          </a:p>
        </p:txBody>
      </p:sp>
      <p:grpSp>
        <p:nvGrpSpPr>
          <p:cNvPr name="Group 69" id="69"/>
          <p:cNvGrpSpPr/>
          <p:nvPr/>
        </p:nvGrpSpPr>
        <p:grpSpPr>
          <a:xfrm rot="0">
            <a:off x="983456" y="8984332"/>
            <a:ext cx="8141551" cy="511026"/>
            <a:chOff x="0" y="0"/>
            <a:chExt cx="10855401" cy="681368"/>
          </a:xfrm>
        </p:grpSpPr>
        <p:sp>
          <p:nvSpPr>
            <p:cNvPr name="Freeform 70" id="70"/>
            <p:cNvSpPr/>
            <p:nvPr/>
          </p:nvSpPr>
          <p:spPr>
            <a:xfrm flipH="false" flipV="false" rot="0">
              <a:off x="0" y="0"/>
              <a:ext cx="10855325" cy="681355"/>
            </a:xfrm>
            <a:custGeom>
              <a:avLst/>
              <a:gdLst/>
              <a:ahLst/>
              <a:cxnLst/>
              <a:rect r="r" b="b" t="t" l="l"/>
              <a:pathLst>
                <a:path h="681355" w="10855325">
                  <a:moveTo>
                    <a:pt x="0" y="29464"/>
                  </a:moveTo>
                  <a:cubicBezTo>
                    <a:pt x="0" y="13208"/>
                    <a:pt x="13208" y="0"/>
                    <a:pt x="29464" y="0"/>
                  </a:cubicBezTo>
                  <a:lnTo>
                    <a:pt x="10825861" y="0"/>
                  </a:lnTo>
                  <a:cubicBezTo>
                    <a:pt x="10842117" y="0"/>
                    <a:pt x="10855325" y="13208"/>
                    <a:pt x="10855325" y="29464"/>
                  </a:cubicBezTo>
                  <a:lnTo>
                    <a:pt x="10855325" y="651891"/>
                  </a:lnTo>
                  <a:cubicBezTo>
                    <a:pt x="10855325" y="668147"/>
                    <a:pt x="10842117" y="681355"/>
                    <a:pt x="10825861" y="681355"/>
                  </a:cubicBezTo>
                  <a:lnTo>
                    <a:pt x="29464" y="681355"/>
                  </a:lnTo>
                  <a:cubicBezTo>
                    <a:pt x="13208" y="681355"/>
                    <a:pt x="0" y="668147"/>
                    <a:pt x="0" y="651891"/>
                  </a:cubicBezTo>
                  <a:close/>
                </a:path>
              </a:pathLst>
            </a:custGeom>
            <a:solidFill>
              <a:srgbClr val="FFFFFF"/>
            </a:solidFill>
            <a:ln w="19065" cap="sq">
              <a:solidFill>
                <a:srgbClr val="D8D4D4"/>
              </a:solidFill>
              <a:prstDash val="solid"/>
              <a:miter/>
            </a:ln>
          </p:spPr>
        </p:sp>
      </p:grpSp>
      <p:sp>
        <p:nvSpPr>
          <p:cNvPr name="TextBox 71" id="71"/>
          <p:cNvSpPr txBox="true"/>
          <p:nvPr/>
        </p:nvSpPr>
        <p:spPr>
          <a:xfrm rot="0">
            <a:off x="1153839" y="9164250"/>
            <a:ext cx="7800775"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Isolation Voltage:</a:t>
            </a:r>
            <a:r>
              <a:rPr lang="en-US" sz="1050">
                <a:solidFill>
                  <a:srgbClr val="4C4C4D"/>
                </a:solidFill>
                <a:latin typeface="Heebo"/>
                <a:ea typeface="Heebo"/>
                <a:cs typeface="Heebo"/>
                <a:sym typeface="Heebo"/>
              </a:rPr>
              <a:t> Complete galvanic isolation between circuits</a:t>
            </a:r>
          </a:p>
        </p:txBody>
      </p:sp>
      <p:grpSp>
        <p:nvGrpSpPr>
          <p:cNvPr name="Group 72" id="72"/>
          <p:cNvGrpSpPr/>
          <p:nvPr/>
        </p:nvGrpSpPr>
        <p:grpSpPr>
          <a:xfrm rot="0">
            <a:off x="9176833" y="8984332"/>
            <a:ext cx="8141551" cy="511026"/>
            <a:chOff x="0" y="0"/>
            <a:chExt cx="10855401" cy="681368"/>
          </a:xfrm>
        </p:grpSpPr>
        <p:sp>
          <p:nvSpPr>
            <p:cNvPr name="Freeform 73" id="73"/>
            <p:cNvSpPr/>
            <p:nvPr/>
          </p:nvSpPr>
          <p:spPr>
            <a:xfrm flipH="false" flipV="false" rot="0">
              <a:off x="0" y="0"/>
              <a:ext cx="10855325" cy="681355"/>
            </a:xfrm>
            <a:custGeom>
              <a:avLst/>
              <a:gdLst/>
              <a:ahLst/>
              <a:cxnLst/>
              <a:rect r="r" b="b" t="t" l="l"/>
              <a:pathLst>
                <a:path h="681355" w="10855325">
                  <a:moveTo>
                    <a:pt x="0" y="29464"/>
                  </a:moveTo>
                  <a:cubicBezTo>
                    <a:pt x="0" y="13208"/>
                    <a:pt x="13208" y="0"/>
                    <a:pt x="29464" y="0"/>
                  </a:cubicBezTo>
                  <a:lnTo>
                    <a:pt x="10825861" y="0"/>
                  </a:lnTo>
                  <a:cubicBezTo>
                    <a:pt x="10842117" y="0"/>
                    <a:pt x="10855325" y="13208"/>
                    <a:pt x="10855325" y="29464"/>
                  </a:cubicBezTo>
                  <a:lnTo>
                    <a:pt x="10855325" y="651891"/>
                  </a:lnTo>
                  <a:cubicBezTo>
                    <a:pt x="10855325" y="668147"/>
                    <a:pt x="10842117" y="681355"/>
                    <a:pt x="10825861" y="681355"/>
                  </a:cubicBezTo>
                  <a:lnTo>
                    <a:pt x="29464" y="681355"/>
                  </a:lnTo>
                  <a:cubicBezTo>
                    <a:pt x="13208" y="681355"/>
                    <a:pt x="0" y="668147"/>
                    <a:pt x="0" y="651891"/>
                  </a:cubicBezTo>
                  <a:close/>
                </a:path>
              </a:pathLst>
            </a:custGeom>
            <a:solidFill>
              <a:srgbClr val="FFFFFF"/>
            </a:solidFill>
            <a:ln w="19065" cap="sq">
              <a:solidFill>
                <a:srgbClr val="D8D4D4"/>
              </a:solidFill>
              <a:prstDash val="solid"/>
              <a:miter/>
            </a:ln>
          </p:spPr>
        </p:sp>
      </p:grpSp>
      <p:sp>
        <p:nvSpPr>
          <p:cNvPr name="TextBox 74" id="74"/>
          <p:cNvSpPr txBox="true"/>
          <p:nvPr/>
        </p:nvSpPr>
        <p:spPr>
          <a:xfrm rot="0">
            <a:off x="9347225" y="9164250"/>
            <a:ext cx="7800775"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Noise Suppression:</a:t>
            </a:r>
            <a:r>
              <a:rPr lang="en-US" sz="1050">
                <a:solidFill>
                  <a:srgbClr val="4C4C4D"/>
                </a:solidFill>
                <a:latin typeface="Heebo"/>
                <a:ea typeface="Heebo"/>
                <a:cs typeface="Heebo"/>
                <a:sym typeface="Heebo"/>
              </a:rPr>
              <a:t> Effective filtering by C2 (100 nF)</a:t>
            </a:r>
          </a:p>
        </p:txBody>
      </p:sp>
      <p:sp>
        <p:nvSpPr>
          <p:cNvPr name="TextBox 75" id="75"/>
          <p:cNvSpPr txBox="true"/>
          <p:nvPr/>
        </p:nvSpPr>
        <p:spPr>
          <a:xfrm rot="0">
            <a:off x="992991" y="9582645"/>
            <a:ext cx="16315868" cy="231153"/>
          </a:xfrm>
          <a:prstGeom prst="rect">
            <a:avLst/>
          </a:prstGeom>
        </p:spPr>
        <p:txBody>
          <a:bodyPr anchor="t" rtlCol="false" tIns="0" lIns="0" bIns="0" rIns="0">
            <a:spAutoFit/>
          </a:bodyPr>
          <a:lstStyle/>
          <a:p>
            <a:pPr algn="l">
              <a:lnSpc>
                <a:spcPts val="1686"/>
              </a:lnSpc>
            </a:pPr>
            <a:r>
              <a:rPr lang="en-US" sz="1351">
                <a:solidFill>
                  <a:srgbClr val="152D47"/>
                </a:solidFill>
                <a:latin typeface="Crimson Pro"/>
                <a:ea typeface="Crimson Pro"/>
                <a:cs typeface="Crimson Pro"/>
                <a:sym typeface="Crimson Pro"/>
              </a:rPr>
              <a:t>Conclusion</a:t>
            </a:r>
          </a:p>
        </p:txBody>
      </p:sp>
      <p:sp>
        <p:nvSpPr>
          <p:cNvPr name="TextBox 76" id="76"/>
          <p:cNvSpPr txBox="true"/>
          <p:nvPr/>
        </p:nvSpPr>
        <p:spPr>
          <a:xfrm rot="0">
            <a:off x="992991" y="9929670"/>
            <a:ext cx="16315868" cy="33096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The simulation confirms that the optocoupler-based PMOS driver successfully provides galvanic isolation while maintaining reliable high-side switching operation. The circuit demonstrates excellent noise immunity and protection for the microcontroller in industrial environments.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0F0F1"/>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6" id="6"/>
          <p:cNvGrpSpPr/>
          <p:nvPr/>
        </p:nvGrpSpPr>
        <p:grpSpPr>
          <a:xfrm rot="0">
            <a:off x="16628307" y="9846183"/>
            <a:ext cx="1609020" cy="384353"/>
            <a:chOff x="0" y="0"/>
            <a:chExt cx="2145360" cy="512470"/>
          </a:xfrm>
        </p:grpSpPr>
        <p:sp>
          <p:nvSpPr>
            <p:cNvPr name="Freeform 7" id="7" descr="preencoded.png">
              <a:hlinkClick r:id="rId3" tooltip="https://gamma.app/?utm_source=made-with-gamma"/>
            </p:cNvPr>
            <p:cNvSpPr/>
            <p:nvPr/>
          </p:nvSpPr>
          <p:spPr>
            <a:xfrm flipH="false" flipV="false" rot="0">
              <a:off x="0" y="0"/>
              <a:ext cx="2145411" cy="512445"/>
            </a:xfrm>
            <a:custGeom>
              <a:avLst/>
              <a:gdLst/>
              <a:ahLst/>
              <a:cxnLst/>
              <a:rect r="r" b="b" t="t" l="l"/>
              <a:pathLst>
                <a:path h="512445" w="2145411">
                  <a:moveTo>
                    <a:pt x="0" y="0"/>
                  </a:moveTo>
                  <a:lnTo>
                    <a:pt x="2145411" y="0"/>
                  </a:lnTo>
                  <a:lnTo>
                    <a:pt x="2145411" y="512445"/>
                  </a:lnTo>
                  <a:lnTo>
                    <a:pt x="0" y="512445"/>
                  </a:lnTo>
                  <a:lnTo>
                    <a:pt x="0" y="0"/>
                  </a:lnTo>
                  <a:close/>
                </a:path>
              </a:pathLst>
            </a:custGeom>
            <a:blipFill>
              <a:blip r:embed="rId4"/>
              <a:stretch>
                <a:fillRect l="0" t="0" r="2" b="-4"/>
              </a:stretch>
            </a:blipFill>
          </p:spPr>
        </p:sp>
      </p:grpSp>
      <p:sp>
        <p:nvSpPr>
          <p:cNvPr name="TextBox 8" id="8"/>
          <p:cNvSpPr txBox="true"/>
          <p:nvPr/>
        </p:nvSpPr>
        <p:spPr>
          <a:xfrm rot="0">
            <a:off x="992991" y="751742"/>
            <a:ext cx="16315868" cy="471830"/>
          </a:xfrm>
          <a:prstGeom prst="rect">
            <a:avLst/>
          </a:prstGeom>
        </p:spPr>
        <p:txBody>
          <a:bodyPr anchor="t" rtlCol="false" tIns="0" lIns="0" bIns="0" rIns="0">
            <a:spAutoFit/>
          </a:bodyPr>
          <a:lstStyle/>
          <a:p>
            <a:pPr algn="l">
              <a:lnSpc>
                <a:spcPts val="3465"/>
              </a:lnSpc>
            </a:pPr>
            <a:r>
              <a:rPr lang="en-US" sz="2777">
                <a:solidFill>
                  <a:srgbClr val="152D47"/>
                </a:solidFill>
                <a:latin typeface="Crimson Pro"/>
                <a:ea typeface="Crimson Pro"/>
                <a:cs typeface="Crimson Pro"/>
                <a:sym typeface="Crimson Pro"/>
              </a:rPr>
              <a:t>Advantages, Limitations and Transition to Circuit 3</a:t>
            </a:r>
          </a:p>
        </p:txBody>
      </p:sp>
      <p:sp>
        <p:nvSpPr>
          <p:cNvPr name="TextBox 9" id="9"/>
          <p:cNvSpPr txBox="true"/>
          <p:nvPr/>
        </p:nvSpPr>
        <p:spPr>
          <a:xfrm rot="0">
            <a:off x="992991" y="1232830"/>
            <a:ext cx="16315868" cy="285064"/>
          </a:xfrm>
          <a:prstGeom prst="rect">
            <a:avLst/>
          </a:prstGeom>
        </p:spPr>
        <p:txBody>
          <a:bodyPr anchor="t" rtlCol="false" tIns="0" lIns="0" bIns="0" rIns="0">
            <a:spAutoFit/>
          </a:bodyPr>
          <a:lstStyle/>
          <a:p>
            <a:pPr algn="l">
              <a:lnSpc>
                <a:spcPts val="2060"/>
              </a:lnSpc>
            </a:pPr>
            <a:r>
              <a:rPr lang="en-US" sz="1651">
                <a:solidFill>
                  <a:srgbClr val="152D47"/>
                </a:solidFill>
                <a:latin typeface="Crimson Pro"/>
                <a:ea typeface="Crimson Pro"/>
                <a:cs typeface="Crimson Pro"/>
                <a:sym typeface="Crimson Pro"/>
              </a:rPr>
              <a:t>Advantages</a:t>
            </a:r>
          </a:p>
        </p:txBody>
      </p:sp>
      <p:grpSp>
        <p:nvGrpSpPr>
          <p:cNvPr name="Group 10" id="10"/>
          <p:cNvGrpSpPr/>
          <p:nvPr/>
        </p:nvGrpSpPr>
        <p:grpSpPr>
          <a:xfrm rot="0">
            <a:off x="983456" y="1614707"/>
            <a:ext cx="8141551" cy="511026"/>
            <a:chOff x="0" y="0"/>
            <a:chExt cx="10855401" cy="681368"/>
          </a:xfrm>
        </p:grpSpPr>
        <p:sp>
          <p:nvSpPr>
            <p:cNvPr name="Freeform 11" id="11"/>
            <p:cNvSpPr/>
            <p:nvPr/>
          </p:nvSpPr>
          <p:spPr>
            <a:xfrm flipH="false" flipV="false" rot="0">
              <a:off x="0" y="0"/>
              <a:ext cx="10855325" cy="681355"/>
            </a:xfrm>
            <a:custGeom>
              <a:avLst/>
              <a:gdLst/>
              <a:ahLst/>
              <a:cxnLst/>
              <a:rect r="r" b="b" t="t" l="l"/>
              <a:pathLst>
                <a:path h="681355" w="10855325">
                  <a:moveTo>
                    <a:pt x="0" y="29464"/>
                  </a:moveTo>
                  <a:cubicBezTo>
                    <a:pt x="0" y="13208"/>
                    <a:pt x="13208" y="0"/>
                    <a:pt x="29464" y="0"/>
                  </a:cubicBezTo>
                  <a:lnTo>
                    <a:pt x="10825861" y="0"/>
                  </a:lnTo>
                  <a:cubicBezTo>
                    <a:pt x="10842117" y="0"/>
                    <a:pt x="10855325" y="13208"/>
                    <a:pt x="10855325" y="29464"/>
                  </a:cubicBezTo>
                  <a:lnTo>
                    <a:pt x="10855325" y="651891"/>
                  </a:lnTo>
                  <a:cubicBezTo>
                    <a:pt x="10855325" y="668147"/>
                    <a:pt x="10842117" y="681355"/>
                    <a:pt x="10825861" y="681355"/>
                  </a:cubicBezTo>
                  <a:lnTo>
                    <a:pt x="29464" y="681355"/>
                  </a:lnTo>
                  <a:cubicBezTo>
                    <a:pt x="13208" y="681355"/>
                    <a:pt x="0" y="668147"/>
                    <a:pt x="0" y="651891"/>
                  </a:cubicBezTo>
                  <a:close/>
                </a:path>
              </a:pathLst>
            </a:custGeom>
            <a:solidFill>
              <a:srgbClr val="FFFFFF"/>
            </a:solidFill>
            <a:ln w="19065" cap="sq">
              <a:solidFill>
                <a:srgbClr val="D8D4D4"/>
              </a:solidFill>
              <a:prstDash val="solid"/>
              <a:miter/>
            </a:ln>
          </p:spPr>
        </p:sp>
      </p:grpSp>
      <p:sp>
        <p:nvSpPr>
          <p:cNvPr name="TextBox 12" id="12"/>
          <p:cNvSpPr txBox="true"/>
          <p:nvPr/>
        </p:nvSpPr>
        <p:spPr>
          <a:xfrm rot="0">
            <a:off x="1153839" y="1794624"/>
            <a:ext cx="7800775"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Provides complete galvanic isolation</a:t>
            </a:r>
            <a:r>
              <a:rPr lang="en-US" sz="1050">
                <a:solidFill>
                  <a:srgbClr val="4C4C4D"/>
                </a:solidFill>
                <a:latin typeface="Heebo"/>
                <a:ea typeface="Heebo"/>
                <a:cs typeface="Heebo"/>
                <a:sym typeface="Heebo"/>
              </a:rPr>
              <a:t> between the control and power circuits</a:t>
            </a:r>
          </a:p>
        </p:txBody>
      </p:sp>
      <p:grpSp>
        <p:nvGrpSpPr>
          <p:cNvPr name="Group 13" id="13"/>
          <p:cNvGrpSpPr/>
          <p:nvPr/>
        </p:nvGrpSpPr>
        <p:grpSpPr>
          <a:xfrm rot="0">
            <a:off x="9176833" y="1614707"/>
            <a:ext cx="8141551" cy="511026"/>
            <a:chOff x="0" y="0"/>
            <a:chExt cx="10855401" cy="681368"/>
          </a:xfrm>
        </p:grpSpPr>
        <p:sp>
          <p:nvSpPr>
            <p:cNvPr name="Freeform 14" id="14"/>
            <p:cNvSpPr/>
            <p:nvPr/>
          </p:nvSpPr>
          <p:spPr>
            <a:xfrm flipH="false" flipV="false" rot="0">
              <a:off x="0" y="0"/>
              <a:ext cx="10855325" cy="681355"/>
            </a:xfrm>
            <a:custGeom>
              <a:avLst/>
              <a:gdLst/>
              <a:ahLst/>
              <a:cxnLst/>
              <a:rect r="r" b="b" t="t" l="l"/>
              <a:pathLst>
                <a:path h="681355" w="10855325">
                  <a:moveTo>
                    <a:pt x="0" y="29464"/>
                  </a:moveTo>
                  <a:cubicBezTo>
                    <a:pt x="0" y="13208"/>
                    <a:pt x="13208" y="0"/>
                    <a:pt x="29464" y="0"/>
                  </a:cubicBezTo>
                  <a:lnTo>
                    <a:pt x="10825861" y="0"/>
                  </a:lnTo>
                  <a:cubicBezTo>
                    <a:pt x="10842117" y="0"/>
                    <a:pt x="10855325" y="13208"/>
                    <a:pt x="10855325" y="29464"/>
                  </a:cubicBezTo>
                  <a:lnTo>
                    <a:pt x="10855325" y="651891"/>
                  </a:lnTo>
                  <a:cubicBezTo>
                    <a:pt x="10855325" y="668147"/>
                    <a:pt x="10842117" y="681355"/>
                    <a:pt x="10825861" y="681355"/>
                  </a:cubicBezTo>
                  <a:lnTo>
                    <a:pt x="29464" y="681355"/>
                  </a:lnTo>
                  <a:cubicBezTo>
                    <a:pt x="13208" y="681355"/>
                    <a:pt x="0" y="668147"/>
                    <a:pt x="0" y="651891"/>
                  </a:cubicBezTo>
                  <a:close/>
                </a:path>
              </a:pathLst>
            </a:custGeom>
            <a:solidFill>
              <a:srgbClr val="FFFFFF"/>
            </a:solidFill>
            <a:ln w="19065" cap="sq">
              <a:solidFill>
                <a:srgbClr val="D8D4D4"/>
              </a:solidFill>
              <a:prstDash val="solid"/>
              <a:miter/>
            </a:ln>
          </p:spPr>
        </p:sp>
      </p:grpSp>
      <p:sp>
        <p:nvSpPr>
          <p:cNvPr name="TextBox 15" id="15"/>
          <p:cNvSpPr txBox="true"/>
          <p:nvPr/>
        </p:nvSpPr>
        <p:spPr>
          <a:xfrm rot="0">
            <a:off x="9347225" y="1794624"/>
            <a:ext cx="7800775"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Protects the microcontroller</a:t>
            </a:r>
            <a:r>
              <a:rPr lang="en-US" sz="1050">
                <a:solidFill>
                  <a:srgbClr val="4C4C4D"/>
                </a:solidFill>
                <a:latin typeface="Heebo"/>
                <a:ea typeface="Heebo"/>
                <a:cs typeface="Heebo"/>
                <a:sym typeface="Heebo"/>
              </a:rPr>
              <a:t> from high-voltage faults and transients</a:t>
            </a:r>
          </a:p>
        </p:txBody>
      </p:sp>
      <p:grpSp>
        <p:nvGrpSpPr>
          <p:cNvPr name="Group 16" id="16"/>
          <p:cNvGrpSpPr/>
          <p:nvPr/>
        </p:nvGrpSpPr>
        <p:grpSpPr>
          <a:xfrm rot="0">
            <a:off x="983456" y="2177567"/>
            <a:ext cx="8141551" cy="511026"/>
            <a:chOff x="0" y="0"/>
            <a:chExt cx="10855401" cy="681368"/>
          </a:xfrm>
        </p:grpSpPr>
        <p:sp>
          <p:nvSpPr>
            <p:cNvPr name="Freeform 17" id="17"/>
            <p:cNvSpPr/>
            <p:nvPr/>
          </p:nvSpPr>
          <p:spPr>
            <a:xfrm flipH="false" flipV="false" rot="0">
              <a:off x="0" y="0"/>
              <a:ext cx="10855325" cy="681355"/>
            </a:xfrm>
            <a:custGeom>
              <a:avLst/>
              <a:gdLst/>
              <a:ahLst/>
              <a:cxnLst/>
              <a:rect r="r" b="b" t="t" l="l"/>
              <a:pathLst>
                <a:path h="681355" w="10855325">
                  <a:moveTo>
                    <a:pt x="0" y="29464"/>
                  </a:moveTo>
                  <a:cubicBezTo>
                    <a:pt x="0" y="13208"/>
                    <a:pt x="13208" y="0"/>
                    <a:pt x="29464" y="0"/>
                  </a:cubicBezTo>
                  <a:lnTo>
                    <a:pt x="10825861" y="0"/>
                  </a:lnTo>
                  <a:cubicBezTo>
                    <a:pt x="10842117" y="0"/>
                    <a:pt x="10855325" y="13208"/>
                    <a:pt x="10855325" y="29464"/>
                  </a:cubicBezTo>
                  <a:lnTo>
                    <a:pt x="10855325" y="651891"/>
                  </a:lnTo>
                  <a:cubicBezTo>
                    <a:pt x="10855325" y="668147"/>
                    <a:pt x="10842117" y="681355"/>
                    <a:pt x="10825861" y="681355"/>
                  </a:cubicBezTo>
                  <a:lnTo>
                    <a:pt x="29464" y="681355"/>
                  </a:lnTo>
                  <a:cubicBezTo>
                    <a:pt x="13208" y="681355"/>
                    <a:pt x="0" y="668147"/>
                    <a:pt x="0" y="651891"/>
                  </a:cubicBezTo>
                  <a:close/>
                </a:path>
              </a:pathLst>
            </a:custGeom>
            <a:solidFill>
              <a:srgbClr val="FFFFFF"/>
            </a:solidFill>
            <a:ln w="19065" cap="sq">
              <a:solidFill>
                <a:srgbClr val="D8D4D4"/>
              </a:solidFill>
              <a:prstDash val="solid"/>
              <a:miter/>
            </a:ln>
          </p:spPr>
        </p:sp>
      </p:grpSp>
      <p:sp>
        <p:nvSpPr>
          <p:cNvPr name="TextBox 18" id="18"/>
          <p:cNvSpPr txBox="true"/>
          <p:nvPr/>
        </p:nvSpPr>
        <p:spPr>
          <a:xfrm rot="0">
            <a:off x="1153839" y="2357485"/>
            <a:ext cx="7800775"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Excellent noise immunity</a:t>
            </a:r>
            <a:r>
              <a:rPr lang="en-US" sz="1050">
                <a:solidFill>
                  <a:srgbClr val="4C4C4D"/>
                </a:solidFill>
                <a:latin typeface="Heebo"/>
                <a:ea typeface="Heebo"/>
                <a:cs typeface="Heebo"/>
                <a:sym typeface="Heebo"/>
              </a:rPr>
              <a:t>, reducing the effects of EMI and ground loops</a:t>
            </a:r>
          </a:p>
        </p:txBody>
      </p:sp>
      <p:grpSp>
        <p:nvGrpSpPr>
          <p:cNvPr name="Group 19" id="19"/>
          <p:cNvGrpSpPr/>
          <p:nvPr/>
        </p:nvGrpSpPr>
        <p:grpSpPr>
          <a:xfrm rot="0">
            <a:off x="9176833" y="2177567"/>
            <a:ext cx="8141551" cy="511026"/>
            <a:chOff x="0" y="0"/>
            <a:chExt cx="10855401" cy="681368"/>
          </a:xfrm>
        </p:grpSpPr>
        <p:sp>
          <p:nvSpPr>
            <p:cNvPr name="Freeform 20" id="20"/>
            <p:cNvSpPr/>
            <p:nvPr/>
          </p:nvSpPr>
          <p:spPr>
            <a:xfrm flipH="false" flipV="false" rot="0">
              <a:off x="0" y="0"/>
              <a:ext cx="10855325" cy="681355"/>
            </a:xfrm>
            <a:custGeom>
              <a:avLst/>
              <a:gdLst/>
              <a:ahLst/>
              <a:cxnLst/>
              <a:rect r="r" b="b" t="t" l="l"/>
              <a:pathLst>
                <a:path h="681355" w="10855325">
                  <a:moveTo>
                    <a:pt x="0" y="29464"/>
                  </a:moveTo>
                  <a:cubicBezTo>
                    <a:pt x="0" y="13208"/>
                    <a:pt x="13208" y="0"/>
                    <a:pt x="29464" y="0"/>
                  </a:cubicBezTo>
                  <a:lnTo>
                    <a:pt x="10825861" y="0"/>
                  </a:lnTo>
                  <a:cubicBezTo>
                    <a:pt x="10842117" y="0"/>
                    <a:pt x="10855325" y="13208"/>
                    <a:pt x="10855325" y="29464"/>
                  </a:cubicBezTo>
                  <a:lnTo>
                    <a:pt x="10855325" y="651891"/>
                  </a:lnTo>
                  <a:cubicBezTo>
                    <a:pt x="10855325" y="668147"/>
                    <a:pt x="10842117" y="681355"/>
                    <a:pt x="10825861" y="681355"/>
                  </a:cubicBezTo>
                  <a:lnTo>
                    <a:pt x="29464" y="681355"/>
                  </a:lnTo>
                  <a:cubicBezTo>
                    <a:pt x="13208" y="681355"/>
                    <a:pt x="0" y="668147"/>
                    <a:pt x="0" y="651891"/>
                  </a:cubicBezTo>
                  <a:close/>
                </a:path>
              </a:pathLst>
            </a:custGeom>
            <a:solidFill>
              <a:srgbClr val="FFFFFF"/>
            </a:solidFill>
            <a:ln w="19065" cap="sq">
              <a:solidFill>
                <a:srgbClr val="D8D4D4"/>
              </a:solidFill>
              <a:prstDash val="solid"/>
              <a:miter/>
            </a:ln>
          </p:spPr>
        </p:sp>
      </p:grpSp>
      <p:sp>
        <p:nvSpPr>
          <p:cNvPr name="TextBox 21" id="21"/>
          <p:cNvSpPr txBox="true"/>
          <p:nvPr/>
        </p:nvSpPr>
        <p:spPr>
          <a:xfrm rot="0">
            <a:off x="9347225" y="2357485"/>
            <a:ext cx="7800775"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Reliable operation</a:t>
            </a:r>
            <a:r>
              <a:rPr lang="en-US" sz="1050">
                <a:solidFill>
                  <a:srgbClr val="4C4C4D"/>
                </a:solidFill>
                <a:latin typeface="Heebo"/>
                <a:ea typeface="Heebo"/>
                <a:cs typeface="Heebo"/>
                <a:sym typeface="Heebo"/>
              </a:rPr>
              <a:t> in industrial environments</a:t>
            </a:r>
          </a:p>
        </p:txBody>
      </p:sp>
      <p:grpSp>
        <p:nvGrpSpPr>
          <p:cNvPr name="Group 22" id="22"/>
          <p:cNvGrpSpPr/>
          <p:nvPr/>
        </p:nvGrpSpPr>
        <p:grpSpPr>
          <a:xfrm rot="0">
            <a:off x="983456" y="2740428"/>
            <a:ext cx="8141551" cy="511026"/>
            <a:chOff x="0" y="0"/>
            <a:chExt cx="10855401" cy="681368"/>
          </a:xfrm>
        </p:grpSpPr>
        <p:sp>
          <p:nvSpPr>
            <p:cNvPr name="Freeform 23" id="23"/>
            <p:cNvSpPr/>
            <p:nvPr/>
          </p:nvSpPr>
          <p:spPr>
            <a:xfrm flipH="false" flipV="false" rot="0">
              <a:off x="0" y="0"/>
              <a:ext cx="10855325" cy="681355"/>
            </a:xfrm>
            <a:custGeom>
              <a:avLst/>
              <a:gdLst/>
              <a:ahLst/>
              <a:cxnLst/>
              <a:rect r="r" b="b" t="t" l="l"/>
              <a:pathLst>
                <a:path h="681355" w="10855325">
                  <a:moveTo>
                    <a:pt x="0" y="29464"/>
                  </a:moveTo>
                  <a:cubicBezTo>
                    <a:pt x="0" y="13208"/>
                    <a:pt x="13208" y="0"/>
                    <a:pt x="29464" y="0"/>
                  </a:cubicBezTo>
                  <a:lnTo>
                    <a:pt x="10825861" y="0"/>
                  </a:lnTo>
                  <a:cubicBezTo>
                    <a:pt x="10842117" y="0"/>
                    <a:pt x="10855325" y="13208"/>
                    <a:pt x="10855325" y="29464"/>
                  </a:cubicBezTo>
                  <a:lnTo>
                    <a:pt x="10855325" y="651891"/>
                  </a:lnTo>
                  <a:cubicBezTo>
                    <a:pt x="10855325" y="668147"/>
                    <a:pt x="10842117" y="681355"/>
                    <a:pt x="10825861" y="681355"/>
                  </a:cubicBezTo>
                  <a:lnTo>
                    <a:pt x="29464" y="681355"/>
                  </a:lnTo>
                  <a:cubicBezTo>
                    <a:pt x="13208" y="681355"/>
                    <a:pt x="0" y="668147"/>
                    <a:pt x="0" y="651891"/>
                  </a:cubicBezTo>
                  <a:close/>
                </a:path>
              </a:pathLst>
            </a:custGeom>
            <a:solidFill>
              <a:srgbClr val="FFFFFF"/>
            </a:solidFill>
            <a:ln w="19065" cap="sq">
              <a:solidFill>
                <a:srgbClr val="D8D4D4"/>
              </a:solidFill>
              <a:prstDash val="solid"/>
              <a:miter/>
            </a:ln>
          </p:spPr>
        </p:sp>
      </p:grpSp>
      <p:sp>
        <p:nvSpPr>
          <p:cNvPr name="TextBox 24" id="24"/>
          <p:cNvSpPr txBox="true"/>
          <p:nvPr/>
        </p:nvSpPr>
        <p:spPr>
          <a:xfrm rot="0">
            <a:off x="1153839" y="2920346"/>
            <a:ext cx="7800775"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Suitable for PLCs, embedded systems, and battery management applications</a:t>
            </a:r>
          </a:p>
        </p:txBody>
      </p:sp>
      <p:grpSp>
        <p:nvGrpSpPr>
          <p:cNvPr name="Group 25" id="25"/>
          <p:cNvGrpSpPr/>
          <p:nvPr/>
        </p:nvGrpSpPr>
        <p:grpSpPr>
          <a:xfrm rot="0">
            <a:off x="9176833" y="2740428"/>
            <a:ext cx="8141551" cy="511026"/>
            <a:chOff x="0" y="0"/>
            <a:chExt cx="10855401" cy="681368"/>
          </a:xfrm>
        </p:grpSpPr>
        <p:sp>
          <p:nvSpPr>
            <p:cNvPr name="Freeform 26" id="26"/>
            <p:cNvSpPr/>
            <p:nvPr/>
          </p:nvSpPr>
          <p:spPr>
            <a:xfrm flipH="false" flipV="false" rot="0">
              <a:off x="0" y="0"/>
              <a:ext cx="10855325" cy="681355"/>
            </a:xfrm>
            <a:custGeom>
              <a:avLst/>
              <a:gdLst/>
              <a:ahLst/>
              <a:cxnLst/>
              <a:rect r="r" b="b" t="t" l="l"/>
              <a:pathLst>
                <a:path h="681355" w="10855325">
                  <a:moveTo>
                    <a:pt x="0" y="29464"/>
                  </a:moveTo>
                  <a:cubicBezTo>
                    <a:pt x="0" y="13208"/>
                    <a:pt x="13208" y="0"/>
                    <a:pt x="29464" y="0"/>
                  </a:cubicBezTo>
                  <a:lnTo>
                    <a:pt x="10825861" y="0"/>
                  </a:lnTo>
                  <a:cubicBezTo>
                    <a:pt x="10842117" y="0"/>
                    <a:pt x="10855325" y="13208"/>
                    <a:pt x="10855325" y="29464"/>
                  </a:cubicBezTo>
                  <a:lnTo>
                    <a:pt x="10855325" y="651891"/>
                  </a:lnTo>
                  <a:cubicBezTo>
                    <a:pt x="10855325" y="668147"/>
                    <a:pt x="10842117" y="681355"/>
                    <a:pt x="10825861" y="681355"/>
                  </a:cubicBezTo>
                  <a:lnTo>
                    <a:pt x="29464" y="681355"/>
                  </a:lnTo>
                  <a:cubicBezTo>
                    <a:pt x="13208" y="681355"/>
                    <a:pt x="0" y="668147"/>
                    <a:pt x="0" y="651891"/>
                  </a:cubicBezTo>
                  <a:close/>
                </a:path>
              </a:pathLst>
            </a:custGeom>
            <a:solidFill>
              <a:srgbClr val="FFFFFF"/>
            </a:solidFill>
            <a:ln w="19065" cap="sq">
              <a:solidFill>
                <a:srgbClr val="D8D4D4"/>
              </a:solidFill>
              <a:prstDash val="solid"/>
              <a:miter/>
            </a:ln>
          </p:spPr>
        </p:sp>
      </p:grpSp>
      <p:sp>
        <p:nvSpPr>
          <p:cNvPr name="TextBox 27" id="27"/>
          <p:cNvSpPr txBox="true"/>
          <p:nvPr/>
        </p:nvSpPr>
        <p:spPr>
          <a:xfrm rot="0">
            <a:off x="9347225" y="2920346"/>
            <a:ext cx="7800775"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Maintains safe PMOS gate voltage</a:t>
            </a:r>
            <a:r>
              <a:rPr lang="en-US" sz="1050">
                <a:solidFill>
                  <a:srgbClr val="4C4C4D"/>
                </a:solidFill>
                <a:latin typeface="Heebo"/>
                <a:ea typeface="Heebo"/>
                <a:cs typeface="Heebo"/>
                <a:sym typeface="Heebo"/>
              </a:rPr>
              <a:t> using the Zener protection network</a:t>
            </a:r>
          </a:p>
        </p:txBody>
      </p:sp>
      <p:grpSp>
        <p:nvGrpSpPr>
          <p:cNvPr name="Group 28" id="28"/>
          <p:cNvGrpSpPr/>
          <p:nvPr/>
        </p:nvGrpSpPr>
        <p:grpSpPr>
          <a:xfrm rot="0">
            <a:off x="983456" y="3303289"/>
            <a:ext cx="8141551" cy="511026"/>
            <a:chOff x="0" y="0"/>
            <a:chExt cx="10855401" cy="681368"/>
          </a:xfrm>
        </p:grpSpPr>
        <p:sp>
          <p:nvSpPr>
            <p:cNvPr name="Freeform 29" id="29"/>
            <p:cNvSpPr/>
            <p:nvPr/>
          </p:nvSpPr>
          <p:spPr>
            <a:xfrm flipH="false" flipV="false" rot="0">
              <a:off x="0" y="0"/>
              <a:ext cx="10855325" cy="681355"/>
            </a:xfrm>
            <a:custGeom>
              <a:avLst/>
              <a:gdLst/>
              <a:ahLst/>
              <a:cxnLst/>
              <a:rect r="r" b="b" t="t" l="l"/>
              <a:pathLst>
                <a:path h="681355" w="10855325">
                  <a:moveTo>
                    <a:pt x="0" y="29464"/>
                  </a:moveTo>
                  <a:cubicBezTo>
                    <a:pt x="0" y="13208"/>
                    <a:pt x="13208" y="0"/>
                    <a:pt x="29464" y="0"/>
                  </a:cubicBezTo>
                  <a:lnTo>
                    <a:pt x="10825861" y="0"/>
                  </a:lnTo>
                  <a:cubicBezTo>
                    <a:pt x="10842117" y="0"/>
                    <a:pt x="10855325" y="13208"/>
                    <a:pt x="10855325" y="29464"/>
                  </a:cubicBezTo>
                  <a:lnTo>
                    <a:pt x="10855325" y="651891"/>
                  </a:lnTo>
                  <a:cubicBezTo>
                    <a:pt x="10855325" y="668147"/>
                    <a:pt x="10842117" y="681355"/>
                    <a:pt x="10825861" y="681355"/>
                  </a:cubicBezTo>
                  <a:lnTo>
                    <a:pt x="29464" y="681355"/>
                  </a:lnTo>
                  <a:cubicBezTo>
                    <a:pt x="13208" y="681355"/>
                    <a:pt x="0" y="668147"/>
                    <a:pt x="0" y="651891"/>
                  </a:cubicBezTo>
                  <a:close/>
                </a:path>
              </a:pathLst>
            </a:custGeom>
            <a:solidFill>
              <a:srgbClr val="FFFFFF"/>
            </a:solidFill>
            <a:ln w="19065" cap="sq">
              <a:solidFill>
                <a:srgbClr val="D8D4D4"/>
              </a:solidFill>
              <a:prstDash val="solid"/>
              <a:miter/>
            </a:ln>
          </p:spPr>
        </p:sp>
      </p:grpSp>
      <p:sp>
        <p:nvSpPr>
          <p:cNvPr name="TextBox 30" id="30"/>
          <p:cNvSpPr txBox="true"/>
          <p:nvPr/>
        </p:nvSpPr>
        <p:spPr>
          <a:xfrm rot="0">
            <a:off x="1153839" y="3483207"/>
            <a:ext cx="7800775"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Eliminates ground-loop currents</a:t>
            </a:r>
            <a:r>
              <a:rPr lang="en-US" sz="1050">
                <a:solidFill>
                  <a:srgbClr val="4C4C4D"/>
                </a:solidFill>
                <a:latin typeface="Heebo"/>
                <a:ea typeface="Heebo"/>
                <a:cs typeface="Heebo"/>
                <a:sym typeface="Heebo"/>
              </a:rPr>
              <a:t> through optical signal transfer</a:t>
            </a:r>
          </a:p>
        </p:txBody>
      </p:sp>
      <p:grpSp>
        <p:nvGrpSpPr>
          <p:cNvPr name="Group 31" id="31"/>
          <p:cNvGrpSpPr/>
          <p:nvPr/>
        </p:nvGrpSpPr>
        <p:grpSpPr>
          <a:xfrm rot="0">
            <a:off x="9176833" y="3303289"/>
            <a:ext cx="8141551" cy="511026"/>
            <a:chOff x="0" y="0"/>
            <a:chExt cx="10855401" cy="681368"/>
          </a:xfrm>
        </p:grpSpPr>
        <p:sp>
          <p:nvSpPr>
            <p:cNvPr name="Freeform 32" id="32"/>
            <p:cNvSpPr/>
            <p:nvPr/>
          </p:nvSpPr>
          <p:spPr>
            <a:xfrm flipH="false" flipV="false" rot="0">
              <a:off x="0" y="0"/>
              <a:ext cx="10855325" cy="681355"/>
            </a:xfrm>
            <a:custGeom>
              <a:avLst/>
              <a:gdLst/>
              <a:ahLst/>
              <a:cxnLst/>
              <a:rect r="r" b="b" t="t" l="l"/>
              <a:pathLst>
                <a:path h="681355" w="10855325">
                  <a:moveTo>
                    <a:pt x="0" y="29464"/>
                  </a:moveTo>
                  <a:cubicBezTo>
                    <a:pt x="0" y="13208"/>
                    <a:pt x="13208" y="0"/>
                    <a:pt x="29464" y="0"/>
                  </a:cubicBezTo>
                  <a:lnTo>
                    <a:pt x="10825861" y="0"/>
                  </a:lnTo>
                  <a:cubicBezTo>
                    <a:pt x="10842117" y="0"/>
                    <a:pt x="10855325" y="13208"/>
                    <a:pt x="10855325" y="29464"/>
                  </a:cubicBezTo>
                  <a:lnTo>
                    <a:pt x="10855325" y="651891"/>
                  </a:lnTo>
                  <a:cubicBezTo>
                    <a:pt x="10855325" y="668147"/>
                    <a:pt x="10842117" y="681355"/>
                    <a:pt x="10825861" y="681355"/>
                  </a:cubicBezTo>
                  <a:lnTo>
                    <a:pt x="29464" y="681355"/>
                  </a:lnTo>
                  <a:cubicBezTo>
                    <a:pt x="13208" y="681355"/>
                    <a:pt x="0" y="668147"/>
                    <a:pt x="0" y="651891"/>
                  </a:cubicBezTo>
                  <a:close/>
                </a:path>
              </a:pathLst>
            </a:custGeom>
            <a:solidFill>
              <a:srgbClr val="FFFFFF"/>
            </a:solidFill>
            <a:ln w="19065" cap="sq">
              <a:solidFill>
                <a:srgbClr val="D8D4D4"/>
              </a:solidFill>
              <a:prstDash val="solid"/>
              <a:miter/>
            </a:ln>
          </p:spPr>
        </p:sp>
      </p:grpSp>
      <p:sp>
        <p:nvSpPr>
          <p:cNvPr name="TextBox 33" id="33"/>
          <p:cNvSpPr txBox="true"/>
          <p:nvPr/>
        </p:nvSpPr>
        <p:spPr>
          <a:xfrm rot="0">
            <a:off x="9347225" y="3483207"/>
            <a:ext cx="7800775"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Enhanced system safety and reliability</a:t>
            </a:r>
            <a:r>
              <a:rPr lang="en-US" sz="1050">
                <a:solidFill>
                  <a:srgbClr val="4C4C4D"/>
                </a:solidFill>
                <a:latin typeface="Heebo"/>
                <a:ea typeface="Heebo"/>
                <a:cs typeface="Heebo"/>
                <a:sym typeface="Heebo"/>
              </a:rPr>
              <a:t> for mission-critical applications</a:t>
            </a:r>
          </a:p>
        </p:txBody>
      </p:sp>
      <p:sp>
        <p:nvSpPr>
          <p:cNvPr name="TextBox 34" id="34"/>
          <p:cNvSpPr txBox="true"/>
          <p:nvPr/>
        </p:nvSpPr>
        <p:spPr>
          <a:xfrm rot="0">
            <a:off x="992991" y="3892086"/>
            <a:ext cx="16315868" cy="285064"/>
          </a:xfrm>
          <a:prstGeom prst="rect">
            <a:avLst/>
          </a:prstGeom>
        </p:spPr>
        <p:txBody>
          <a:bodyPr anchor="t" rtlCol="false" tIns="0" lIns="0" bIns="0" rIns="0">
            <a:spAutoFit/>
          </a:bodyPr>
          <a:lstStyle/>
          <a:p>
            <a:pPr algn="l">
              <a:lnSpc>
                <a:spcPts val="2060"/>
              </a:lnSpc>
            </a:pPr>
            <a:r>
              <a:rPr lang="en-US" sz="1651">
                <a:solidFill>
                  <a:srgbClr val="152D47"/>
                </a:solidFill>
                <a:latin typeface="Crimson Pro"/>
                <a:ea typeface="Crimson Pro"/>
                <a:cs typeface="Crimson Pro"/>
                <a:sym typeface="Crimson Pro"/>
              </a:rPr>
              <a:t>Limitations</a:t>
            </a:r>
          </a:p>
        </p:txBody>
      </p:sp>
      <p:grpSp>
        <p:nvGrpSpPr>
          <p:cNvPr name="Group 35" id="35"/>
          <p:cNvGrpSpPr/>
          <p:nvPr/>
        </p:nvGrpSpPr>
        <p:grpSpPr>
          <a:xfrm rot="0">
            <a:off x="983456" y="4273963"/>
            <a:ext cx="8141551" cy="511026"/>
            <a:chOff x="0" y="0"/>
            <a:chExt cx="10855401" cy="681368"/>
          </a:xfrm>
        </p:grpSpPr>
        <p:sp>
          <p:nvSpPr>
            <p:cNvPr name="Freeform 36" id="36"/>
            <p:cNvSpPr/>
            <p:nvPr/>
          </p:nvSpPr>
          <p:spPr>
            <a:xfrm flipH="false" flipV="false" rot="0">
              <a:off x="0" y="0"/>
              <a:ext cx="10855325" cy="681355"/>
            </a:xfrm>
            <a:custGeom>
              <a:avLst/>
              <a:gdLst/>
              <a:ahLst/>
              <a:cxnLst/>
              <a:rect r="r" b="b" t="t" l="l"/>
              <a:pathLst>
                <a:path h="681355" w="10855325">
                  <a:moveTo>
                    <a:pt x="0" y="29464"/>
                  </a:moveTo>
                  <a:cubicBezTo>
                    <a:pt x="0" y="13208"/>
                    <a:pt x="13208" y="0"/>
                    <a:pt x="29464" y="0"/>
                  </a:cubicBezTo>
                  <a:lnTo>
                    <a:pt x="10825861" y="0"/>
                  </a:lnTo>
                  <a:cubicBezTo>
                    <a:pt x="10842117" y="0"/>
                    <a:pt x="10855325" y="13208"/>
                    <a:pt x="10855325" y="29464"/>
                  </a:cubicBezTo>
                  <a:lnTo>
                    <a:pt x="10855325" y="651891"/>
                  </a:lnTo>
                  <a:cubicBezTo>
                    <a:pt x="10855325" y="668147"/>
                    <a:pt x="10842117" y="681355"/>
                    <a:pt x="10825861" y="681355"/>
                  </a:cubicBezTo>
                  <a:lnTo>
                    <a:pt x="29464" y="681355"/>
                  </a:lnTo>
                  <a:cubicBezTo>
                    <a:pt x="13208" y="681355"/>
                    <a:pt x="0" y="668147"/>
                    <a:pt x="0" y="651891"/>
                  </a:cubicBezTo>
                  <a:close/>
                </a:path>
              </a:pathLst>
            </a:custGeom>
            <a:solidFill>
              <a:srgbClr val="FFFFFF"/>
            </a:solidFill>
            <a:ln w="19065" cap="sq">
              <a:solidFill>
                <a:srgbClr val="D8D4D4"/>
              </a:solidFill>
              <a:prstDash val="solid"/>
              <a:miter/>
            </a:ln>
          </p:spPr>
        </p:sp>
      </p:grpSp>
      <p:sp>
        <p:nvSpPr>
          <p:cNvPr name="TextBox 37" id="37"/>
          <p:cNvSpPr txBox="true"/>
          <p:nvPr/>
        </p:nvSpPr>
        <p:spPr>
          <a:xfrm rot="0">
            <a:off x="1153839" y="4453880"/>
            <a:ext cx="7800775"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Increased component count</a:t>
            </a:r>
            <a:r>
              <a:rPr lang="en-US" sz="1050">
                <a:solidFill>
                  <a:srgbClr val="4C4C4D"/>
                </a:solidFill>
                <a:latin typeface="Heebo"/>
                <a:ea typeface="Heebo"/>
                <a:cs typeface="Heebo"/>
                <a:sym typeface="Heebo"/>
              </a:rPr>
              <a:t> compared to the general PMOS–NMOS driver</a:t>
            </a:r>
          </a:p>
        </p:txBody>
      </p:sp>
      <p:grpSp>
        <p:nvGrpSpPr>
          <p:cNvPr name="Group 38" id="38"/>
          <p:cNvGrpSpPr/>
          <p:nvPr/>
        </p:nvGrpSpPr>
        <p:grpSpPr>
          <a:xfrm rot="0">
            <a:off x="9176833" y="4273963"/>
            <a:ext cx="8141551" cy="511026"/>
            <a:chOff x="0" y="0"/>
            <a:chExt cx="10855401" cy="681368"/>
          </a:xfrm>
        </p:grpSpPr>
        <p:sp>
          <p:nvSpPr>
            <p:cNvPr name="Freeform 39" id="39"/>
            <p:cNvSpPr/>
            <p:nvPr/>
          </p:nvSpPr>
          <p:spPr>
            <a:xfrm flipH="false" flipV="false" rot="0">
              <a:off x="0" y="0"/>
              <a:ext cx="10855325" cy="681355"/>
            </a:xfrm>
            <a:custGeom>
              <a:avLst/>
              <a:gdLst/>
              <a:ahLst/>
              <a:cxnLst/>
              <a:rect r="r" b="b" t="t" l="l"/>
              <a:pathLst>
                <a:path h="681355" w="10855325">
                  <a:moveTo>
                    <a:pt x="0" y="29464"/>
                  </a:moveTo>
                  <a:cubicBezTo>
                    <a:pt x="0" y="13208"/>
                    <a:pt x="13208" y="0"/>
                    <a:pt x="29464" y="0"/>
                  </a:cubicBezTo>
                  <a:lnTo>
                    <a:pt x="10825861" y="0"/>
                  </a:lnTo>
                  <a:cubicBezTo>
                    <a:pt x="10842117" y="0"/>
                    <a:pt x="10855325" y="13208"/>
                    <a:pt x="10855325" y="29464"/>
                  </a:cubicBezTo>
                  <a:lnTo>
                    <a:pt x="10855325" y="651891"/>
                  </a:lnTo>
                  <a:cubicBezTo>
                    <a:pt x="10855325" y="668147"/>
                    <a:pt x="10842117" y="681355"/>
                    <a:pt x="10825861" y="681355"/>
                  </a:cubicBezTo>
                  <a:lnTo>
                    <a:pt x="29464" y="681355"/>
                  </a:lnTo>
                  <a:cubicBezTo>
                    <a:pt x="13208" y="681355"/>
                    <a:pt x="0" y="668147"/>
                    <a:pt x="0" y="651891"/>
                  </a:cubicBezTo>
                  <a:close/>
                </a:path>
              </a:pathLst>
            </a:custGeom>
            <a:solidFill>
              <a:srgbClr val="FFFFFF"/>
            </a:solidFill>
            <a:ln w="19065" cap="sq">
              <a:solidFill>
                <a:srgbClr val="D8D4D4"/>
              </a:solidFill>
              <a:prstDash val="solid"/>
              <a:miter/>
            </a:ln>
          </p:spPr>
        </p:sp>
      </p:grpSp>
      <p:sp>
        <p:nvSpPr>
          <p:cNvPr name="TextBox 40" id="40"/>
          <p:cNvSpPr txBox="true"/>
          <p:nvPr/>
        </p:nvSpPr>
        <p:spPr>
          <a:xfrm rot="0">
            <a:off x="9347225" y="4453880"/>
            <a:ext cx="7800775"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Slight propagation delay</a:t>
            </a:r>
            <a:r>
              <a:rPr lang="en-US" sz="1050">
                <a:solidFill>
                  <a:srgbClr val="4C4C4D"/>
                </a:solidFill>
                <a:latin typeface="Heebo"/>
                <a:ea typeface="Heebo"/>
                <a:cs typeface="Heebo"/>
                <a:sym typeface="Heebo"/>
              </a:rPr>
              <a:t> due to the optocoupler (typically 2-5 μs)</a:t>
            </a:r>
          </a:p>
        </p:txBody>
      </p:sp>
      <p:grpSp>
        <p:nvGrpSpPr>
          <p:cNvPr name="Group 41" id="41"/>
          <p:cNvGrpSpPr/>
          <p:nvPr/>
        </p:nvGrpSpPr>
        <p:grpSpPr>
          <a:xfrm rot="0">
            <a:off x="983456" y="4836824"/>
            <a:ext cx="8141551" cy="511026"/>
            <a:chOff x="0" y="0"/>
            <a:chExt cx="10855401" cy="681368"/>
          </a:xfrm>
        </p:grpSpPr>
        <p:sp>
          <p:nvSpPr>
            <p:cNvPr name="Freeform 42" id="42"/>
            <p:cNvSpPr/>
            <p:nvPr/>
          </p:nvSpPr>
          <p:spPr>
            <a:xfrm flipH="false" flipV="false" rot="0">
              <a:off x="0" y="0"/>
              <a:ext cx="10855325" cy="681355"/>
            </a:xfrm>
            <a:custGeom>
              <a:avLst/>
              <a:gdLst/>
              <a:ahLst/>
              <a:cxnLst/>
              <a:rect r="r" b="b" t="t" l="l"/>
              <a:pathLst>
                <a:path h="681355" w="10855325">
                  <a:moveTo>
                    <a:pt x="0" y="29464"/>
                  </a:moveTo>
                  <a:cubicBezTo>
                    <a:pt x="0" y="13208"/>
                    <a:pt x="13208" y="0"/>
                    <a:pt x="29464" y="0"/>
                  </a:cubicBezTo>
                  <a:lnTo>
                    <a:pt x="10825861" y="0"/>
                  </a:lnTo>
                  <a:cubicBezTo>
                    <a:pt x="10842117" y="0"/>
                    <a:pt x="10855325" y="13208"/>
                    <a:pt x="10855325" y="29464"/>
                  </a:cubicBezTo>
                  <a:lnTo>
                    <a:pt x="10855325" y="651891"/>
                  </a:lnTo>
                  <a:cubicBezTo>
                    <a:pt x="10855325" y="668147"/>
                    <a:pt x="10842117" y="681355"/>
                    <a:pt x="10825861" y="681355"/>
                  </a:cubicBezTo>
                  <a:lnTo>
                    <a:pt x="29464" y="681355"/>
                  </a:lnTo>
                  <a:cubicBezTo>
                    <a:pt x="13208" y="681355"/>
                    <a:pt x="0" y="668147"/>
                    <a:pt x="0" y="651891"/>
                  </a:cubicBezTo>
                  <a:close/>
                </a:path>
              </a:pathLst>
            </a:custGeom>
            <a:solidFill>
              <a:srgbClr val="FFFFFF"/>
            </a:solidFill>
            <a:ln w="19065" cap="sq">
              <a:solidFill>
                <a:srgbClr val="D8D4D4"/>
              </a:solidFill>
              <a:prstDash val="solid"/>
              <a:miter/>
            </a:ln>
          </p:spPr>
        </p:sp>
      </p:grpSp>
      <p:sp>
        <p:nvSpPr>
          <p:cNvPr name="TextBox 43" id="43"/>
          <p:cNvSpPr txBox="true"/>
          <p:nvPr/>
        </p:nvSpPr>
        <p:spPr>
          <a:xfrm rot="0">
            <a:off x="1153839" y="5016741"/>
            <a:ext cx="7800775"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Higher overall circuit cost</a:t>
            </a:r>
            <a:r>
              <a:rPr lang="en-US" sz="1050">
                <a:solidFill>
                  <a:srgbClr val="4C4C4D"/>
                </a:solidFill>
                <a:latin typeface="Heebo"/>
                <a:ea typeface="Heebo"/>
                <a:cs typeface="Heebo"/>
                <a:sym typeface="Heebo"/>
              </a:rPr>
              <a:t> due to optocoupler IC</a:t>
            </a:r>
          </a:p>
        </p:txBody>
      </p:sp>
      <p:grpSp>
        <p:nvGrpSpPr>
          <p:cNvPr name="Group 44" id="44"/>
          <p:cNvGrpSpPr/>
          <p:nvPr/>
        </p:nvGrpSpPr>
        <p:grpSpPr>
          <a:xfrm rot="0">
            <a:off x="9176833" y="4836824"/>
            <a:ext cx="8141551" cy="511026"/>
            <a:chOff x="0" y="0"/>
            <a:chExt cx="10855401" cy="681368"/>
          </a:xfrm>
        </p:grpSpPr>
        <p:sp>
          <p:nvSpPr>
            <p:cNvPr name="Freeform 45" id="45"/>
            <p:cNvSpPr/>
            <p:nvPr/>
          </p:nvSpPr>
          <p:spPr>
            <a:xfrm flipH="false" flipV="false" rot="0">
              <a:off x="0" y="0"/>
              <a:ext cx="10855325" cy="681355"/>
            </a:xfrm>
            <a:custGeom>
              <a:avLst/>
              <a:gdLst/>
              <a:ahLst/>
              <a:cxnLst/>
              <a:rect r="r" b="b" t="t" l="l"/>
              <a:pathLst>
                <a:path h="681355" w="10855325">
                  <a:moveTo>
                    <a:pt x="0" y="29464"/>
                  </a:moveTo>
                  <a:cubicBezTo>
                    <a:pt x="0" y="13208"/>
                    <a:pt x="13208" y="0"/>
                    <a:pt x="29464" y="0"/>
                  </a:cubicBezTo>
                  <a:lnTo>
                    <a:pt x="10825861" y="0"/>
                  </a:lnTo>
                  <a:cubicBezTo>
                    <a:pt x="10842117" y="0"/>
                    <a:pt x="10855325" y="13208"/>
                    <a:pt x="10855325" y="29464"/>
                  </a:cubicBezTo>
                  <a:lnTo>
                    <a:pt x="10855325" y="651891"/>
                  </a:lnTo>
                  <a:cubicBezTo>
                    <a:pt x="10855325" y="668147"/>
                    <a:pt x="10842117" y="681355"/>
                    <a:pt x="10825861" y="681355"/>
                  </a:cubicBezTo>
                  <a:lnTo>
                    <a:pt x="29464" y="681355"/>
                  </a:lnTo>
                  <a:cubicBezTo>
                    <a:pt x="13208" y="681355"/>
                    <a:pt x="0" y="668147"/>
                    <a:pt x="0" y="651891"/>
                  </a:cubicBezTo>
                  <a:close/>
                </a:path>
              </a:pathLst>
            </a:custGeom>
            <a:solidFill>
              <a:srgbClr val="FFFFFF"/>
            </a:solidFill>
            <a:ln w="19065" cap="sq">
              <a:solidFill>
                <a:srgbClr val="D8D4D4"/>
              </a:solidFill>
              <a:prstDash val="solid"/>
              <a:miter/>
            </a:ln>
          </p:spPr>
        </p:sp>
      </p:grpSp>
      <p:sp>
        <p:nvSpPr>
          <p:cNvPr name="TextBox 46" id="46"/>
          <p:cNvSpPr txBox="true"/>
          <p:nvPr/>
        </p:nvSpPr>
        <p:spPr>
          <a:xfrm rot="0">
            <a:off x="9347225" y="5016741"/>
            <a:ext cx="7800775"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Optocoupler performance may vary with temperature and device aging (CTR variation)</a:t>
            </a:r>
          </a:p>
        </p:txBody>
      </p:sp>
      <p:grpSp>
        <p:nvGrpSpPr>
          <p:cNvPr name="Group 47" id="47"/>
          <p:cNvGrpSpPr/>
          <p:nvPr/>
        </p:nvGrpSpPr>
        <p:grpSpPr>
          <a:xfrm rot="0">
            <a:off x="983456" y="5399684"/>
            <a:ext cx="8141551" cy="511026"/>
            <a:chOff x="0" y="0"/>
            <a:chExt cx="10855401" cy="681368"/>
          </a:xfrm>
        </p:grpSpPr>
        <p:sp>
          <p:nvSpPr>
            <p:cNvPr name="Freeform 48" id="48"/>
            <p:cNvSpPr/>
            <p:nvPr/>
          </p:nvSpPr>
          <p:spPr>
            <a:xfrm flipH="false" flipV="false" rot="0">
              <a:off x="0" y="0"/>
              <a:ext cx="10855325" cy="681355"/>
            </a:xfrm>
            <a:custGeom>
              <a:avLst/>
              <a:gdLst/>
              <a:ahLst/>
              <a:cxnLst/>
              <a:rect r="r" b="b" t="t" l="l"/>
              <a:pathLst>
                <a:path h="681355" w="10855325">
                  <a:moveTo>
                    <a:pt x="0" y="29464"/>
                  </a:moveTo>
                  <a:cubicBezTo>
                    <a:pt x="0" y="13208"/>
                    <a:pt x="13208" y="0"/>
                    <a:pt x="29464" y="0"/>
                  </a:cubicBezTo>
                  <a:lnTo>
                    <a:pt x="10825861" y="0"/>
                  </a:lnTo>
                  <a:cubicBezTo>
                    <a:pt x="10842117" y="0"/>
                    <a:pt x="10855325" y="13208"/>
                    <a:pt x="10855325" y="29464"/>
                  </a:cubicBezTo>
                  <a:lnTo>
                    <a:pt x="10855325" y="651891"/>
                  </a:lnTo>
                  <a:cubicBezTo>
                    <a:pt x="10855325" y="668147"/>
                    <a:pt x="10842117" y="681355"/>
                    <a:pt x="10825861" y="681355"/>
                  </a:cubicBezTo>
                  <a:lnTo>
                    <a:pt x="29464" y="681355"/>
                  </a:lnTo>
                  <a:cubicBezTo>
                    <a:pt x="13208" y="681355"/>
                    <a:pt x="0" y="668147"/>
                    <a:pt x="0" y="651891"/>
                  </a:cubicBezTo>
                  <a:close/>
                </a:path>
              </a:pathLst>
            </a:custGeom>
            <a:solidFill>
              <a:srgbClr val="FFFFFF"/>
            </a:solidFill>
            <a:ln w="19065" cap="sq">
              <a:solidFill>
                <a:srgbClr val="D8D4D4"/>
              </a:solidFill>
              <a:prstDash val="solid"/>
              <a:miter/>
            </a:ln>
          </p:spPr>
        </p:sp>
      </p:grpSp>
      <p:sp>
        <p:nvSpPr>
          <p:cNvPr name="TextBox 49" id="49"/>
          <p:cNvSpPr txBox="true"/>
          <p:nvPr/>
        </p:nvSpPr>
        <p:spPr>
          <a:xfrm rot="0">
            <a:off x="1153839" y="5579602"/>
            <a:ext cx="7800775"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Requires continuous control signal</a:t>
            </a:r>
            <a:r>
              <a:rPr lang="en-US" sz="1050">
                <a:solidFill>
                  <a:srgbClr val="4C4C4D"/>
                </a:solidFill>
                <a:latin typeface="Heebo"/>
                <a:ea typeface="Heebo"/>
                <a:cs typeface="Heebo"/>
                <a:sym typeface="Heebo"/>
              </a:rPr>
              <a:t> to maintain output state</a:t>
            </a:r>
          </a:p>
        </p:txBody>
      </p:sp>
      <p:grpSp>
        <p:nvGrpSpPr>
          <p:cNvPr name="Group 50" id="50"/>
          <p:cNvGrpSpPr/>
          <p:nvPr/>
        </p:nvGrpSpPr>
        <p:grpSpPr>
          <a:xfrm rot="0">
            <a:off x="9176833" y="5399684"/>
            <a:ext cx="8141551" cy="511026"/>
            <a:chOff x="0" y="0"/>
            <a:chExt cx="10855401" cy="681368"/>
          </a:xfrm>
        </p:grpSpPr>
        <p:sp>
          <p:nvSpPr>
            <p:cNvPr name="Freeform 51" id="51"/>
            <p:cNvSpPr/>
            <p:nvPr/>
          </p:nvSpPr>
          <p:spPr>
            <a:xfrm flipH="false" flipV="false" rot="0">
              <a:off x="0" y="0"/>
              <a:ext cx="10855325" cy="681355"/>
            </a:xfrm>
            <a:custGeom>
              <a:avLst/>
              <a:gdLst/>
              <a:ahLst/>
              <a:cxnLst/>
              <a:rect r="r" b="b" t="t" l="l"/>
              <a:pathLst>
                <a:path h="681355" w="10855325">
                  <a:moveTo>
                    <a:pt x="0" y="29464"/>
                  </a:moveTo>
                  <a:cubicBezTo>
                    <a:pt x="0" y="13208"/>
                    <a:pt x="13208" y="0"/>
                    <a:pt x="29464" y="0"/>
                  </a:cubicBezTo>
                  <a:lnTo>
                    <a:pt x="10825861" y="0"/>
                  </a:lnTo>
                  <a:cubicBezTo>
                    <a:pt x="10842117" y="0"/>
                    <a:pt x="10855325" y="13208"/>
                    <a:pt x="10855325" y="29464"/>
                  </a:cubicBezTo>
                  <a:lnTo>
                    <a:pt x="10855325" y="651891"/>
                  </a:lnTo>
                  <a:cubicBezTo>
                    <a:pt x="10855325" y="668147"/>
                    <a:pt x="10842117" y="681355"/>
                    <a:pt x="10825861" y="681355"/>
                  </a:cubicBezTo>
                  <a:lnTo>
                    <a:pt x="29464" y="681355"/>
                  </a:lnTo>
                  <a:cubicBezTo>
                    <a:pt x="13208" y="681355"/>
                    <a:pt x="0" y="668147"/>
                    <a:pt x="0" y="651891"/>
                  </a:cubicBezTo>
                  <a:close/>
                </a:path>
              </a:pathLst>
            </a:custGeom>
            <a:solidFill>
              <a:srgbClr val="FFFFFF"/>
            </a:solidFill>
            <a:ln w="19065" cap="sq">
              <a:solidFill>
                <a:srgbClr val="D8D4D4"/>
              </a:solidFill>
              <a:prstDash val="solid"/>
              <a:miter/>
            </a:ln>
          </p:spPr>
        </p:sp>
      </p:grpSp>
      <p:sp>
        <p:nvSpPr>
          <p:cNvPr name="TextBox 52" id="52"/>
          <p:cNvSpPr txBox="true"/>
          <p:nvPr/>
        </p:nvSpPr>
        <p:spPr>
          <a:xfrm rot="0">
            <a:off x="9347225" y="5579602"/>
            <a:ext cx="7800775"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Power consumption increases</a:t>
            </a:r>
            <a:r>
              <a:rPr lang="en-US" sz="1050">
                <a:solidFill>
                  <a:srgbClr val="4C4C4D"/>
                </a:solidFill>
                <a:latin typeface="Heebo"/>
                <a:ea typeface="Heebo"/>
                <a:cs typeface="Heebo"/>
                <a:sym typeface="Heebo"/>
              </a:rPr>
              <a:t> due to LED drive current</a:t>
            </a:r>
          </a:p>
        </p:txBody>
      </p:sp>
      <p:sp>
        <p:nvSpPr>
          <p:cNvPr name="TextBox 53" id="53"/>
          <p:cNvSpPr txBox="true"/>
          <p:nvPr/>
        </p:nvSpPr>
        <p:spPr>
          <a:xfrm rot="0">
            <a:off x="992991" y="5988472"/>
            <a:ext cx="16315868" cy="285064"/>
          </a:xfrm>
          <a:prstGeom prst="rect">
            <a:avLst/>
          </a:prstGeom>
        </p:spPr>
        <p:txBody>
          <a:bodyPr anchor="t" rtlCol="false" tIns="0" lIns="0" bIns="0" rIns="0">
            <a:spAutoFit/>
          </a:bodyPr>
          <a:lstStyle/>
          <a:p>
            <a:pPr algn="l">
              <a:lnSpc>
                <a:spcPts val="2060"/>
              </a:lnSpc>
            </a:pPr>
            <a:r>
              <a:rPr lang="en-US" sz="1651">
                <a:solidFill>
                  <a:srgbClr val="152D47"/>
                </a:solidFill>
                <a:latin typeface="Crimson Pro"/>
                <a:ea typeface="Crimson Pro"/>
                <a:cs typeface="Crimson Pro"/>
                <a:sym typeface="Crimson Pro"/>
              </a:rPr>
              <a:t>Why is Circuit 3 Required?</a:t>
            </a:r>
          </a:p>
        </p:txBody>
      </p:sp>
      <p:sp>
        <p:nvSpPr>
          <p:cNvPr name="TextBox 54" id="54"/>
          <p:cNvSpPr txBox="true"/>
          <p:nvPr/>
        </p:nvSpPr>
        <p:spPr>
          <a:xfrm rot="0">
            <a:off x="992991" y="6389418"/>
            <a:ext cx="16315868" cy="751132"/>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The optocoupler-based PMOS driver successfully isolates the controller from the high-voltage power stage and improves system safety. However, the PMOS remains ON only while the control signal is continuously applied. In many industrial automation systems, it is desirable for the output to remain in its commanded state even after the control pulse has ended.</a:t>
            </a:r>
          </a:p>
          <a:p>
            <a:pPr algn="l">
              <a:lnSpc>
                <a:spcPts val="1260"/>
              </a:lnSpc>
            </a:pPr>
            <a:r>
              <a:rPr lang="en-US" sz="1050">
                <a:solidFill>
                  <a:srgbClr val="4C4C4D"/>
                </a:solidFill>
                <a:latin typeface="Heebo"/>
                <a:ea typeface="Heebo"/>
                <a:cs typeface="Heebo"/>
                <a:sym typeface="Heebo"/>
              </a:rPr>
              <a:t>To meet this requirement, the next design introduces a </a:t>
            </a:r>
            <a:r>
              <a:rPr lang="en-US" sz="1050" b="true">
                <a:solidFill>
                  <a:srgbClr val="4C4C4D"/>
                </a:solidFill>
                <a:latin typeface="Heebo Bold"/>
                <a:ea typeface="Heebo Bold"/>
                <a:cs typeface="Heebo Bold"/>
                <a:sym typeface="Heebo Bold"/>
              </a:rPr>
              <a:t>transistor-based latching circuit</a:t>
            </a:r>
            <a:r>
              <a:rPr lang="en-US" sz="1050">
                <a:solidFill>
                  <a:srgbClr val="4C4C4D"/>
                </a:solidFill>
                <a:latin typeface="Heebo"/>
                <a:ea typeface="Heebo"/>
                <a:cs typeface="Heebo"/>
                <a:sym typeface="Heebo"/>
              </a:rPr>
              <a:t>. The latching circuit stores the output state using positive feedback, allowing the PMOS to remain ON after a short SET pulse and to turn OFF only when a separate RESET pulse is applied.</a:t>
            </a:r>
          </a:p>
        </p:txBody>
      </p:sp>
      <p:sp>
        <p:nvSpPr>
          <p:cNvPr name="TextBox 55" id="55"/>
          <p:cNvSpPr txBox="true"/>
          <p:nvPr/>
        </p:nvSpPr>
        <p:spPr>
          <a:xfrm rot="0">
            <a:off x="992991" y="7227846"/>
            <a:ext cx="16315868" cy="285064"/>
          </a:xfrm>
          <a:prstGeom prst="rect">
            <a:avLst/>
          </a:prstGeom>
        </p:spPr>
        <p:txBody>
          <a:bodyPr anchor="t" rtlCol="false" tIns="0" lIns="0" bIns="0" rIns="0">
            <a:spAutoFit/>
          </a:bodyPr>
          <a:lstStyle/>
          <a:p>
            <a:pPr algn="l">
              <a:lnSpc>
                <a:spcPts val="2060"/>
              </a:lnSpc>
            </a:pPr>
            <a:r>
              <a:rPr lang="en-US" sz="1651">
                <a:solidFill>
                  <a:srgbClr val="152D47"/>
                </a:solidFill>
                <a:latin typeface="Crimson Pro"/>
                <a:ea typeface="Crimson Pro"/>
                <a:cs typeface="Crimson Pro"/>
                <a:sym typeface="Crimson Pro"/>
              </a:rPr>
              <a:t>Key Benefits of Circuit 3 (Latching Circuit)</a:t>
            </a:r>
          </a:p>
        </p:txBody>
      </p:sp>
      <p:grpSp>
        <p:nvGrpSpPr>
          <p:cNvPr name="Group 56" id="56"/>
          <p:cNvGrpSpPr/>
          <p:nvPr/>
        </p:nvGrpSpPr>
        <p:grpSpPr>
          <a:xfrm rot="0">
            <a:off x="983456" y="7609723"/>
            <a:ext cx="8141551" cy="511026"/>
            <a:chOff x="0" y="0"/>
            <a:chExt cx="10855401" cy="681368"/>
          </a:xfrm>
        </p:grpSpPr>
        <p:sp>
          <p:nvSpPr>
            <p:cNvPr name="Freeform 57" id="57"/>
            <p:cNvSpPr/>
            <p:nvPr/>
          </p:nvSpPr>
          <p:spPr>
            <a:xfrm flipH="false" flipV="false" rot="0">
              <a:off x="0" y="0"/>
              <a:ext cx="10855325" cy="681355"/>
            </a:xfrm>
            <a:custGeom>
              <a:avLst/>
              <a:gdLst/>
              <a:ahLst/>
              <a:cxnLst/>
              <a:rect r="r" b="b" t="t" l="l"/>
              <a:pathLst>
                <a:path h="681355" w="10855325">
                  <a:moveTo>
                    <a:pt x="0" y="29464"/>
                  </a:moveTo>
                  <a:cubicBezTo>
                    <a:pt x="0" y="13208"/>
                    <a:pt x="13208" y="0"/>
                    <a:pt x="29464" y="0"/>
                  </a:cubicBezTo>
                  <a:lnTo>
                    <a:pt x="10825861" y="0"/>
                  </a:lnTo>
                  <a:cubicBezTo>
                    <a:pt x="10842117" y="0"/>
                    <a:pt x="10855325" y="13208"/>
                    <a:pt x="10855325" y="29464"/>
                  </a:cubicBezTo>
                  <a:lnTo>
                    <a:pt x="10855325" y="651891"/>
                  </a:lnTo>
                  <a:cubicBezTo>
                    <a:pt x="10855325" y="668147"/>
                    <a:pt x="10842117" y="681355"/>
                    <a:pt x="10825861" y="681355"/>
                  </a:cubicBezTo>
                  <a:lnTo>
                    <a:pt x="29464" y="681355"/>
                  </a:lnTo>
                  <a:cubicBezTo>
                    <a:pt x="13208" y="681355"/>
                    <a:pt x="0" y="668147"/>
                    <a:pt x="0" y="651891"/>
                  </a:cubicBezTo>
                  <a:close/>
                </a:path>
              </a:pathLst>
            </a:custGeom>
            <a:solidFill>
              <a:srgbClr val="FFFFFF"/>
            </a:solidFill>
            <a:ln w="19065" cap="sq">
              <a:solidFill>
                <a:srgbClr val="D8D4D4"/>
              </a:solidFill>
              <a:prstDash val="solid"/>
              <a:miter/>
            </a:ln>
          </p:spPr>
        </p:sp>
      </p:grpSp>
      <p:sp>
        <p:nvSpPr>
          <p:cNvPr name="TextBox 58" id="58"/>
          <p:cNvSpPr txBox="true"/>
          <p:nvPr/>
        </p:nvSpPr>
        <p:spPr>
          <a:xfrm rot="0">
            <a:off x="1153839" y="7789640"/>
            <a:ext cx="7800775"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Memory-Based Switching:</a:t>
            </a:r>
            <a:r>
              <a:rPr lang="en-US" sz="1050">
                <a:solidFill>
                  <a:srgbClr val="4C4C4D"/>
                </a:solidFill>
                <a:latin typeface="Heebo"/>
                <a:ea typeface="Heebo"/>
                <a:cs typeface="Heebo"/>
                <a:sym typeface="Heebo"/>
              </a:rPr>
              <a:t> Output state is retained after the control pulse ends</a:t>
            </a:r>
          </a:p>
        </p:txBody>
      </p:sp>
      <p:grpSp>
        <p:nvGrpSpPr>
          <p:cNvPr name="Group 59" id="59"/>
          <p:cNvGrpSpPr/>
          <p:nvPr/>
        </p:nvGrpSpPr>
        <p:grpSpPr>
          <a:xfrm rot="0">
            <a:off x="9176833" y="7609723"/>
            <a:ext cx="8141551" cy="511026"/>
            <a:chOff x="0" y="0"/>
            <a:chExt cx="10855401" cy="681368"/>
          </a:xfrm>
        </p:grpSpPr>
        <p:sp>
          <p:nvSpPr>
            <p:cNvPr name="Freeform 60" id="60"/>
            <p:cNvSpPr/>
            <p:nvPr/>
          </p:nvSpPr>
          <p:spPr>
            <a:xfrm flipH="false" flipV="false" rot="0">
              <a:off x="0" y="0"/>
              <a:ext cx="10855325" cy="681355"/>
            </a:xfrm>
            <a:custGeom>
              <a:avLst/>
              <a:gdLst/>
              <a:ahLst/>
              <a:cxnLst/>
              <a:rect r="r" b="b" t="t" l="l"/>
              <a:pathLst>
                <a:path h="681355" w="10855325">
                  <a:moveTo>
                    <a:pt x="0" y="29464"/>
                  </a:moveTo>
                  <a:cubicBezTo>
                    <a:pt x="0" y="13208"/>
                    <a:pt x="13208" y="0"/>
                    <a:pt x="29464" y="0"/>
                  </a:cubicBezTo>
                  <a:lnTo>
                    <a:pt x="10825861" y="0"/>
                  </a:lnTo>
                  <a:cubicBezTo>
                    <a:pt x="10842117" y="0"/>
                    <a:pt x="10855325" y="13208"/>
                    <a:pt x="10855325" y="29464"/>
                  </a:cubicBezTo>
                  <a:lnTo>
                    <a:pt x="10855325" y="651891"/>
                  </a:lnTo>
                  <a:cubicBezTo>
                    <a:pt x="10855325" y="668147"/>
                    <a:pt x="10842117" y="681355"/>
                    <a:pt x="10825861" y="681355"/>
                  </a:cubicBezTo>
                  <a:lnTo>
                    <a:pt x="29464" y="681355"/>
                  </a:lnTo>
                  <a:cubicBezTo>
                    <a:pt x="13208" y="681355"/>
                    <a:pt x="0" y="668147"/>
                    <a:pt x="0" y="651891"/>
                  </a:cubicBezTo>
                  <a:close/>
                </a:path>
              </a:pathLst>
            </a:custGeom>
            <a:solidFill>
              <a:srgbClr val="FFFFFF"/>
            </a:solidFill>
            <a:ln w="19065" cap="sq">
              <a:solidFill>
                <a:srgbClr val="D8D4D4"/>
              </a:solidFill>
              <a:prstDash val="solid"/>
              <a:miter/>
            </a:ln>
          </p:spPr>
        </p:sp>
      </p:grpSp>
      <p:sp>
        <p:nvSpPr>
          <p:cNvPr name="TextBox 61" id="61"/>
          <p:cNvSpPr txBox="true"/>
          <p:nvPr/>
        </p:nvSpPr>
        <p:spPr>
          <a:xfrm rot="0">
            <a:off x="9347225" y="7789640"/>
            <a:ext cx="7800775"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Reduced Controller Workload:</a:t>
            </a:r>
            <a:r>
              <a:rPr lang="en-US" sz="1050">
                <a:solidFill>
                  <a:srgbClr val="4C4C4D"/>
                </a:solidFill>
                <a:latin typeface="Heebo"/>
                <a:ea typeface="Heebo"/>
                <a:cs typeface="Heebo"/>
                <a:sym typeface="Heebo"/>
              </a:rPr>
              <a:t> No need for continuous signal application</a:t>
            </a:r>
          </a:p>
        </p:txBody>
      </p:sp>
      <p:grpSp>
        <p:nvGrpSpPr>
          <p:cNvPr name="Group 62" id="62"/>
          <p:cNvGrpSpPr/>
          <p:nvPr/>
        </p:nvGrpSpPr>
        <p:grpSpPr>
          <a:xfrm rot="0">
            <a:off x="983456" y="8172583"/>
            <a:ext cx="8141551" cy="511026"/>
            <a:chOff x="0" y="0"/>
            <a:chExt cx="10855401" cy="681368"/>
          </a:xfrm>
        </p:grpSpPr>
        <p:sp>
          <p:nvSpPr>
            <p:cNvPr name="Freeform 63" id="63"/>
            <p:cNvSpPr/>
            <p:nvPr/>
          </p:nvSpPr>
          <p:spPr>
            <a:xfrm flipH="false" flipV="false" rot="0">
              <a:off x="0" y="0"/>
              <a:ext cx="10855325" cy="681355"/>
            </a:xfrm>
            <a:custGeom>
              <a:avLst/>
              <a:gdLst/>
              <a:ahLst/>
              <a:cxnLst/>
              <a:rect r="r" b="b" t="t" l="l"/>
              <a:pathLst>
                <a:path h="681355" w="10855325">
                  <a:moveTo>
                    <a:pt x="0" y="29464"/>
                  </a:moveTo>
                  <a:cubicBezTo>
                    <a:pt x="0" y="13208"/>
                    <a:pt x="13208" y="0"/>
                    <a:pt x="29464" y="0"/>
                  </a:cubicBezTo>
                  <a:lnTo>
                    <a:pt x="10825861" y="0"/>
                  </a:lnTo>
                  <a:cubicBezTo>
                    <a:pt x="10842117" y="0"/>
                    <a:pt x="10855325" y="13208"/>
                    <a:pt x="10855325" y="29464"/>
                  </a:cubicBezTo>
                  <a:lnTo>
                    <a:pt x="10855325" y="651891"/>
                  </a:lnTo>
                  <a:cubicBezTo>
                    <a:pt x="10855325" y="668147"/>
                    <a:pt x="10842117" y="681355"/>
                    <a:pt x="10825861" y="681355"/>
                  </a:cubicBezTo>
                  <a:lnTo>
                    <a:pt x="29464" y="681355"/>
                  </a:lnTo>
                  <a:cubicBezTo>
                    <a:pt x="13208" y="681355"/>
                    <a:pt x="0" y="668147"/>
                    <a:pt x="0" y="651891"/>
                  </a:cubicBezTo>
                  <a:close/>
                </a:path>
              </a:pathLst>
            </a:custGeom>
            <a:solidFill>
              <a:srgbClr val="FFFFFF"/>
            </a:solidFill>
            <a:ln w="19065" cap="sq">
              <a:solidFill>
                <a:srgbClr val="D8D4D4"/>
              </a:solidFill>
              <a:prstDash val="solid"/>
              <a:miter/>
            </a:ln>
          </p:spPr>
        </p:sp>
      </p:grpSp>
      <p:sp>
        <p:nvSpPr>
          <p:cNvPr name="TextBox 64" id="64"/>
          <p:cNvSpPr txBox="true"/>
          <p:nvPr/>
        </p:nvSpPr>
        <p:spPr>
          <a:xfrm rot="0">
            <a:off x="1153839" y="8352501"/>
            <a:ext cx="7800775"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Minimized Drive Requirements:</a:t>
            </a:r>
            <a:r>
              <a:rPr lang="en-US" sz="1050">
                <a:solidFill>
                  <a:srgbClr val="4C4C4D"/>
                </a:solidFill>
                <a:latin typeface="Heebo"/>
                <a:ea typeface="Heebo"/>
                <a:cs typeface="Heebo"/>
                <a:sym typeface="Heebo"/>
              </a:rPr>
              <a:t> Lower power consumption from the control circuit</a:t>
            </a:r>
          </a:p>
        </p:txBody>
      </p:sp>
      <p:grpSp>
        <p:nvGrpSpPr>
          <p:cNvPr name="Group 65" id="65"/>
          <p:cNvGrpSpPr/>
          <p:nvPr/>
        </p:nvGrpSpPr>
        <p:grpSpPr>
          <a:xfrm rot="0">
            <a:off x="9176833" y="8172583"/>
            <a:ext cx="8141551" cy="511026"/>
            <a:chOff x="0" y="0"/>
            <a:chExt cx="10855401" cy="681368"/>
          </a:xfrm>
        </p:grpSpPr>
        <p:sp>
          <p:nvSpPr>
            <p:cNvPr name="Freeform 66" id="66"/>
            <p:cNvSpPr/>
            <p:nvPr/>
          </p:nvSpPr>
          <p:spPr>
            <a:xfrm flipH="false" flipV="false" rot="0">
              <a:off x="0" y="0"/>
              <a:ext cx="10855325" cy="681355"/>
            </a:xfrm>
            <a:custGeom>
              <a:avLst/>
              <a:gdLst/>
              <a:ahLst/>
              <a:cxnLst/>
              <a:rect r="r" b="b" t="t" l="l"/>
              <a:pathLst>
                <a:path h="681355" w="10855325">
                  <a:moveTo>
                    <a:pt x="0" y="29464"/>
                  </a:moveTo>
                  <a:cubicBezTo>
                    <a:pt x="0" y="13208"/>
                    <a:pt x="13208" y="0"/>
                    <a:pt x="29464" y="0"/>
                  </a:cubicBezTo>
                  <a:lnTo>
                    <a:pt x="10825861" y="0"/>
                  </a:lnTo>
                  <a:cubicBezTo>
                    <a:pt x="10842117" y="0"/>
                    <a:pt x="10855325" y="13208"/>
                    <a:pt x="10855325" y="29464"/>
                  </a:cubicBezTo>
                  <a:lnTo>
                    <a:pt x="10855325" y="651891"/>
                  </a:lnTo>
                  <a:cubicBezTo>
                    <a:pt x="10855325" y="668147"/>
                    <a:pt x="10842117" y="681355"/>
                    <a:pt x="10825861" y="681355"/>
                  </a:cubicBezTo>
                  <a:lnTo>
                    <a:pt x="29464" y="681355"/>
                  </a:lnTo>
                  <a:cubicBezTo>
                    <a:pt x="13208" y="681355"/>
                    <a:pt x="0" y="668147"/>
                    <a:pt x="0" y="651891"/>
                  </a:cubicBezTo>
                  <a:close/>
                </a:path>
              </a:pathLst>
            </a:custGeom>
            <a:solidFill>
              <a:srgbClr val="FFFFFF"/>
            </a:solidFill>
            <a:ln w="19065" cap="sq">
              <a:solidFill>
                <a:srgbClr val="D8D4D4"/>
              </a:solidFill>
              <a:prstDash val="solid"/>
              <a:miter/>
            </a:ln>
          </p:spPr>
        </p:sp>
      </p:grpSp>
      <p:sp>
        <p:nvSpPr>
          <p:cNvPr name="TextBox 67" id="67"/>
          <p:cNvSpPr txBox="true"/>
          <p:nvPr/>
        </p:nvSpPr>
        <p:spPr>
          <a:xfrm rot="0">
            <a:off x="9347225" y="8352501"/>
            <a:ext cx="7800775"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Pulse-Based Control:</a:t>
            </a:r>
            <a:r>
              <a:rPr lang="en-US" sz="1050">
                <a:solidFill>
                  <a:srgbClr val="4C4C4D"/>
                </a:solidFill>
                <a:latin typeface="Heebo"/>
                <a:ea typeface="Heebo"/>
                <a:cs typeface="Heebo"/>
                <a:sym typeface="Heebo"/>
              </a:rPr>
              <a:t> SET and RESET pulses instead of continuous signals</a:t>
            </a:r>
          </a:p>
        </p:txBody>
      </p:sp>
      <p:grpSp>
        <p:nvGrpSpPr>
          <p:cNvPr name="Group 68" id="68"/>
          <p:cNvGrpSpPr/>
          <p:nvPr/>
        </p:nvGrpSpPr>
        <p:grpSpPr>
          <a:xfrm rot="0">
            <a:off x="983456" y="8735444"/>
            <a:ext cx="8141551" cy="511026"/>
            <a:chOff x="0" y="0"/>
            <a:chExt cx="10855401" cy="681368"/>
          </a:xfrm>
        </p:grpSpPr>
        <p:sp>
          <p:nvSpPr>
            <p:cNvPr name="Freeform 69" id="69"/>
            <p:cNvSpPr/>
            <p:nvPr/>
          </p:nvSpPr>
          <p:spPr>
            <a:xfrm flipH="false" flipV="false" rot="0">
              <a:off x="0" y="0"/>
              <a:ext cx="10855325" cy="681355"/>
            </a:xfrm>
            <a:custGeom>
              <a:avLst/>
              <a:gdLst/>
              <a:ahLst/>
              <a:cxnLst/>
              <a:rect r="r" b="b" t="t" l="l"/>
              <a:pathLst>
                <a:path h="681355" w="10855325">
                  <a:moveTo>
                    <a:pt x="0" y="29464"/>
                  </a:moveTo>
                  <a:cubicBezTo>
                    <a:pt x="0" y="13208"/>
                    <a:pt x="13208" y="0"/>
                    <a:pt x="29464" y="0"/>
                  </a:cubicBezTo>
                  <a:lnTo>
                    <a:pt x="10825861" y="0"/>
                  </a:lnTo>
                  <a:cubicBezTo>
                    <a:pt x="10842117" y="0"/>
                    <a:pt x="10855325" y="13208"/>
                    <a:pt x="10855325" y="29464"/>
                  </a:cubicBezTo>
                  <a:lnTo>
                    <a:pt x="10855325" y="651891"/>
                  </a:lnTo>
                  <a:cubicBezTo>
                    <a:pt x="10855325" y="668147"/>
                    <a:pt x="10842117" y="681355"/>
                    <a:pt x="10825861" y="681355"/>
                  </a:cubicBezTo>
                  <a:lnTo>
                    <a:pt x="29464" y="681355"/>
                  </a:lnTo>
                  <a:cubicBezTo>
                    <a:pt x="13208" y="681355"/>
                    <a:pt x="0" y="668147"/>
                    <a:pt x="0" y="651891"/>
                  </a:cubicBezTo>
                  <a:close/>
                </a:path>
              </a:pathLst>
            </a:custGeom>
            <a:solidFill>
              <a:srgbClr val="FFFFFF"/>
            </a:solidFill>
            <a:ln w="19065" cap="sq">
              <a:solidFill>
                <a:srgbClr val="D8D4D4"/>
              </a:solidFill>
              <a:prstDash val="solid"/>
              <a:miter/>
            </a:ln>
          </p:spPr>
        </p:sp>
      </p:grpSp>
      <p:sp>
        <p:nvSpPr>
          <p:cNvPr name="TextBox 70" id="70"/>
          <p:cNvSpPr txBox="true"/>
          <p:nvPr/>
        </p:nvSpPr>
        <p:spPr>
          <a:xfrm rot="0">
            <a:off x="1153839" y="8915362"/>
            <a:ext cx="7800775"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Industrial Automation Ready:</a:t>
            </a:r>
            <a:r>
              <a:rPr lang="en-US" sz="1050">
                <a:solidFill>
                  <a:srgbClr val="4C4C4D"/>
                </a:solidFill>
                <a:latin typeface="Heebo"/>
                <a:ea typeface="Heebo"/>
                <a:cs typeface="Heebo"/>
                <a:sym typeface="Heebo"/>
              </a:rPr>
              <a:t> Ideal for relay-like behavior in control systems</a:t>
            </a:r>
          </a:p>
        </p:txBody>
      </p:sp>
      <p:grpSp>
        <p:nvGrpSpPr>
          <p:cNvPr name="Group 71" id="71"/>
          <p:cNvGrpSpPr/>
          <p:nvPr/>
        </p:nvGrpSpPr>
        <p:grpSpPr>
          <a:xfrm rot="0">
            <a:off x="9176833" y="8735444"/>
            <a:ext cx="8141551" cy="511026"/>
            <a:chOff x="0" y="0"/>
            <a:chExt cx="10855401" cy="681368"/>
          </a:xfrm>
        </p:grpSpPr>
        <p:sp>
          <p:nvSpPr>
            <p:cNvPr name="Freeform 72" id="72"/>
            <p:cNvSpPr/>
            <p:nvPr/>
          </p:nvSpPr>
          <p:spPr>
            <a:xfrm flipH="false" flipV="false" rot="0">
              <a:off x="0" y="0"/>
              <a:ext cx="10855325" cy="681355"/>
            </a:xfrm>
            <a:custGeom>
              <a:avLst/>
              <a:gdLst/>
              <a:ahLst/>
              <a:cxnLst/>
              <a:rect r="r" b="b" t="t" l="l"/>
              <a:pathLst>
                <a:path h="681355" w="10855325">
                  <a:moveTo>
                    <a:pt x="0" y="29464"/>
                  </a:moveTo>
                  <a:cubicBezTo>
                    <a:pt x="0" y="13208"/>
                    <a:pt x="13208" y="0"/>
                    <a:pt x="29464" y="0"/>
                  </a:cubicBezTo>
                  <a:lnTo>
                    <a:pt x="10825861" y="0"/>
                  </a:lnTo>
                  <a:cubicBezTo>
                    <a:pt x="10842117" y="0"/>
                    <a:pt x="10855325" y="13208"/>
                    <a:pt x="10855325" y="29464"/>
                  </a:cubicBezTo>
                  <a:lnTo>
                    <a:pt x="10855325" y="651891"/>
                  </a:lnTo>
                  <a:cubicBezTo>
                    <a:pt x="10855325" y="668147"/>
                    <a:pt x="10842117" y="681355"/>
                    <a:pt x="10825861" y="681355"/>
                  </a:cubicBezTo>
                  <a:lnTo>
                    <a:pt x="29464" y="681355"/>
                  </a:lnTo>
                  <a:cubicBezTo>
                    <a:pt x="13208" y="681355"/>
                    <a:pt x="0" y="668147"/>
                    <a:pt x="0" y="651891"/>
                  </a:cubicBezTo>
                  <a:close/>
                </a:path>
              </a:pathLst>
            </a:custGeom>
            <a:solidFill>
              <a:srgbClr val="FFFFFF"/>
            </a:solidFill>
            <a:ln w="19065" cap="sq">
              <a:solidFill>
                <a:srgbClr val="D8D4D4"/>
              </a:solidFill>
              <a:prstDash val="solid"/>
              <a:miter/>
            </a:ln>
          </p:spPr>
        </p:sp>
      </p:grpSp>
      <p:sp>
        <p:nvSpPr>
          <p:cNvPr name="TextBox 73" id="73"/>
          <p:cNvSpPr txBox="true"/>
          <p:nvPr/>
        </p:nvSpPr>
        <p:spPr>
          <a:xfrm rot="0">
            <a:off x="9347225" y="8915362"/>
            <a:ext cx="7800775" cy="160715"/>
          </a:xfrm>
          <a:prstGeom prst="rect">
            <a:avLst/>
          </a:prstGeom>
        </p:spPr>
        <p:txBody>
          <a:bodyPr anchor="t" rtlCol="false" tIns="0" lIns="0" bIns="0" rIns="0">
            <a:spAutoFit/>
          </a:bodyPr>
          <a:lstStyle/>
          <a:p>
            <a:pPr algn="l">
              <a:lnSpc>
                <a:spcPts val="1260"/>
              </a:lnSpc>
            </a:pPr>
            <a:r>
              <a:rPr lang="en-US" sz="1050" b="true">
                <a:solidFill>
                  <a:srgbClr val="4C4C4D"/>
                </a:solidFill>
                <a:latin typeface="Heebo Bold"/>
                <a:ea typeface="Heebo Bold"/>
                <a:cs typeface="Heebo Bold"/>
                <a:sym typeface="Heebo Bold"/>
              </a:rPr>
              <a:t>Safety-Critical Applications:</a:t>
            </a:r>
            <a:r>
              <a:rPr lang="en-US" sz="1050">
                <a:solidFill>
                  <a:srgbClr val="4C4C4D"/>
                </a:solidFill>
                <a:latin typeface="Heebo"/>
                <a:ea typeface="Heebo"/>
                <a:cs typeface="Heebo"/>
                <a:sym typeface="Heebo"/>
              </a:rPr>
              <a:t> Enables fail-safe designs with explicit RESET commands</a:t>
            </a:r>
          </a:p>
        </p:txBody>
      </p:sp>
      <p:sp>
        <p:nvSpPr>
          <p:cNvPr name="TextBox 74" id="74"/>
          <p:cNvSpPr txBox="true"/>
          <p:nvPr/>
        </p:nvSpPr>
        <p:spPr>
          <a:xfrm rot="0">
            <a:off x="992991" y="9324242"/>
            <a:ext cx="16315868" cy="285064"/>
          </a:xfrm>
          <a:prstGeom prst="rect">
            <a:avLst/>
          </a:prstGeom>
        </p:spPr>
        <p:txBody>
          <a:bodyPr anchor="t" rtlCol="false" tIns="0" lIns="0" bIns="0" rIns="0">
            <a:spAutoFit/>
          </a:bodyPr>
          <a:lstStyle/>
          <a:p>
            <a:pPr algn="l">
              <a:lnSpc>
                <a:spcPts val="2060"/>
              </a:lnSpc>
            </a:pPr>
            <a:r>
              <a:rPr lang="en-US" sz="1651">
                <a:solidFill>
                  <a:srgbClr val="152D47"/>
                </a:solidFill>
                <a:latin typeface="Crimson Pro"/>
                <a:ea typeface="Crimson Pro"/>
                <a:cs typeface="Crimson Pro"/>
                <a:sym typeface="Crimson Pro"/>
              </a:rPr>
              <a:t>Next Steps:</a:t>
            </a:r>
          </a:p>
        </p:txBody>
      </p:sp>
      <p:sp>
        <p:nvSpPr>
          <p:cNvPr name="TextBox 75" id="75"/>
          <p:cNvSpPr txBox="true"/>
          <p:nvPr/>
        </p:nvSpPr>
        <p:spPr>
          <a:xfrm rot="0">
            <a:off x="992991" y="9725177"/>
            <a:ext cx="16315868" cy="33096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Circuit 3 will demonstrate how a latching circuit enables memory-based switching, allowing the PMOS to maintain its state independently. This design is essential for industrial control and automation systems where continuous drive signals are impractical or undesirable.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0F0F1"/>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6" id="6"/>
          <p:cNvGrpSpPr/>
          <p:nvPr/>
        </p:nvGrpSpPr>
        <p:grpSpPr>
          <a:xfrm rot="0">
            <a:off x="16628307" y="9846183"/>
            <a:ext cx="1609020" cy="384353"/>
            <a:chOff x="0" y="0"/>
            <a:chExt cx="2145360" cy="512470"/>
          </a:xfrm>
        </p:grpSpPr>
        <p:sp>
          <p:nvSpPr>
            <p:cNvPr name="Freeform 7" id="7" descr="preencoded.png">
              <a:hlinkClick r:id="rId3" tooltip="https://gamma.app/?utm_source=made-with-gamma"/>
            </p:cNvPr>
            <p:cNvSpPr/>
            <p:nvPr/>
          </p:nvSpPr>
          <p:spPr>
            <a:xfrm flipH="false" flipV="false" rot="0">
              <a:off x="0" y="0"/>
              <a:ext cx="2145411" cy="512445"/>
            </a:xfrm>
            <a:custGeom>
              <a:avLst/>
              <a:gdLst/>
              <a:ahLst/>
              <a:cxnLst/>
              <a:rect r="r" b="b" t="t" l="l"/>
              <a:pathLst>
                <a:path h="512445" w="2145411">
                  <a:moveTo>
                    <a:pt x="0" y="0"/>
                  </a:moveTo>
                  <a:lnTo>
                    <a:pt x="2145411" y="0"/>
                  </a:lnTo>
                  <a:lnTo>
                    <a:pt x="2145411" y="512445"/>
                  </a:lnTo>
                  <a:lnTo>
                    <a:pt x="0" y="512445"/>
                  </a:lnTo>
                  <a:lnTo>
                    <a:pt x="0" y="0"/>
                  </a:lnTo>
                  <a:close/>
                </a:path>
              </a:pathLst>
            </a:custGeom>
            <a:blipFill>
              <a:blip r:embed="rId4"/>
              <a:stretch>
                <a:fillRect l="0" t="0" r="2" b="-4"/>
              </a:stretch>
            </a:blipFill>
          </p:spPr>
        </p:sp>
      </p:grpSp>
      <p:sp>
        <p:nvSpPr>
          <p:cNvPr name="TextBox 8" id="8"/>
          <p:cNvSpPr txBox="true"/>
          <p:nvPr/>
        </p:nvSpPr>
        <p:spPr>
          <a:xfrm rot="0">
            <a:off x="992991" y="828599"/>
            <a:ext cx="16315868" cy="679761"/>
          </a:xfrm>
          <a:prstGeom prst="rect">
            <a:avLst/>
          </a:prstGeom>
        </p:spPr>
        <p:txBody>
          <a:bodyPr anchor="t" rtlCol="false" tIns="0" lIns="0" bIns="0" rIns="0">
            <a:spAutoFit/>
          </a:bodyPr>
          <a:lstStyle/>
          <a:p>
            <a:pPr algn="l">
              <a:lnSpc>
                <a:spcPts val="5058"/>
              </a:lnSpc>
            </a:pPr>
            <a:r>
              <a:rPr lang="en-US" sz="4053">
                <a:solidFill>
                  <a:srgbClr val="152D47"/>
                </a:solidFill>
                <a:latin typeface="Crimson Pro"/>
                <a:ea typeface="Crimson Pro"/>
                <a:cs typeface="Crimson Pro"/>
                <a:sym typeface="Crimson Pro"/>
              </a:rPr>
              <a:t>Circuit-03:PMOS High-Side Driver with Transistor Latching Circuit</a:t>
            </a:r>
          </a:p>
        </p:txBody>
      </p:sp>
      <p:sp>
        <p:nvSpPr>
          <p:cNvPr name="TextBox 9" id="9"/>
          <p:cNvSpPr txBox="true"/>
          <p:nvPr/>
        </p:nvSpPr>
        <p:spPr>
          <a:xfrm rot="0">
            <a:off x="992991" y="1785718"/>
            <a:ext cx="16315868" cy="1067905"/>
          </a:xfrm>
          <a:prstGeom prst="rect">
            <a:avLst/>
          </a:prstGeom>
        </p:spPr>
        <p:txBody>
          <a:bodyPr anchor="t" rtlCol="false" tIns="0" lIns="0" bIns="0" rIns="0">
            <a:spAutoFit/>
          </a:bodyPr>
          <a:lstStyle/>
          <a:p>
            <a:pPr algn="l">
              <a:lnSpc>
                <a:spcPts val="2194"/>
              </a:lnSpc>
            </a:pPr>
          </a:p>
          <a:p>
            <a:pPr algn="l">
              <a:lnSpc>
                <a:spcPts val="2194"/>
              </a:lnSpc>
            </a:pPr>
            <a:r>
              <a:rPr lang="en-US" sz="1576">
                <a:solidFill>
                  <a:srgbClr val="4C4C4D"/>
                </a:solidFill>
                <a:latin typeface="Heebo"/>
                <a:ea typeface="Heebo"/>
                <a:cs typeface="Heebo"/>
                <a:sym typeface="Heebo"/>
              </a:rPr>
              <a:t>The third proposed circuit incorporates a transistor-based SET–RESET latch with a PMOS high-side switch. Unlike the previous circuits, the PMOS remains ON after receiving a short SET pulse and is turned OFF only by a RESET pulse. This eliminates the need for a continuous control signal, reducing controller workload and improving energy efficiency.</a:t>
            </a:r>
          </a:p>
        </p:txBody>
      </p:sp>
      <p:grpSp>
        <p:nvGrpSpPr>
          <p:cNvPr name="Group 10" id="10"/>
          <p:cNvGrpSpPr/>
          <p:nvPr/>
        </p:nvGrpSpPr>
        <p:grpSpPr>
          <a:xfrm rot="0">
            <a:off x="978694" y="3011357"/>
            <a:ext cx="8109976" cy="3329502"/>
            <a:chOff x="0" y="0"/>
            <a:chExt cx="10813301" cy="4439336"/>
          </a:xfrm>
        </p:grpSpPr>
        <p:sp>
          <p:nvSpPr>
            <p:cNvPr name="Freeform 11" id="11"/>
            <p:cNvSpPr/>
            <p:nvPr/>
          </p:nvSpPr>
          <p:spPr>
            <a:xfrm flipH="false" flipV="false" rot="0">
              <a:off x="0" y="0"/>
              <a:ext cx="10813288" cy="4439285"/>
            </a:xfrm>
            <a:custGeom>
              <a:avLst/>
              <a:gdLst/>
              <a:ahLst/>
              <a:cxnLst/>
              <a:rect r="r" b="b" t="t" l="l"/>
              <a:pathLst>
                <a:path h="4439285" w="10813288">
                  <a:moveTo>
                    <a:pt x="0" y="42037"/>
                  </a:moveTo>
                  <a:cubicBezTo>
                    <a:pt x="0" y="18796"/>
                    <a:pt x="18796" y="0"/>
                    <a:pt x="42037" y="0"/>
                  </a:cubicBezTo>
                  <a:lnTo>
                    <a:pt x="10771251" y="0"/>
                  </a:lnTo>
                  <a:cubicBezTo>
                    <a:pt x="10794492" y="0"/>
                    <a:pt x="10813288" y="18796"/>
                    <a:pt x="10813288" y="42037"/>
                  </a:cubicBezTo>
                  <a:lnTo>
                    <a:pt x="10813288" y="4397248"/>
                  </a:lnTo>
                  <a:cubicBezTo>
                    <a:pt x="10813288" y="4420489"/>
                    <a:pt x="10794492" y="4439285"/>
                    <a:pt x="10771251" y="4439285"/>
                  </a:cubicBezTo>
                  <a:lnTo>
                    <a:pt x="42037" y="4439285"/>
                  </a:lnTo>
                  <a:cubicBezTo>
                    <a:pt x="18796" y="4439285"/>
                    <a:pt x="0" y="4420489"/>
                    <a:pt x="0" y="4397248"/>
                  </a:cubicBezTo>
                  <a:close/>
                </a:path>
              </a:pathLst>
            </a:custGeom>
            <a:solidFill>
              <a:srgbClr val="FFFFFF"/>
            </a:solidFill>
            <a:ln w="28597" cap="sq">
              <a:solidFill>
                <a:srgbClr val="D8D4D4"/>
              </a:solidFill>
              <a:prstDash val="solid"/>
              <a:miter/>
            </a:ln>
          </p:spPr>
        </p:sp>
      </p:grpSp>
      <p:sp>
        <p:nvSpPr>
          <p:cNvPr name="TextBox 12" id="12"/>
          <p:cNvSpPr txBox="true"/>
          <p:nvPr/>
        </p:nvSpPr>
        <p:spPr>
          <a:xfrm rot="0">
            <a:off x="1229954" y="3253102"/>
            <a:ext cx="7607446" cy="400202"/>
          </a:xfrm>
          <a:prstGeom prst="rect">
            <a:avLst/>
          </a:prstGeom>
        </p:spPr>
        <p:txBody>
          <a:bodyPr anchor="t" rtlCol="false" tIns="0" lIns="0" bIns="0" rIns="0">
            <a:spAutoFit/>
          </a:bodyPr>
          <a:lstStyle/>
          <a:p>
            <a:pPr algn="l">
              <a:lnSpc>
                <a:spcPts val="2997"/>
              </a:lnSpc>
            </a:pPr>
            <a:r>
              <a:rPr lang="en-US" sz="2401">
                <a:solidFill>
                  <a:srgbClr val="4C4C4D"/>
                </a:solidFill>
                <a:latin typeface="Crimson Pro"/>
                <a:ea typeface="Crimson Pro"/>
                <a:cs typeface="Crimson Pro"/>
                <a:sym typeface="Crimson Pro"/>
              </a:rPr>
              <a:t>Components Used</a:t>
            </a:r>
          </a:p>
        </p:txBody>
      </p:sp>
      <p:sp>
        <p:nvSpPr>
          <p:cNvPr name="TextBox 13" id="13"/>
          <p:cNvSpPr txBox="true"/>
          <p:nvPr/>
        </p:nvSpPr>
        <p:spPr>
          <a:xfrm rot="0">
            <a:off x="1229954" y="3716484"/>
            <a:ext cx="7607446" cy="2373106"/>
          </a:xfrm>
          <a:prstGeom prst="rect">
            <a:avLst/>
          </a:prstGeom>
        </p:spPr>
        <p:txBody>
          <a:bodyPr anchor="t" rtlCol="false" tIns="0" lIns="0" bIns="0" rIns="0">
            <a:spAutoFit/>
          </a:bodyPr>
          <a:lstStyle/>
          <a:p>
            <a:pPr algn="l" marL="285482" indent="-142741" lvl="1">
              <a:lnSpc>
                <a:spcPts val="2194"/>
              </a:lnSpc>
              <a:buFont typeface="Arial"/>
              <a:buChar char="•"/>
            </a:pPr>
            <a:r>
              <a:rPr lang="en-US" sz="1576">
                <a:solidFill>
                  <a:srgbClr val="4C4C4D"/>
                </a:solidFill>
                <a:latin typeface="Heebo"/>
                <a:ea typeface="Heebo"/>
                <a:cs typeface="Heebo"/>
                <a:sym typeface="Heebo"/>
              </a:rPr>
              <a:t>PMOS – High-side switching device</a:t>
            </a:r>
          </a:p>
          <a:p>
            <a:pPr algn="l" marL="285482" indent="-142741" lvl="1">
              <a:lnSpc>
                <a:spcPts val="2194"/>
              </a:lnSpc>
              <a:buFont typeface="Arial"/>
              <a:buChar char="•"/>
            </a:pPr>
            <a:r>
              <a:rPr lang="en-US" sz="1576">
                <a:solidFill>
                  <a:srgbClr val="4C4C4D"/>
                </a:solidFill>
                <a:latin typeface="Heebo"/>
                <a:ea typeface="Heebo"/>
                <a:cs typeface="Heebo"/>
                <a:sym typeface="Heebo"/>
              </a:rPr>
              <a:t>Q1 – SET transistor</a:t>
            </a:r>
          </a:p>
          <a:p>
            <a:pPr algn="l" marL="285482" indent="-142741" lvl="1">
              <a:lnSpc>
                <a:spcPts val="2194"/>
              </a:lnSpc>
              <a:buFont typeface="Arial"/>
              <a:buChar char="•"/>
            </a:pPr>
            <a:r>
              <a:rPr lang="en-US" sz="1576">
                <a:solidFill>
                  <a:srgbClr val="4C4C4D"/>
                </a:solidFill>
                <a:latin typeface="Heebo"/>
                <a:ea typeface="Heebo"/>
                <a:cs typeface="Heebo"/>
                <a:sym typeface="Heebo"/>
              </a:rPr>
              <a:t>Q2 – Latching transistor</a:t>
            </a:r>
          </a:p>
          <a:p>
            <a:pPr algn="l" marL="285482" indent="-142741" lvl="1">
              <a:lnSpc>
                <a:spcPts val="2194"/>
              </a:lnSpc>
              <a:buFont typeface="Arial"/>
              <a:buChar char="•"/>
            </a:pPr>
            <a:r>
              <a:rPr lang="en-US" sz="1576">
                <a:solidFill>
                  <a:srgbClr val="4C4C4D"/>
                </a:solidFill>
                <a:latin typeface="Heebo"/>
                <a:ea typeface="Heebo"/>
                <a:cs typeface="Heebo"/>
                <a:sym typeface="Heebo"/>
              </a:rPr>
              <a:t>Q3 – RESET transistor</a:t>
            </a:r>
          </a:p>
          <a:p>
            <a:pPr algn="l" marL="285482" indent="-142741" lvl="1">
              <a:lnSpc>
                <a:spcPts val="2194"/>
              </a:lnSpc>
              <a:buFont typeface="Arial"/>
              <a:buChar char="•"/>
            </a:pPr>
            <a:r>
              <a:rPr lang="en-US" sz="1576">
                <a:solidFill>
                  <a:srgbClr val="4C4C4D"/>
                </a:solidFill>
                <a:latin typeface="Heebo"/>
                <a:ea typeface="Heebo"/>
                <a:cs typeface="Heebo"/>
                <a:sym typeface="Heebo"/>
              </a:rPr>
              <a:t>Zener diode (12 V) – Gate voltage protection</a:t>
            </a:r>
          </a:p>
          <a:p>
            <a:pPr algn="l" marL="285482" indent="-142741" lvl="1">
              <a:lnSpc>
                <a:spcPts val="2194"/>
              </a:lnSpc>
              <a:buFont typeface="Arial"/>
              <a:buChar char="•"/>
            </a:pPr>
            <a:r>
              <a:rPr lang="en-US" sz="1576">
                <a:solidFill>
                  <a:srgbClr val="4C4C4D"/>
                </a:solidFill>
                <a:latin typeface="Heebo"/>
                <a:ea typeface="Heebo"/>
                <a:cs typeface="Heebo"/>
                <a:sym typeface="Heebo"/>
              </a:rPr>
              <a:t>R1 &amp; R2 – Voltage divider network</a:t>
            </a:r>
          </a:p>
          <a:p>
            <a:pPr algn="l" marL="285482" indent="-142741" lvl="1">
              <a:lnSpc>
                <a:spcPts val="2194"/>
              </a:lnSpc>
              <a:buFont typeface="Arial"/>
              <a:buChar char="•"/>
            </a:pPr>
            <a:r>
              <a:rPr lang="en-US" sz="1576">
                <a:solidFill>
                  <a:srgbClr val="4C4C4D"/>
                </a:solidFill>
                <a:latin typeface="Heebo"/>
                <a:ea typeface="Heebo"/>
                <a:cs typeface="Heebo"/>
                <a:sym typeface="Heebo"/>
              </a:rPr>
              <a:t>RB1, RB2 &amp; RB3 – Base current limiting resistors</a:t>
            </a:r>
          </a:p>
        </p:txBody>
      </p:sp>
      <p:grpSp>
        <p:nvGrpSpPr>
          <p:cNvPr name="Group 14" id="14"/>
          <p:cNvGrpSpPr/>
          <p:nvPr/>
        </p:nvGrpSpPr>
        <p:grpSpPr>
          <a:xfrm rot="0">
            <a:off x="9213028" y="3011357"/>
            <a:ext cx="8110128" cy="3329502"/>
            <a:chOff x="0" y="0"/>
            <a:chExt cx="10813504" cy="4439336"/>
          </a:xfrm>
        </p:grpSpPr>
        <p:sp>
          <p:nvSpPr>
            <p:cNvPr name="Freeform 15" id="15"/>
            <p:cNvSpPr/>
            <p:nvPr/>
          </p:nvSpPr>
          <p:spPr>
            <a:xfrm flipH="false" flipV="false" rot="0">
              <a:off x="0" y="0"/>
              <a:ext cx="10813542" cy="4439285"/>
            </a:xfrm>
            <a:custGeom>
              <a:avLst/>
              <a:gdLst/>
              <a:ahLst/>
              <a:cxnLst/>
              <a:rect r="r" b="b" t="t" l="l"/>
              <a:pathLst>
                <a:path h="4439285" w="10813542">
                  <a:moveTo>
                    <a:pt x="0" y="42037"/>
                  </a:moveTo>
                  <a:cubicBezTo>
                    <a:pt x="0" y="18796"/>
                    <a:pt x="18796" y="0"/>
                    <a:pt x="42037" y="0"/>
                  </a:cubicBezTo>
                  <a:lnTo>
                    <a:pt x="10771505" y="0"/>
                  </a:lnTo>
                  <a:cubicBezTo>
                    <a:pt x="10794747" y="0"/>
                    <a:pt x="10813542" y="18796"/>
                    <a:pt x="10813542" y="42037"/>
                  </a:cubicBezTo>
                  <a:lnTo>
                    <a:pt x="10813542" y="4397248"/>
                  </a:lnTo>
                  <a:cubicBezTo>
                    <a:pt x="10813542" y="4420489"/>
                    <a:pt x="10794747" y="4439285"/>
                    <a:pt x="10771505" y="4439285"/>
                  </a:cubicBezTo>
                  <a:lnTo>
                    <a:pt x="42037" y="4439285"/>
                  </a:lnTo>
                  <a:cubicBezTo>
                    <a:pt x="18796" y="4439285"/>
                    <a:pt x="0" y="4420489"/>
                    <a:pt x="0" y="4397248"/>
                  </a:cubicBezTo>
                  <a:close/>
                </a:path>
              </a:pathLst>
            </a:custGeom>
            <a:solidFill>
              <a:srgbClr val="FFFFFF"/>
            </a:solidFill>
            <a:ln w="28597" cap="sq">
              <a:solidFill>
                <a:srgbClr val="D8D4D4"/>
              </a:solidFill>
              <a:prstDash val="solid"/>
              <a:miter/>
            </a:ln>
          </p:spPr>
        </p:sp>
      </p:grpSp>
      <p:sp>
        <p:nvSpPr>
          <p:cNvPr name="TextBox 16" id="16"/>
          <p:cNvSpPr txBox="true"/>
          <p:nvPr/>
        </p:nvSpPr>
        <p:spPr>
          <a:xfrm rot="0">
            <a:off x="9464297" y="3253102"/>
            <a:ext cx="7607598" cy="400202"/>
          </a:xfrm>
          <a:prstGeom prst="rect">
            <a:avLst/>
          </a:prstGeom>
        </p:spPr>
        <p:txBody>
          <a:bodyPr anchor="t" rtlCol="false" tIns="0" lIns="0" bIns="0" rIns="0">
            <a:spAutoFit/>
          </a:bodyPr>
          <a:lstStyle/>
          <a:p>
            <a:pPr algn="l">
              <a:lnSpc>
                <a:spcPts val="2997"/>
              </a:lnSpc>
            </a:pPr>
            <a:r>
              <a:rPr lang="en-US" sz="2401">
                <a:solidFill>
                  <a:srgbClr val="4C4C4D"/>
                </a:solidFill>
                <a:latin typeface="Crimson Pro"/>
                <a:ea typeface="Crimson Pro"/>
                <a:cs typeface="Crimson Pro"/>
                <a:sym typeface="Crimson Pro"/>
              </a:rPr>
              <a:t>Working Principle: OFF State</a:t>
            </a:r>
          </a:p>
        </p:txBody>
      </p:sp>
      <p:sp>
        <p:nvSpPr>
          <p:cNvPr name="TextBox 17" id="17"/>
          <p:cNvSpPr txBox="true"/>
          <p:nvPr/>
        </p:nvSpPr>
        <p:spPr>
          <a:xfrm rot="0">
            <a:off x="9464297" y="3716484"/>
            <a:ext cx="7607598" cy="1002821"/>
          </a:xfrm>
          <a:prstGeom prst="rect">
            <a:avLst/>
          </a:prstGeom>
        </p:spPr>
        <p:txBody>
          <a:bodyPr anchor="t" rtlCol="false" tIns="0" lIns="0" bIns="0" rIns="0">
            <a:spAutoFit/>
          </a:bodyPr>
          <a:lstStyle/>
          <a:p>
            <a:pPr algn="l" marL="285482" indent="-142741" lvl="1">
              <a:lnSpc>
                <a:spcPts val="2194"/>
              </a:lnSpc>
              <a:buFont typeface="Arial"/>
              <a:buChar char="•"/>
            </a:pPr>
            <a:r>
              <a:rPr lang="en-US" sz="1576">
                <a:solidFill>
                  <a:srgbClr val="4C4C4D"/>
                </a:solidFill>
                <a:latin typeface="Heebo"/>
                <a:ea typeface="Heebo"/>
                <a:cs typeface="Heebo"/>
                <a:sym typeface="Heebo"/>
              </a:rPr>
              <a:t>Q1, Q2, and Q3 remain OFF</a:t>
            </a:r>
          </a:p>
          <a:p>
            <a:pPr algn="l" marL="285482" indent="-142741" lvl="1">
              <a:lnSpc>
                <a:spcPts val="2194"/>
              </a:lnSpc>
              <a:buFont typeface="Arial"/>
              <a:buChar char="•"/>
            </a:pPr>
            <a:r>
              <a:rPr lang="en-US" sz="1576">
                <a:solidFill>
                  <a:srgbClr val="4C4C4D"/>
                </a:solidFill>
                <a:latin typeface="Heebo"/>
                <a:ea typeface="Heebo"/>
                <a:cs typeface="Heebo"/>
                <a:sym typeface="Heebo"/>
              </a:rPr>
              <a:t>PMOS gate equals source voltage</a:t>
            </a:r>
          </a:p>
          <a:p>
            <a:pPr algn="l" marL="285482" indent="-142741" lvl="1">
              <a:lnSpc>
                <a:spcPts val="2194"/>
              </a:lnSpc>
              <a:buFont typeface="Arial"/>
              <a:buChar char="•"/>
            </a:pPr>
            <a:r>
              <a:rPr lang="en-US" sz="1576">
                <a:solidFill>
                  <a:srgbClr val="4C4C4D"/>
                </a:solidFill>
                <a:latin typeface="Heebo"/>
                <a:ea typeface="Heebo"/>
                <a:cs typeface="Heebo"/>
                <a:sym typeface="Heebo"/>
              </a:rPr>
              <a:t>VGS = 0, therefore PMOS is OFF</a:t>
            </a:r>
          </a:p>
        </p:txBody>
      </p:sp>
      <p:grpSp>
        <p:nvGrpSpPr>
          <p:cNvPr name="Group 18" id="18"/>
          <p:cNvGrpSpPr/>
          <p:nvPr/>
        </p:nvGrpSpPr>
        <p:grpSpPr>
          <a:xfrm rot="0">
            <a:off x="978694" y="6465237"/>
            <a:ext cx="8109976" cy="2986935"/>
            <a:chOff x="0" y="0"/>
            <a:chExt cx="10813301" cy="3982580"/>
          </a:xfrm>
        </p:grpSpPr>
        <p:sp>
          <p:nvSpPr>
            <p:cNvPr name="Freeform 19" id="19"/>
            <p:cNvSpPr/>
            <p:nvPr/>
          </p:nvSpPr>
          <p:spPr>
            <a:xfrm flipH="false" flipV="false" rot="0">
              <a:off x="0" y="0"/>
              <a:ext cx="10813288" cy="3982466"/>
            </a:xfrm>
            <a:custGeom>
              <a:avLst/>
              <a:gdLst/>
              <a:ahLst/>
              <a:cxnLst/>
              <a:rect r="r" b="b" t="t" l="l"/>
              <a:pathLst>
                <a:path h="3982466" w="10813288">
                  <a:moveTo>
                    <a:pt x="0" y="42037"/>
                  </a:moveTo>
                  <a:cubicBezTo>
                    <a:pt x="0" y="18796"/>
                    <a:pt x="18796" y="0"/>
                    <a:pt x="42037" y="0"/>
                  </a:cubicBezTo>
                  <a:lnTo>
                    <a:pt x="10771251" y="0"/>
                  </a:lnTo>
                  <a:cubicBezTo>
                    <a:pt x="10794492" y="0"/>
                    <a:pt x="10813288" y="18796"/>
                    <a:pt x="10813288" y="42037"/>
                  </a:cubicBezTo>
                  <a:lnTo>
                    <a:pt x="10813288" y="3940429"/>
                  </a:lnTo>
                  <a:cubicBezTo>
                    <a:pt x="10813288" y="3963670"/>
                    <a:pt x="10794492" y="3982466"/>
                    <a:pt x="10771251" y="3982466"/>
                  </a:cubicBezTo>
                  <a:lnTo>
                    <a:pt x="42037" y="3982466"/>
                  </a:lnTo>
                  <a:cubicBezTo>
                    <a:pt x="18796" y="3982466"/>
                    <a:pt x="0" y="3963670"/>
                    <a:pt x="0" y="3940429"/>
                  </a:cubicBezTo>
                  <a:close/>
                </a:path>
              </a:pathLst>
            </a:custGeom>
            <a:solidFill>
              <a:srgbClr val="FFFFFF"/>
            </a:solidFill>
            <a:ln w="28597" cap="sq">
              <a:solidFill>
                <a:srgbClr val="D8D4D4"/>
              </a:solidFill>
              <a:prstDash val="solid"/>
              <a:miter/>
            </a:ln>
          </p:spPr>
        </p:sp>
      </p:grpSp>
      <p:sp>
        <p:nvSpPr>
          <p:cNvPr name="TextBox 20" id="20"/>
          <p:cNvSpPr txBox="true"/>
          <p:nvPr/>
        </p:nvSpPr>
        <p:spPr>
          <a:xfrm rot="0">
            <a:off x="1229954" y="6706981"/>
            <a:ext cx="7607446" cy="400202"/>
          </a:xfrm>
          <a:prstGeom prst="rect">
            <a:avLst/>
          </a:prstGeom>
        </p:spPr>
        <p:txBody>
          <a:bodyPr anchor="t" rtlCol="false" tIns="0" lIns="0" bIns="0" rIns="0">
            <a:spAutoFit/>
          </a:bodyPr>
          <a:lstStyle/>
          <a:p>
            <a:pPr algn="l">
              <a:lnSpc>
                <a:spcPts val="2997"/>
              </a:lnSpc>
            </a:pPr>
            <a:r>
              <a:rPr lang="en-US" sz="2401">
                <a:solidFill>
                  <a:srgbClr val="4C4C4D"/>
                </a:solidFill>
                <a:latin typeface="Crimson Pro"/>
                <a:ea typeface="Crimson Pro"/>
                <a:cs typeface="Crimson Pro"/>
                <a:sym typeface="Crimson Pro"/>
              </a:rPr>
              <a:t>Working Principle: SET Operation</a:t>
            </a:r>
          </a:p>
        </p:txBody>
      </p:sp>
      <p:sp>
        <p:nvSpPr>
          <p:cNvPr name="TextBox 21" id="21"/>
          <p:cNvSpPr txBox="true"/>
          <p:nvPr/>
        </p:nvSpPr>
        <p:spPr>
          <a:xfrm rot="0">
            <a:off x="1229954" y="7170363"/>
            <a:ext cx="7607446" cy="2030539"/>
          </a:xfrm>
          <a:prstGeom prst="rect">
            <a:avLst/>
          </a:prstGeom>
        </p:spPr>
        <p:txBody>
          <a:bodyPr anchor="t" rtlCol="false" tIns="0" lIns="0" bIns="0" rIns="0">
            <a:spAutoFit/>
          </a:bodyPr>
          <a:lstStyle/>
          <a:p>
            <a:pPr algn="l" marL="285482" indent="-142741" lvl="1">
              <a:lnSpc>
                <a:spcPts val="2194"/>
              </a:lnSpc>
              <a:buFont typeface="Arial"/>
              <a:buChar char="•"/>
            </a:pPr>
            <a:r>
              <a:rPr lang="en-US" sz="1576">
                <a:solidFill>
                  <a:srgbClr val="4C4C4D"/>
                </a:solidFill>
                <a:latin typeface="Heebo"/>
                <a:ea typeface="Heebo"/>
                <a:cs typeface="Heebo"/>
                <a:sym typeface="Heebo"/>
              </a:rPr>
              <a:t>A 3.3 V SET pulse turns ON Q1</a:t>
            </a:r>
          </a:p>
          <a:p>
            <a:pPr algn="l" marL="285482" indent="-142741" lvl="1">
              <a:lnSpc>
                <a:spcPts val="2194"/>
              </a:lnSpc>
              <a:buFont typeface="Arial"/>
              <a:buChar char="•"/>
            </a:pPr>
            <a:r>
              <a:rPr lang="en-US" sz="1576">
                <a:solidFill>
                  <a:srgbClr val="4C4C4D"/>
                </a:solidFill>
                <a:latin typeface="Heebo"/>
                <a:ea typeface="Heebo"/>
                <a:cs typeface="Heebo"/>
                <a:sym typeface="Heebo"/>
              </a:rPr>
              <a:t>Q1 provides base current to Q2</a:t>
            </a:r>
          </a:p>
          <a:p>
            <a:pPr algn="l" marL="285482" indent="-142741" lvl="1">
              <a:lnSpc>
                <a:spcPts val="2194"/>
              </a:lnSpc>
              <a:buFont typeface="Arial"/>
              <a:buChar char="•"/>
            </a:pPr>
            <a:r>
              <a:rPr lang="en-US" sz="1576">
                <a:solidFill>
                  <a:srgbClr val="4C4C4D"/>
                </a:solidFill>
                <a:latin typeface="Heebo"/>
                <a:ea typeface="Heebo"/>
                <a:cs typeface="Heebo"/>
                <a:sym typeface="Heebo"/>
              </a:rPr>
              <a:t>Q2 saturates and establishes positive feedback</a:t>
            </a:r>
          </a:p>
          <a:p>
            <a:pPr algn="l" marL="285482" indent="-142741" lvl="1">
              <a:lnSpc>
                <a:spcPts val="2194"/>
              </a:lnSpc>
              <a:buFont typeface="Arial"/>
              <a:buChar char="•"/>
            </a:pPr>
            <a:r>
              <a:rPr lang="en-US" sz="1576">
                <a:solidFill>
                  <a:srgbClr val="4C4C4D"/>
                </a:solidFill>
                <a:latin typeface="Heebo"/>
                <a:ea typeface="Heebo"/>
                <a:cs typeface="Heebo"/>
                <a:sym typeface="Heebo"/>
              </a:rPr>
              <a:t>The PMOS gate is pulled low</a:t>
            </a:r>
          </a:p>
          <a:p>
            <a:pPr algn="l" marL="285482" indent="-142741" lvl="1">
              <a:lnSpc>
                <a:spcPts val="2194"/>
              </a:lnSpc>
              <a:buFont typeface="Arial"/>
              <a:buChar char="•"/>
            </a:pPr>
            <a:r>
              <a:rPr lang="en-US" sz="1576">
                <a:solidFill>
                  <a:srgbClr val="4C4C4D"/>
                </a:solidFill>
                <a:latin typeface="Heebo"/>
                <a:ea typeface="Heebo"/>
                <a:cs typeface="Heebo"/>
                <a:sym typeface="Heebo"/>
              </a:rPr>
              <a:t>The Zener diode limits VGS to approximately −12 V</a:t>
            </a:r>
          </a:p>
          <a:p>
            <a:pPr algn="l" marL="285482" indent="-142741" lvl="1">
              <a:lnSpc>
                <a:spcPts val="2194"/>
              </a:lnSpc>
              <a:buFont typeface="Arial"/>
              <a:buChar char="•"/>
            </a:pPr>
            <a:r>
              <a:rPr lang="en-US" sz="1576">
                <a:solidFill>
                  <a:srgbClr val="4C4C4D"/>
                </a:solidFill>
                <a:latin typeface="Heebo"/>
                <a:ea typeface="Heebo"/>
                <a:cs typeface="Heebo"/>
                <a:sym typeface="Heebo"/>
              </a:rPr>
              <a:t>PMOS turns ON and remains ON after the SET pulse is removed</a:t>
            </a:r>
          </a:p>
        </p:txBody>
      </p:sp>
      <p:grpSp>
        <p:nvGrpSpPr>
          <p:cNvPr name="Group 22" id="22"/>
          <p:cNvGrpSpPr/>
          <p:nvPr/>
        </p:nvGrpSpPr>
        <p:grpSpPr>
          <a:xfrm rot="0">
            <a:off x="9213028" y="6465237"/>
            <a:ext cx="8110128" cy="2986935"/>
            <a:chOff x="0" y="0"/>
            <a:chExt cx="10813504" cy="3982580"/>
          </a:xfrm>
        </p:grpSpPr>
        <p:sp>
          <p:nvSpPr>
            <p:cNvPr name="Freeform 23" id="23"/>
            <p:cNvSpPr/>
            <p:nvPr/>
          </p:nvSpPr>
          <p:spPr>
            <a:xfrm flipH="false" flipV="false" rot="0">
              <a:off x="0" y="0"/>
              <a:ext cx="10813415" cy="3982466"/>
            </a:xfrm>
            <a:custGeom>
              <a:avLst/>
              <a:gdLst/>
              <a:ahLst/>
              <a:cxnLst/>
              <a:rect r="r" b="b" t="t" l="l"/>
              <a:pathLst>
                <a:path h="3982466" w="10813415">
                  <a:moveTo>
                    <a:pt x="0" y="42037"/>
                  </a:moveTo>
                  <a:cubicBezTo>
                    <a:pt x="0" y="18796"/>
                    <a:pt x="18796" y="0"/>
                    <a:pt x="42037" y="0"/>
                  </a:cubicBezTo>
                  <a:lnTo>
                    <a:pt x="10771378" y="0"/>
                  </a:lnTo>
                  <a:cubicBezTo>
                    <a:pt x="10794619" y="0"/>
                    <a:pt x="10813415" y="18796"/>
                    <a:pt x="10813415" y="42037"/>
                  </a:cubicBezTo>
                  <a:lnTo>
                    <a:pt x="10813415" y="3940429"/>
                  </a:lnTo>
                  <a:cubicBezTo>
                    <a:pt x="10813415" y="3963670"/>
                    <a:pt x="10794619" y="3982466"/>
                    <a:pt x="10771378" y="3982466"/>
                  </a:cubicBezTo>
                  <a:lnTo>
                    <a:pt x="42037" y="3982466"/>
                  </a:lnTo>
                  <a:cubicBezTo>
                    <a:pt x="18796" y="3982466"/>
                    <a:pt x="0" y="3963670"/>
                    <a:pt x="0" y="3940429"/>
                  </a:cubicBezTo>
                  <a:close/>
                </a:path>
              </a:pathLst>
            </a:custGeom>
            <a:solidFill>
              <a:srgbClr val="FFFFFF"/>
            </a:solidFill>
            <a:ln w="28597" cap="sq">
              <a:solidFill>
                <a:srgbClr val="D8D4D4"/>
              </a:solidFill>
              <a:prstDash val="solid"/>
              <a:miter/>
            </a:ln>
          </p:spPr>
        </p:sp>
      </p:grpSp>
      <p:sp>
        <p:nvSpPr>
          <p:cNvPr name="TextBox 24" id="24"/>
          <p:cNvSpPr txBox="true"/>
          <p:nvPr/>
        </p:nvSpPr>
        <p:spPr>
          <a:xfrm rot="0">
            <a:off x="9464297" y="6706981"/>
            <a:ext cx="7607598" cy="400202"/>
          </a:xfrm>
          <a:prstGeom prst="rect">
            <a:avLst/>
          </a:prstGeom>
        </p:spPr>
        <p:txBody>
          <a:bodyPr anchor="t" rtlCol="false" tIns="0" lIns="0" bIns="0" rIns="0">
            <a:spAutoFit/>
          </a:bodyPr>
          <a:lstStyle/>
          <a:p>
            <a:pPr algn="l">
              <a:lnSpc>
                <a:spcPts val="2997"/>
              </a:lnSpc>
            </a:pPr>
            <a:r>
              <a:rPr lang="en-US" sz="2401">
                <a:solidFill>
                  <a:srgbClr val="4C4C4D"/>
                </a:solidFill>
                <a:latin typeface="Crimson Pro"/>
                <a:ea typeface="Crimson Pro"/>
                <a:cs typeface="Crimson Pro"/>
                <a:sym typeface="Crimson Pro"/>
              </a:rPr>
              <a:t>Working Principle: RESET Operation</a:t>
            </a:r>
          </a:p>
        </p:txBody>
      </p:sp>
      <p:sp>
        <p:nvSpPr>
          <p:cNvPr name="TextBox 25" id="25"/>
          <p:cNvSpPr txBox="true"/>
          <p:nvPr/>
        </p:nvSpPr>
        <p:spPr>
          <a:xfrm rot="0">
            <a:off x="9464297" y="7170363"/>
            <a:ext cx="7607598" cy="1687963"/>
          </a:xfrm>
          <a:prstGeom prst="rect">
            <a:avLst/>
          </a:prstGeom>
        </p:spPr>
        <p:txBody>
          <a:bodyPr anchor="t" rtlCol="false" tIns="0" lIns="0" bIns="0" rIns="0">
            <a:spAutoFit/>
          </a:bodyPr>
          <a:lstStyle/>
          <a:p>
            <a:pPr algn="l" marL="285482" indent="-142741" lvl="1">
              <a:lnSpc>
                <a:spcPts val="2194"/>
              </a:lnSpc>
              <a:buFont typeface="Arial"/>
              <a:buChar char="•"/>
            </a:pPr>
            <a:r>
              <a:rPr lang="en-US" sz="1576">
                <a:solidFill>
                  <a:srgbClr val="4C4C4D"/>
                </a:solidFill>
                <a:latin typeface="Heebo"/>
                <a:ea typeface="Heebo"/>
                <a:cs typeface="Heebo"/>
                <a:sym typeface="Heebo"/>
              </a:rPr>
              <a:t>A RESET pulse turns ON Q3</a:t>
            </a:r>
          </a:p>
          <a:p>
            <a:pPr algn="l" marL="285482" indent="-142741" lvl="1">
              <a:lnSpc>
                <a:spcPts val="2194"/>
              </a:lnSpc>
              <a:buFont typeface="Arial"/>
              <a:buChar char="•"/>
            </a:pPr>
            <a:r>
              <a:rPr lang="en-US" sz="1576">
                <a:solidFill>
                  <a:srgbClr val="4C4C4D"/>
                </a:solidFill>
                <a:latin typeface="Heebo"/>
                <a:ea typeface="Heebo"/>
                <a:cs typeface="Heebo"/>
                <a:sym typeface="Heebo"/>
              </a:rPr>
              <a:t>Q3 removes the base drive of Q2</a:t>
            </a:r>
          </a:p>
          <a:p>
            <a:pPr algn="l" marL="285482" indent="-142741" lvl="1">
              <a:lnSpc>
                <a:spcPts val="2194"/>
              </a:lnSpc>
              <a:buFont typeface="Arial"/>
              <a:buChar char="•"/>
            </a:pPr>
            <a:r>
              <a:rPr lang="en-US" sz="1576">
                <a:solidFill>
                  <a:srgbClr val="4C4C4D"/>
                </a:solidFill>
                <a:latin typeface="Heebo"/>
                <a:ea typeface="Heebo"/>
                <a:cs typeface="Heebo"/>
                <a:sym typeface="Heebo"/>
              </a:rPr>
              <a:t>Q2 switches OFF</a:t>
            </a:r>
          </a:p>
          <a:p>
            <a:pPr algn="l" marL="285482" indent="-142741" lvl="1">
              <a:lnSpc>
                <a:spcPts val="2194"/>
              </a:lnSpc>
              <a:buFont typeface="Arial"/>
              <a:buChar char="•"/>
            </a:pPr>
            <a:r>
              <a:rPr lang="en-US" sz="1576">
                <a:solidFill>
                  <a:srgbClr val="4C4C4D"/>
                </a:solidFill>
                <a:latin typeface="Heebo"/>
                <a:ea typeface="Heebo"/>
                <a:cs typeface="Heebo"/>
                <a:sym typeface="Heebo"/>
              </a:rPr>
              <a:t>PMOS gate returns to source potential</a:t>
            </a:r>
          </a:p>
          <a:p>
            <a:pPr algn="l" marL="285482" indent="-142741" lvl="1">
              <a:lnSpc>
                <a:spcPts val="2194"/>
              </a:lnSpc>
              <a:buFont typeface="Arial"/>
              <a:buChar char="•"/>
            </a:pPr>
            <a:r>
              <a:rPr lang="en-US" sz="1576">
                <a:solidFill>
                  <a:srgbClr val="4C4C4D"/>
                </a:solidFill>
                <a:latin typeface="Heebo"/>
                <a:ea typeface="Heebo"/>
                <a:cs typeface="Heebo"/>
                <a:sym typeface="Heebo"/>
              </a:rPr>
              <a:t>PMOS turns OFF</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0F0F1"/>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6" id="6"/>
          <p:cNvGrpSpPr/>
          <p:nvPr/>
        </p:nvGrpSpPr>
        <p:grpSpPr>
          <a:xfrm rot="0">
            <a:off x="16628307" y="9846183"/>
            <a:ext cx="1609020" cy="384353"/>
            <a:chOff x="0" y="0"/>
            <a:chExt cx="2145360" cy="512470"/>
          </a:xfrm>
        </p:grpSpPr>
        <p:sp>
          <p:nvSpPr>
            <p:cNvPr name="Freeform 7" id="7" descr="preencoded.png">
              <a:hlinkClick r:id="rId3" tooltip="https://gamma.app/?utm_source=made-with-gamma"/>
            </p:cNvPr>
            <p:cNvSpPr/>
            <p:nvPr/>
          </p:nvSpPr>
          <p:spPr>
            <a:xfrm flipH="false" flipV="false" rot="0">
              <a:off x="0" y="0"/>
              <a:ext cx="2145411" cy="512445"/>
            </a:xfrm>
            <a:custGeom>
              <a:avLst/>
              <a:gdLst/>
              <a:ahLst/>
              <a:cxnLst/>
              <a:rect r="r" b="b" t="t" l="l"/>
              <a:pathLst>
                <a:path h="512445" w="2145411">
                  <a:moveTo>
                    <a:pt x="0" y="0"/>
                  </a:moveTo>
                  <a:lnTo>
                    <a:pt x="2145411" y="0"/>
                  </a:lnTo>
                  <a:lnTo>
                    <a:pt x="2145411" y="512445"/>
                  </a:lnTo>
                  <a:lnTo>
                    <a:pt x="0" y="512445"/>
                  </a:lnTo>
                  <a:lnTo>
                    <a:pt x="0" y="0"/>
                  </a:lnTo>
                  <a:close/>
                </a:path>
              </a:pathLst>
            </a:custGeom>
            <a:blipFill>
              <a:blip r:embed="rId4"/>
              <a:stretch>
                <a:fillRect l="0" t="0" r="2" b="-4"/>
              </a:stretch>
            </a:blipFill>
          </p:spPr>
        </p:sp>
      </p:grpSp>
      <p:sp>
        <p:nvSpPr>
          <p:cNvPr name="TextBox 8" id="8"/>
          <p:cNvSpPr txBox="true"/>
          <p:nvPr/>
        </p:nvSpPr>
        <p:spPr>
          <a:xfrm rot="0">
            <a:off x="992991" y="751742"/>
            <a:ext cx="16315868" cy="471830"/>
          </a:xfrm>
          <a:prstGeom prst="rect">
            <a:avLst/>
          </a:prstGeom>
        </p:spPr>
        <p:txBody>
          <a:bodyPr anchor="t" rtlCol="false" tIns="0" lIns="0" bIns="0" rIns="0">
            <a:spAutoFit/>
          </a:bodyPr>
          <a:lstStyle/>
          <a:p>
            <a:pPr algn="l">
              <a:lnSpc>
                <a:spcPts val="3465"/>
              </a:lnSpc>
            </a:pPr>
            <a:r>
              <a:rPr lang="en-US" sz="2777">
                <a:solidFill>
                  <a:srgbClr val="152D47"/>
                </a:solidFill>
                <a:latin typeface="Crimson Pro"/>
                <a:ea typeface="Crimson Pro"/>
                <a:cs typeface="Crimson Pro"/>
                <a:sym typeface="Crimson Pro"/>
              </a:rPr>
              <a:t>Design Calculations (Part A)</a:t>
            </a:r>
          </a:p>
        </p:txBody>
      </p:sp>
      <p:sp>
        <p:nvSpPr>
          <p:cNvPr name="TextBox 9" id="9"/>
          <p:cNvSpPr txBox="true"/>
          <p:nvPr/>
        </p:nvSpPr>
        <p:spPr>
          <a:xfrm rot="0">
            <a:off x="992991" y="1232830"/>
            <a:ext cx="16315868" cy="285064"/>
          </a:xfrm>
          <a:prstGeom prst="rect">
            <a:avLst/>
          </a:prstGeom>
        </p:spPr>
        <p:txBody>
          <a:bodyPr anchor="t" rtlCol="false" tIns="0" lIns="0" bIns="0" rIns="0">
            <a:spAutoFit/>
          </a:bodyPr>
          <a:lstStyle/>
          <a:p>
            <a:pPr algn="l">
              <a:lnSpc>
                <a:spcPts val="2060"/>
              </a:lnSpc>
            </a:pPr>
            <a:r>
              <a:rPr lang="en-US" sz="1651">
                <a:solidFill>
                  <a:srgbClr val="152D47"/>
                </a:solidFill>
                <a:latin typeface="Crimson Pro"/>
                <a:ea typeface="Crimson Pro"/>
                <a:cs typeface="Crimson Pro"/>
                <a:sym typeface="Crimson Pro"/>
              </a:rPr>
              <a:t>Design Conditions</a:t>
            </a:r>
          </a:p>
        </p:txBody>
      </p:sp>
      <p:sp>
        <p:nvSpPr>
          <p:cNvPr name="TextBox 10" id="10"/>
          <p:cNvSpPr txBox="true"/>
          <p:nvPr/>
        </p:nvSpPr>
        <p:spPr>
          <a:xfrm rot="0">
            <a:off x="992991" y="1633766"/>
            <a:ext cx="16315868" cy="410651"/>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Supply Voltage: VS = 5 V to 100 V</a:t>
            </a:r>
          </a:p>
          <a:p>
            <a:pPr algn="l">
              <a:lnSpc>
                <a:spcPts val="1260"/>
              </a:lnSpc>
            </a:pPr>
            <a:r>
              <a:rPr lang="en-US" sz="1050">
                <a:solidFill>
                  <a:srgbClr val="4C4C4D"/>
                </a:solidFill>
                <a:latin typeface="Heebo"/>
                <a:ea typeface="Heebo"/>
                <a:cs typeface="Heebo"/>
                <a:sym typeface="Heebo"/>
              </a:rPr>
              <a:t>Zener Voltage: VZ = 12 V</a:t>
            </a:r>
          </a:p>
        </p:txBody>
      </p:sp>
      <p:sp>
        <p:nvSpPr>
          <p:cNvPr name="TextBox 11" id="11"/>
          <p:cNvSpPr txBox="true"/>
          <p:nvPr/>
        </p:nvSpPr>
        <p:spPr>
          <a:xfrm rot="0">
            <a:off x="992991" y="2131705"/>
            <a:ext cx="16315868" cy="285064"/>
          </a:xfrm>
          <a:prstGeom prst="rect">
            <a:avLst/>
          </a:prstGeom>
        </p:spPr>
        <p:txBody>
          <a:bodyPr anchor="t" rtlCol="false" tIns="0" lIns="0" bIns="0" rIns="0">
            <a:spAutoFit/>
          </a:bodyPr>
          <a:lstStyle/>
          <a:p>
            <a:pPr algn="l">
              <a:lnSpc>
                <a:spcPts val="2060"/>
              </a:lnSpc>
            </a:pPr>
            <a:r>
              <a:rPr lang="en-US" sz="1651">
                <a:solidFill>
                  <a:srgbClr val="152D47"/>
                </a:solidFill>
                <a:latin typeface="Crimson Pro"/>
                <a:ea typeface="Crimson Pro"/>
                <a:cs typeface="Crimson Pro"/>
                <a:sym typeface="Crimson Pro"/>
              </a:rPr>
              <a:t>Case 1: VS &lt; 12 V</a:t>
            </a:r>
          </a:p>
        </p:txBody>
      </p:sp>
      <p:sp>
        <p:nvSpPr>
          <p:cNvPr name="TextBox 12" id="12"/>
          <p:cNvSpPr txBox="true"/>
          <p:nvPr/>
        </p:nvSpPr>
        <p:spPr>
          <a:xfrm rot="0">
            <a:off x="992991" y="2532650"/>
            <a:ext cx="16315868" cy="660578"/>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Since VS ≤ VZ, the Zener diode remains OFF.</a:t>
            </a:r>
          </a:p>
          <a:p>
            <a:pPr algn="l">
              <a:lnSpc>
                <a:spcPts val="1260"/>
              </a:lnSpc>
            </a:pPr>
            <a:r>
              <a:rPr lang="en-US" sz="1050">
                <a:solidFill>
                  <a:srgbClr val="4C4C4D"/>
                </a:solidFill>
                <a:latin typeface="Heebo"/>
                <a:ea typeface="Heebo"/>
                <a:cs typeface="Heebo"/>
                <a:sym typeface="Heebo"/>
              </a:rPr>
              <a:t>IZ = 0</a:t>
            </a:r>
          </a:p>
          <a:p>
            <a:pPr algn="l">
              <a:lnSpc>
                <a:spcPts val="1260"/>
              </a:lnSpc>
            </a:pPr>
            <a:r>
              <a:rPr lang="en-US" sz="1050">
                <a:solidFill>
                  <a:srgbClr val="4C4C4D"/>
                </a:solidFill>
                <a:latin typeface="Heebo"/>
                <a:ea typeface="Heebo"/>
                <a:cs typeface="Heebo"/>
                <a:sym typeface="Heebo"/>
              </a:rPr>
              <a:t>Applying KVL:</a:t>
            </a:r>
          </a:p>
        </p:txBody>
      </p:sp>
      <p:grpSp>
        <p:nvGrpSpPr>
          <p:cNvPr name="Group 13" id="13"/>
          <p:cNvGrpSpPr/>
          <p:nvPr/>
        </p:nvGrpSpPr>
        <p:grpSpPr>
          <a:xfrm rot="0">
            <a:off x="992991" y="3282886"/>
            <a:ext cx="16315868" cy="241287"/>
            <a:chOff x="0" y="0"/>
            <a:chExt cx="21754490" cy="321716"/>
          </a:xfrm>
        </p:grpSpPr>
        <p:sp>
          <p:nvSpPr>
            <p:cNvPr name="Freeform 14" id="14" descr="preencoded.png"/>
            <p:cNvSpPr/>
            <p:nvPr/>
          </p:nvSpPr>
          <p:spPr>
            <a:xfrm flipH="false" flipV="false" rot="0">
              <a:off x="0" y="0"/>
              <a:ext cx="21754464" cy="321691"/>
            </a:xfrm>
            <a:custGeom>
              <a:avLst/>
              <a:gdLst/>
              <a:ahLst/>
              <a:cxnLst/>
              <a:rect r="r" b="b" t="t" l="l"/>
              <a:pathLst>
                <a:path h="321691" w="21754464">
                  <a:moveTo>
                    <a:pt x="0" y="0"/>
                  </a:moveTo>
                  <a:lnTo>
                    <a:pt x="21754464" y="0"/>
                  </a:lnTo>
                  <a:lnTo>
                    <a:pt x="21754464" y="321691"/>
                  </a:lnTo>
                  <a:lnTo>
                    <a:pt x="0" y="321691"/>
                  </a:lnTo>
                  <a:lnTo>
                    <a:pt x="0" y="0"/>
                  </a:lnTo>
                  <a:close/>
                </a:path>
              </a:pathLst>
            </a:custGeom>
            <a:blipFill>
              <a:blip r:embed="rId5"/>
              <a:stretch>
                <a:fillRect l="0" t="-1346" r="0" b="-1354"/>
              </a:stretch>
            </a:blipFill>
          </p:spPr>
        </p:sp>
      </p:grpSp>
      <p:sp>
        <p:nvSpPr>
          <p:cNvPr name="TextBox 15" id="15"/>
          <p:cNvSpPr txBox="true"/>
          <p:nvPr/>
        </p:nvSpPr>
        <p:spPr>
          <a:xfrm rot="0">
            <a:off x="992991" y="3623367"/>
            <a:ext cx="1723095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Hence:</a:t>
            </a:r>
          </a:p>
        </p:txBody>
      </p:sp>
      <p:grpSp>
        <p:nvGrpSpPr>
          <p:cNvPr name="Group 16" id="16"/>
          <p:cNvGrpSpPr/>
          <p:nvPr/>
        </p:nvGrpSpPr>
        <p:grpSpPr>
          <a:xfrm rot="0">
            <a:off x="992991" y="3873751"/>
            <a:ext cx="16315868" cy="424043"/>
            <a:chOff x="0" y="0"/>
            <a:chExt cx="21754490" cy="565391"/>
          </a:xfrm>
        </p:grpSpPr>
        <p:sp>
          <p:nvSpPr>
            <p:cNvPr name="Freeform 17" id="17" descr="preencoded.png"/>
            <p:cNvSpPr/>
            <p:nvPr/>
          </p:nvSpPr>
          <p:spPr>
            <a:xfrm flipH="false" flipV="false" rot="0">
              <a:off x="0" y="0"/>
              <a:ext cx="21754464" cy="565404"/>
            </a:xfrm>
            <a:custGeom>
              <a:avLst/>
              <a:gdLst/>
              <a:ahLst/>
              <a:cxnLst/>
              <a:rect r="r" b="b" t="t" l="l"/>
              <a:pathLst>
                <a:path h="565404" w="21754464">
                  <a:moveTo>
                    <a:pt x="0" y="0"/>
                  </a:moveTo>
                  <a:lnTo>
                    <a:pt x="21754464" y="0"/>
                  </a:lnTo>
                  <a:lnTo>
                    <a:pt x="21754464" y="565404"/>
                  </a:lnTo>
                  <a:lnTo>
                    <a:pt x="0" y="565404"/>
                  </a:lnTo>
                  <a:lnTo>
                    <a:pt x="0" y="0"/>
                  </a:lnTo>
                  <a:close/>
                </a:path>
              </a:pathLst>
            </a:custGeom>
            <a:blipFill>
              <a:blip r:embed="rId6"/>
              <a:stretch>
                <a:fillRect l="0" t="-568" r="0" b="-566"/>
              </a:stretch>
            </a:blipFill>
          </p:spPr>
        </p:sp>
      </p:grpSp>
      <p:sp>
        <p:nvSpPr>
          <p:cNvPr name="TextBox 18" id="18"/>
          <p:cNvSpPr txBox="true"/>
          <p:nvPr/>
        </p:nvSpPr>
        <p:spPr>
          <a:xfrm rot="0">
            <a:off x="992991" y="4396988"/>
            <a:ext cx="1723095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Gate voltage:</a:t>
            </a:r>
          </a:p>
        </p:txBody>
      </p:sp>
      <p:grpSp>
        <p:nvGrpSpPr>
          <p:cNvPr name="Group 19" id="19"/>
          <p:cNvGrpSpPr/>
          <p:nvPr/>
        </p:nvGrpSpPr>
        <p:grpSpPr>
          <a:xfrm rot="0">
            <a:off x="992991" y="4647362"/>
            <a:ext cx="16315868" cy="463515"/>
            <a:chOff x="0" y="0"/>
            <a:chExt cx="21754490" cy="618020"/>
          </a:xfrm>
        </p:grpSpPr>
        <p:sp>
          <p:nvSpPr>
            <p:cNvPr name="Freeform 20" id="20" descr="preencoded.png"/>
            <p:cNvSpPr/>
            <p:nvPr/>
          </p:nvSpPr>
          <p:spPr>
            <a:xfrm flipH="false" flipV="false" rot="0">
              <a:off x="0" y="0"/>
              <a:ext cx="21754464" cy="617982"/>
            </a:xfrm>
            <a:custGeom>
              <a:avLst/>
              <a:gdLst/>
              <a:ahLst/>
              <a:cxnLst/>
              <a:rect r="r" b="b" t="t" l="l"/>
              <a:pathLst>
                <a:path h="617982" w="21754464">
                  <a:moveTo>
                    <a:pt x="0" y="0"/>
                  </a:moveTo>
                  <a:lnTo>
                    <a:pt x="21754464" y="0"/>
                  </a:lnTo>
                  <a:lnTo>
                    <a:pt x="21754464" y="617982"/>
                  </a:lnTo>
                  <a:lnTo>
                    <a:pt x="0" y="617982"/>
                  </a:lnTo>
                  <a:lnTo>
                    <a:pt x="0" y="0"/>
                  </a:lnTo>
                  <a:close/>
                </a:path>
              </a:pathLst>
            </a:custGeom>
            <a:blipFill>
              <a:blip r:embed="rId7"/>
              <a:stretch>
                <a:fillRect l="0" t="-374" r="0" b="-380"/>
              </a:stretch>
            </a:blipFill>
          </p:spPr>
        </p:sp>
      </p:grpSp>
      <p:sp>
        <p:nvSpPr>
          <p:cNvPr name="TextBox 21" id="21"/>
          <p:cNvSpPr txBox="true"/>
          <p:nvPr/>
        </p:nvSpPr>
        <p:spPr>
          <a:xfrm rot="0">
            <a:off x="992991" y="5198174"/>
            <a:ext cx="16315868" cy="285064"/>
          </a:xfrm>
          <a:prstGeom prst="rect">
            <a:avLst/>
          </a:prstGeom>
        </p:spPr>
        <p:txBody>
          <a:bodyPr anchor="t" rtlCol="false" tIns="0" lIns="0" bIns="0" rIns="0">
            <a:spAutoFit/>
          </a:bodyPr>
          <a:lstStyle/>
          <a:p>
            <a:pPr algn="l">
              <a:lnSpc>
                <a:spcPts val="2060"/>
              </a:lnSpc>
            </a:pPr>
            <a:r>
              <a:rPr lang="en-US" sz="1651">
                <a:solidFill>
                  <a:srgbClr val="152D47"/>
                </a:solidFill>
                <a:latin typeface="Crimson Pro"/>
                <a:ea typeface="Crimson Pro"/>
                <a:cs typeface="Crimson Pro"/>
                <a:sym typeface="Crimson Pro"/>
              </a:rPr>
              <a:t>PMOS OFF Condition</a:t>
            </a:r>
          </a:p>
        </p:txBody>
      </p:sp>
      <p:grpSp>
        <p:nvGrpSpPr>
          <p:cNvPr name="Group 22" id="22"/>
          <p:cNvGrpSpPr/>
          <p:nvPr/>
        </p:nvGrpSpPr>
        <p:grpSpPr>
          <a:xfrm rot="0">
            <a:off x="992991" y="5589584"/>
            <a:ext cx="16315868" cy="241287"/>
            <a:chOff x="0" y="0"/>
            <a:chExt cx="21754490" cy="321716"/>
          </a:xfrm>
        </p:grpSpPr>
        <p:sp>
          <p:nvSpPr>
            <p:cNvPr name="Freeform 23" id="23" descr="preencoded.png"/>
            <p:cNvSpPr/>
            <p:nvPr/>
          </p:nvSpPr>
          <p:spPr>
            <a:xfrm flipH="false" flipV="false" rot="0">
              <a:off x="0" y="0"/>
              <a:ext cx="21754464" cy="321691"/>
            </a:xfrm>
            <a:custGeom>
              <a:avLst/>
              <a:gdLst/>
              <a:ahLst/>
              <a:cxnLst/>
              <a:rect r="r" b="b" t="t" l="l"/>
              <a:pathLst>
                <a:path h="321691" w="21754464">
                  <a:moveTo>
                    <a:pt x="0" y="0"/>
                  </a:moveTo>
                  <a:lnTo>
                    <a:pt x="21754464" y="0"/>
                  </a:lnTo>
                  <a:lnTo>
                    <a:pt x="21754464" y="321691"/>
                  </a:lnTo>
                  <a:lnTo>
                    <a:pt x="0" y="321691"/>
                  </a:lnTo>
                  <a:lnTo>
                    <a:pt x="0" y="0"/>
                  </a:lnTo>
                  <a:close/>
                </a:path>
              </a:pathLst>
            </a:custGeom>
            <a:blipFill>
              <a:blip r:embed="rId8"/>
              <a:stretch>
                <a:fillRect l="0" t="-1346" r="0" b="-1354"/>
              </a:stretch>
            </a:blipFill>
          </p:spPr>
        </p:sp>
      </p:grpSp>
      <p:sp>
        <p:nvSpPr>
          <p:cNvPr name="TextBox 24" id="24"/>
          <p:cNvSpPr txBox="true"/>
          <p:nvPr/>
        </p:nvSpPr>
        <p:spPr>
          <a:xfrm rot="0">
            <a:off x="992991" y="5930065"/>
            <a:ext cx="1723095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Substituting:</a:t>
            </a:r>
          </a:p>
        </p:txBody>
      </p:sp>
      <p:grpSp>
        <p:nvGrpSpPr>
          <p:cNvPr name="Group 25" id="25"/>
          <p:cNvGrpSpPr/>
          <p:nvPr/>
        </p:nvGrpSpPr>
        <p:grpSpPr>
          <a:xfrm rot="0">
            <a:off x="992991" y="6180449"/>
            <a:ext cx="16315868" cy="437007"/>
            <a:chOff x="0" y="0"/>
            <a:chExt cx="21754490" cy="582676"/>
          </a:xfrm>
        </p:grpSpPr>
        <p:sp>
          <p:nvSpPr>
            <p:cNvPr name="Freeform 26" id="26" descr="preencoded.png"/>
            <p:cNvSpPr/>
            <p:nvPr/>
          </p:nvSpPr>
          <p:spPr>
            <a:xfrm flipH="false" flipV="false" rot="0">
              <a:off x="0" y="0"/>
              <a:ext cx="21754464" cy="582676"/>
            </a:xfrm>
            <a:custGeom>
              <a:avLst/>
              <a:gdLst/>
              <a:ahLst/>
              <a:cxnLst/>
              <a:rect r="r" b="b" t="t" l="l"/>
              <a:pathLst>
                <a:path h="582676" w="21754464">
                  <a:moveTo>
                    <a:pt x="0" y="0"/>
                  </a:moveTo>
                  <a:lnTo>
                    <a:pt x="21754464" y="0"/>
                  </a:lnTo>
                  <a:lnTo>
                    <a:pt x="21754464" y="582676"/>
                  </a:lnTo>
                  <a:lnTo>
                    <a:pt x="0" y="582676"/>
                  </a:lnTo>
                  <a:lnTo>
                    <a:pt x="0" y="0"/>
                  </a:lnTo>
                  <a:close/>
                </a:path>
              </a:pathLst>
            </a:custGeom>
            <a:blipFill>
              <a:blip r:embed="rId9"/>
              <a:stretch>
                <a:fillRect l="0" t="-159" r="0" b="-159"/>
              </a:stretch>
            </a:blipFill>
          </p:spPr>
        </p:sp>
      </p:grpSp>
      <p:sp>
        <p:nvSpPr>
          <p:cNvPr name="TextBox 27" id="27"/>
          <p:cNvSpPr txBox="true"/>
          <p:nvPr/>
        </p:nvSpPr>
        <p:spPr>
          <a:xfrm rot="0">
            <a:off x="992991" y="6716649"/>
            <a:ext cx="1723095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Using:</a:t>
            </a:r>
          </a:p>
        </p:txBody>
      </p:sp>
      <p:sp>
        <p:nvSpPr>
          <p:cNvPr name="TextBox 28" id="28"/>
          <p:cNvSpPr txBox="true"/>
          <p:nvPr/>
        </p:nvSpPr>
        <p:spPr>
          <a:xfrm rot="0">
            <a:off x="992991" y="6966575"/>
            <a:ext cx="16315868" cy="745627"/>
          </a:xfrm>
          <a:prstGeom prst="rect">
            <a:avLst/>
          </a:prstGeom>
        </p:spPr>
        <p:txBody>
          <a:bodyPr anchor="t" rtlCol="false" tIns="0" lIns="0" bIns="0" rIns="0">
            <a:spAutoFit/>
          </a:bodyPr>
          <a:lstStyle/>
          <a:p>
            <a:pPr algn="l" marL="190321" indent="-95161" lvl="1">
              <a:lnSpc>
                <a:spcPts val="1260"/>
              </a:lnSpc>
              <a:buFont typeface="Arial"/>
              <a:buChar char="•"/>
            </a:pPr>
            <a:r>
              <a:rPr lang="en-US" sz="1050">
                <a:solidFill>
                  <a:srgbClr val="4C4C4D"/>
                </a:solidFill>
                <a:latin typeface="Heebo"/>
                <a:ea typeface="Heebo"/>
                <a:cs typeface="Heebo"/>
                <a:sym typeface="Heebo"/>
              </a:rPr>
              <a:t>R1 = 500 kΩ</a:t>
            </a:r>
          </a:p>
          <a:p>
            <a:pPr algn="l" marL="190321" indent="-95161" lvl="1">
              <a:lnSpc>
                <a:spcPts val="1260"/>
              </a:lnSpc>
              <a:buFont typeface="Arial"/>
              <a:buChar char="•"/>
            </a:pPr>
            <a:r>
              <a:rPr lang="en-US" sz="1050">
                <a:solidFill>
                  <a:srgbClr val="4C4C4D"/>
                </a:solidFill>
                <a:latin typeface="Heebo"/>
                <a:ea typeface="Heebo"/>
                <a:cs typeface="Heebo"/>
                <a:sym typeface="Heebo"/>
              </a:rPr>
              <a:t>VS = 5 V</a:t>
            </a:r>
          </a:p>
          <a:p>
            <a:pPr algn="l" marL="190321" indent="-95161" lvl="1">
              <a:lnSpc>
                <a:spcPts val="1260"/>
              </a:lnSpc>
              <a:buFont typeface="Arial"/>
              <a:buChar char="•"/>
            </a:pPr>
            <a:r>
              <a:rPr lang="en-US" sz="1050">
                <a:solidFill>
                  <a:srgbClr val="4C4C4D"/>
                </a:solidFill>
                <a:latin typeface="Heebo"/>
                <a:ea typeface="Heebo"/>
                <a:cs typeface="Heebo"/>
                <a:sym typeface="Heebo"/>
              </a:rPr>
              <a:t>VCE = 0.2 V</a:t>
            </a:r>
          </a:p>
          <a:p>
            <a:pPr algn="l" marL="190321" indent="-95161" lvl="1">
              <a:lnSpc>
                <a:spcPts val="1260"/>
              </a:lnSpc>
              <a:buFont typeface="Arial"/>
              <a:buChar char="•"/>
            </a:pPr>
            <a:r>
              <a:rPr lang="en-US" sz="1050">
                <a:solidFill>
                  <a:srgbClr val="4C4C4D"/>
                </a:solidFill>
                <a:latin typeface="Heebo"/>
                <a:ea typeface="Heebo"/>
                <a:cs typeface="Heebo"/>
                <a:sym typeface="Heebo"/>
              </a:rPr>
              <a:t>Vth = 4.2 V</a:t>
            </a:r>
          </a:p>
        </p:txBody>
      </p:sp>
      <p:sp>
        <p:nvSpPr>
          <p:cNvPr name="TextBox 29" id="29"/>
          <p:cNvSpPr txBox="true"/>
          <p:nvPr/>
        </p:nvSpPr>
        <p:spPr>
          <a:xfrm rot="0">
            <a:off x="992991" y="7801404"/>
            <a:ext cx="16315868" cy="660578"/>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R2 ≤ 71.42 kΩ</a:t>
            </a:r>
          </a:p>
          <a:p>
            <a:pPr algn="l">
              <a:lnSpc>
                <a:spcPts val="1260"/>
              </a:lnSpc>
            </a:pPr>
            <a:r>
              <a:rPr lang="en-US" sz="1050">
                <a:solidFill>
                  <a:srgbClr val="4C4C4D"/>
                </a:solidFill>
                <a:latin typeface="Heebo"/>
                <a:ea typeface="Heebo"/>
                <a:cs typeface="Heebo"/>
                <a:sym typeface="Heebo"/>
              </a:rPr>
              <a:t>Therefore:</a:t>
            </a:r>
          </a:p>
          <a:p>
            <a:pPr algn="l">
              <a:lnSpc>
                <a:spcPts val="1260"/>
              </a:lnSpc>
            </a:pPr>
            <a:r>
              <a:rPr lang="en-US" sz="1050" b="true">
                <a:solidFill>
                  <a:srgbClr val="4C4C4D"/>
                </a:solidFill>
                <a:latin typeface="Heebo Bold"/>
                <a:ea typeface="Heebo Bold"/>
                <a:cs typeface="Heebo Bold"/>
                <a:sym typeface="Heebo Bold"/>
              </a:rPr>
              <a:t>R2 = 70 kΩ</a:t>
            </a:r>
          </a:p>
        </p:txBody>
      </p:sp>
      <p:sp>
        <p:nvSpPr>
          <p:cNvPr name="TextBox 30" id="30"/>
          <p:cNvSpPr txBox="true"/>
          <p:nvPr/>
        </p:nvSpPr>
        <p:spPr>
          <a:xfrm rot="0">
            <a:off x="992991" y="8549278"/>
            <a:ext cx="16315868" cy="285064"/>
          </a:xfrm>
          <a:prstGeom prst="rect">
            <a:avLst/>
          </a:prstGeom>
        </p:spPr>
        <p:txBody>
          <a:bodyPr anchor="t" rtlCol="false" tIns="0" lIns="0" bIns="0" rIns="0">
            <a:spAutoFit/>
          </a:bodyPr>
          <a:lstStyle/>
          <a:p>
            <a:pPr algn="l">
              <a:lnSpc>
                <a:spcPts val="2060"/>
              </a:lnSpc>
            </a:pPr>
            <a:r>
              <a:rPr lang="en-US" sz="1651">
                <a:solidFill>
                  <a:srgbClr val="152D47"/>
                </a:solidFill>
                <a:latin typeface="Crimson Pro"/>
                <a:ea typeface="Crimson Pro"/>
                <a:cs typeface="Crimson Pro"/>
                <a:sym typeface="Crimson Pro"/>
              </a:rPr>
              <a:t>Selection of R1</a:t>
            </a:r>
          </a:p>
        </p:txBody>
      </p:sp>
      <p:sp>
        <p:nvSpPr>
          <p:cNvPr name="TextBox 31" id="31"/>
          <p:cNvSpPr txBox="true"/>
          <p:nvPr/>
        </p:nvSpPr>
        <p:spPr>
          <a:xfrm rot="0">
            <a:off x="992991" y="8950214"/>
            <a:ext cx="16315868" cy="410651"/>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Choose: </a:t>
            </a:r>
            <a:r>
              <a:rPr lang="en-US" sz="1050" b="true">
                <a:solidFill>
                  <a:srgbClr val="4C4C4D"/>
                </a:solidFill>
                <a:latin typeface="Heebo Bold"/>
                <a:ea typeface="Heebo Bold"/>
                <a:cs typeface="Heebo Bold"/>
                <a:sym typeface="Heebo Bold"/>
              </a:rPr>
              <a:t>R1 = 500 kΩ</a:t>
            </a:r>
          </a:p>
          <a:p>
            <a:pPr algn="l">
              <a:lnSpc>
                <a:spcPts val="1260"/>
              </a:lnSpc>
            </a:pPr>
            <a:r>
              <a:rPr lang="en-US" sz="1050">
                <a:solidFill>
                  <a:srgbClr val="4C4C4D"/>
                </a:solidFill>
                <a:latin typeface="Heebo"/>
                <a:ea typeface="Heebo"/>
                <a:cs typeface="Heebo"/>
                <a:sym typeface="Heebo"/>
              </a:rPr>
              <a:t>At VS = 100 V:</a:t>
            </a:r>
          </a:p>
        </p:txBody>
      </p:sp>
      <p:sp>
        <p:nvSpPr>
          <p:cNvPr name="TextBox 32" id="32"/>
          <p:cNvSpPr txBox="true"/>
          <p:nvPr/>
        </p:nvSpPr>
        <p:spPr>
          <a:xfrm rot="0">
            <a:off x="992991" y="9450076"/>
            <a:ext cx="16315868" cy="355683"/>
          </a:xfrm>
          <a:prstGeom prst="rect">
            <a:avLst/>
          </a:prstGeom>
        </p:spPr>
        <p:txBody>
          <a:bodyPr anchor="t" rtlCol="false" tIns="0" lIns="0" bIns="0" rIns="0">
            <a:spAutoFit/>
          </a:bodyPr>
          <a:lstStyle/>
          <a:p>
            <a:pPr algn="l" marL="190321" indent="-95161" lvl="1">
              <a:lnSpc>
                <a:spcPts val="1260"/>
              </a:lnSpc>
              <a:buFont typeface="Arial"/>
              <a:buChar char="•"/>
            </a:pPr>
            <a:r>
              <a:rPr lang="en-US" sz="1050">
                <a:solidFill>
                  <a:srgbClr val="4C4C4D"/>
                </a:solidFill>
                <a:latin typeface="Heebo"/>
                <a:ea typeface="Heebo"/>
                <a:cs typeface="Heebo"/>
                <a:sym typeface="Heebo"/>
              </a:rPr>
              <a:t>Voltage across R1: VR1 = 12 V</a:t>
            </a:r>
          </a:p>
          <a:p>
            <a:pPr algn="l" marL="190321" indent="-95161" lvl="1">
              <a:lnSpc>
                <a:spcPts val="1260"/>
              </a:lnSpc>
              <a:buFont typeface="Arial"/>
              <a:buChar char="•"/>
            </a:pPr>
            <a:r>
              <a:rPr lang="en-US" sz="1050">
                <a:solidFill>
                  <a:srgbClr val="4C4C4D"/>
                </a:solidFill>
                <a:latin typeface="Heebo"/>
                <a:ea typeface="Heebo"/>
                <a:cs typeface="Heebo"/>
                <a:sym typeface="Heebo"/>
              </a:rPr>
              <a:t>Voltage across R2: VR2 = 88 V</a:t>
            </a:r>
          </a:p>
        </p:txBody>
      </p:sp>
      <p:sp>
        <p:nvSpPr>
          <p:cNvPr name="TextBox 33" id="33"/>
          <p:cNvSpPr txBox="true"/>
          <p:nvPr/>
        </p:nvSpPr>
        <p:spPr>
          <a:xfrm rot="0">
            <a:off x="992991" y="9894970"/>
            <a:ext cx="1723095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Power dissipations:</a:t>
            </a:r>
          </a:p>
        </p:txBody>
      </p:sp>
      <p:sp>
        <p:nvSpPr>
          <p:cNvPr name="TextBox 34" id="34"/>
          <p:cNvSpPr txBox="true"/>
          <p:nvPr/>
        </p:nvSpPr>
        <p:spPr>
          <a:xfrm rot="0">
            <a:off x="992991" y="10144897"/>
            <a:ext cx="16315868" cy="355683"/>
          </a:xfrm>
          <a:prstGeom prst="rect">
            <a:avLst/>
          </a:prstGeom>
        </p:spPr>
        <p:txBody>
          <a:bodyPr anchor="t" rtlCol="false" tIns="0" lIns="0" bIns="0" rIns="0">
            <a:spAutoFit/>
          </a:bodyPr>
          <a:lstStyle/>
          <a:p>
            <a:pPr algn="l" marL="190321" indent="-95161" lvl="1">
              <a:lnSpc>
                <a:spcPts val="1260"/>
              </a:lnSpc>
              <a:buFont typeface="Arial"/>
              <a:buChar char="•"/>
            </a:pPr>
            <a:r>
              <a:rPr lang="en-US" sz="1050">
                <a:solidFill>
                  <a:srgbClr val="4C4C4D"/>
                </a:solidFill>
                <a:latin typeface="Heebo"/>
                <a:ea typeface="Heebo"/>
                <a:cs typeface="Heebo"/>
                <a:sym typeface="Heebo"/>
              </a:rPr>
              <a:t>PR1 = 288 μW</a:t>
            </a:r>
          </a:p>
          <a:p>
            <a:pPr algn="l" marL="190321" indent="-95161" lvl="1">
              <a:lnSpc>
                <a:spcPts val="1260"/>
              </a:lnSpc>
              <a:buFont typeface="Arial"/>
              <a:buChar char="•"/>
            </a:pPr>
            <a:r>
              <a:rPr lang="en-US" sz="1050">
                <a:solidFill>
                  <a:srgbClr val="4C4C4D"/>
                </a:solidFill>
                <a:latin typeface="Heebo"/>
                <a:ea typeface="Heebo"/>
                <a:cs typeface="Heebo"/>
                <a:sym typeface="Heebo"/>
              </a:rPr>
              <a:t>PR2 = 110.6 mW</a:t>
            </a:r>
          </a:p>
        </p:txBody>
      </p:sp>
      <p:sp>
        <p:nvSpPr>
          <p:cNvPr name="TextBox 35" id="35"/>
          <p:cNvSpPr txBox="true"/>
          <p:nvPr/>
        </p:nvSpPr>
        <p:spPr>
          <a:xfrm rot="0">
            <a:off x="992991" y="10589800"/>
            <a:ext cx="1723095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Both are safely within a 250 mW resistor rating.</a:t>
            </a:r>
          </a:p>
        </p:txBody>
      </p:sp>
      <p:sp>
        <p:nvSpPr>
          <p:cNvPr name="TextBox 36" id="36"/>
          <p:cNvSpPr txBox="true"/>
          <p:nvPr/>
        </p:nvSpPr>
        <p:spPr>
          <a:xfrm rot="0">
            <a:off x="992991" y="10837812"/>
            <a:ext cx="16315868" cy="285064"/>
          </a:xfrm>
          <a:prstGeom prst="rect">
            <a:avLst/>
          </a:prstGeom>
        </p:spPr>
        <p:txBody>
          <a:bodyPr anchor="t" rtlCol="false" tIns="0" lIns="0" bIns="0" rIns="0">
            <a:spAutoFit/>
          </a:bodyPr>
          <a:lstStyle/>
          <a:p>
            <a:pPr algn="l">
              <a:lnSpc>
                <a:spcPts val="2060"/>
              </a:lnSpc>
            </a:pPr>
            <a:r>
              <a:rPr lang="en-US" sz="1651">
                <a:solidFill>
                  <a:srgbClr val="152D47"/>
                </a:solidFill>
                <a:latin typeface="Crimson Pro"/>
                <a:ea typeface="Crimson Pro"/>
                <a:cs typeface="Crimson Pro"/>
                <a:sym typeface="Crimson Pro"/>
              </a:rPr>
              <a:t>Summary of Part A Design</a:t>
            </a:r>
          </a:p>
        </p:txBody>
      </p:sp>
      <p:grpSp>
        <p:nvGrpSpPr>
          <p:cNvPr name="Group 37" id="37"/>
          <p:cNvGrpSpPr/>
          <p:nvPr/>
        </p:nvGrpSpPr>
        <p:grpSpPr>
          <a:xfrm rot="0">
            <a:off x="992991" y="11229223"/>
            <a:ext cx="319183" cy="319192"/>
            <a:chOff x="0" y="0"/>
            <a:chExt cx="425577" cy="425590"/>
          </a:xfrm>
        </p:grpSpPr>
        <p:sp>
          <p:nvSpPr>
            <p:cNvPr name="Freeform 38" id="38"/>
            <p:cNvSpPr/>
            <p:nvPr/>
          </p:nvSpPr>
          <p:spPr>
            <a:xfrm flipH="false" flipV="false" rot="0">
              <a:off x="0" y="0"/>
              <a:ext cx="425577" cy="425577"/>
            </a:xfrm>
            <a:custGeom>
              <a:avLst/>
              <a:gdLst/>
              <a:ahLst/>
              <a:cxnLst/>
              <a:rect r="r" b="b" t="t" l="l"/>
              <a:pathLst>
                <a:path h="425577" w="425577">
                  <a:moveTo>
                    <a:pt x="0" y="28321"/>
                  </a:moveTo>
                  <a:cubicBezTo>
                    <a:pt x="0" y="12700"/>
                    <a:pt x="12700" y="0"/>
                    <a:pt x="28321" y="0"/>
                  </a:cubicBezTo>
                  <a:lnTo>
                    <a:pt x="397256" y="0"/>
                  </a:lnTo>
                  <a:cubicBezTo>
                    <a:pt x="412877" y="0"/>
                    <a:pt x="425577" y="12700"/>
                    <a:pt x="425577" y="28321"/>
                  </a:cubicBezTo>
                  <a:lnTo>
                    <a:pt x="425577" y="397256"/>
                  </a:lnTo>
                  <a:cubicBezTo>
                    <a:pt x="425577" y="412877"/>
                    <a:pt x="412877" y="425577"/>
                    <a:pt x="397256" y="425577"/>
                  </a:cubicBezTo>
                  <a:lnTo>
                    <a:pt x="28321" y="425577"/>
                  </a:lnTo>
                  <a:cubicBezTo>
                    <a:pt x="12700" y="425577"/>
                    <a:pt x="0" y="412877"/>
                    <a:pt x="0" y="397256"/>
                  </a:cubicBezTo>
                  <a:close/>
                </a:path>
              </a:pathLst>
            </a:custGeom>
            <a:solidFill>
              <a:srgbClr val="F2EEEE"/>
            </a:solidFill>
          </p:spPr>
        </p:sp>
      </p:grpSp>
      <p:grpSp>
        <p:nvGrpSpPr>
          <p:cNvPr name="Group 39" id="39"/>
          <p:cNvGrpSpPr/>
          <p:nvPr/>
        </p:nvGrpSpPr>
        <p:grpSpPr>
          <a:xfrm rot="0">
            <a:off x="1046159" y="11255731"/>
            <a:ext cx="212684" cy="266014"/>
            <a:chOff x="0" y="0"/>
            <a:chExt cx="283578" cy="354686"/>
          </a:xfrm>
        </p:grpSpPr>
        <p:sp>
          <p:nvSpPr>
            <p:cNvPr name="Freeform 40" id="40"/>
            <p:cNvSpPr/>
            <p:nvPr/>
          </p:nvSpPr>
          <p:spPr>
            <a:xfrm flipH="false" flipV="false" rot="0">
              <a:off x="0" y="0"/>
              <a:ext cx="283584" cy="354687"/>
            </a:xfrm>
            <a:custGeom>
              <a:avLst/>
              <a:gdLst/>
              <a:ahLst/>
              <a:cxnLst/>
              <a:rect r="r" b="b" t="t" l="l"/>
              <a:pathLst>
                <a:path h="354687" w="283584">
                  <a:moveTo>
                    <a:pt x="0" y="0"/>
                  </a:moveTo>
                  <a:lnTo>
                    <a:pt x="283584" y="0"/>
                  </a:lnTo>
                  <a:lnTo>
                    <a:pt x="283584" y="354687"/>
                  </a:lnTo>
                  <a:lnTo>
                    <a:pt x="0" y="354687"/>
                  </a:lnTo>
                  <a:close/>
                </a:path>
              </a:pathLst>
            </a:custGeom>
            <a:blipFill>
              <a:blip r:embed="rId10">
                <a:alphaModFix amt="0"/>
              </a:blip>
              <a:stretch>
                <a:fillRect l="-110473" t="0" r="-110471" b="0"/>
              </a:stretch>
            </a:blipFill>
          </p:spPr>
        </p:sp>
        <p:sp>
          <p:nvSpPr>
            <p:cNvPr name="TextBox 41" id="41"/>
            <p:cNvSpPr txBox="true"/>
            <p:nvPr/>
          </p:nvSpPr>
          <p:spPr>
            <a:xfrm>
              <a:off x="0" y="-9525"/>
              <a:ext cx="283578" cy="364211"/>
            </a:xfrm>
            <a:prstGeom prst="rect">
              <a:avLst/>
            </a:prstGeom>
          </p:spPr>
          <p:txBody>
            <a:bodyPr anchor="ctr" rtlCol="false" tIns="0" lIns="0" bIns="0" rIns="0"/>
            <a:lstStyle/>
            <a:p>
              <a:pPr algn="ctr">
                <a:lnSpc>
                  <a:spcPts val="1981"/>
                </a:lnSpc>
              </a:pPr>
              <a:r>
                <a:rPr lang="en-US" sz="1651">
                  <a:solidFill>
                    <a:srgbClr val="4C4C4D"/>
                  </a:solidFill>
                  <a:latin typeface="Crimson Pro"/>
                  <a:ea typeface="Crimson Pro"/>
                  <a:cs typeface="Crimson Pro"/>
                  <a:sym typeface="Crimson Pro"/>
                </a:rPr>
                <a:t>1</a:t>
              </a:r>
            </a:p>
          </p:txBody>
        </p:sp>
      </p:grpSp>
      <p:sp>
        <p:nvSpPr>
          <p:cNvPr name="TextBox 42" id="42"/>
          <p:cNvSpPr txBox="true"/>
          <p:nvPr/>
        </p:nvSpPr>
        <p:spPr>
          <a:xfrm rot="0">
            <a:off x="1383068" y="11284772"/>
            <a:ext cx="7723470"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Maintain PMOS OFF condition when Q1 and Q2 are OFF</a:t>
            </a:r>
          </a:p>
        </p:txBody>
      </p:sp>
      <p:grpSp>
        <p:nvGrpSpPr>
          <p:cNvPr name="Group 43" id="43"/>
          <p:cNvGrpSpPr/>
          <p:nvPr/>
        </p:nvGrpSpPr>
        <p:grpSpPr>
          <a:xfrm rot="0">
            <a:off x="9195159" y="11229223"/>
            <a:ext cx="319183" cy="319192"/>
            <a:chOff x="0" y="0"/>
            <a:chExt cx="425577" cy="425590"/>
          </a:xfrm>
        </p:grpSpPr>
        <p:sp>
          <p:nvSpPr>
            <p:cNvPr name="Freeform 44" id="44"/>
            <p:cNvSpPr/>
            <p:nvPr/>
          </p:nvSpPr>
          <p:spPr>
            <a:xfrm flipH="false" flipV="false" rot="0">
              <a:off x="0" y="0"/>
              <a:ext cx="425577" cy="425577"/>
            </a:xfrm>
            <a:custGeom>
              <a:avLst/>
              <a:gdLst/>
              <a:ahLst/>
              <a:cxnLst/>
              <a:rect r="r" b="b" t="t" l="l"/>
              <a:pathLst>
                <a:path h="425577" w="425577">
                  <a:moveTo>
                    <a:pt x="0" y="28321"/>
                  </a:moveTo>
                  <a:cubicBezTo>
                    <a:pt x="0" y="12700"/>
                    <a:pt x="12700" y="0"/>
                    <a:pt x="28321" y="0"/>
                  </a:cubicBezTo>
                  <a:lnTo>
                    <a:pt x="397256" y="0"/>
                  </a:lnTo>
                  <a:cubicBezTo>
                    <a:pt x="412877" y="0"/>
                    <a:pt x="425577" y="12700"/>
                    <a:pt x="425577" y="28321"/>
                  </a:cubicBezTo>
                  <a:lnTo>
                    <a:pt x="425577" y="397256"/>
                  </a:lnTo>
                  <a:cubicBezTo>
                    <a:pt x="425577" y="412877"/>
                    <a:pt x="412877" y="425577"/>
                    <a:pt x="397256" y="425577"/>
                  </a:cubicBezTo>
                  <a:lnTo>
                    <a:pt x="28321" y="425577"/>
                  </a:lnTo>
                  <a:cubicBezTo>
                    <a:pt x="12700" y="425577"/>
                    <a:pt x="0" y="412877"/>
                    <a:pt x="0" y="397256"/>
                  </a:cubicBezTo>
                  <a:close/>
                </a:path>
              </a:pathLst>
            </a:custGeom>
            <a:solidFill>
              <a:srgbClr val="F2EEEE"/>
            </a:solidFill>
          </p:spPr>
        </p:sp>
      </p:grpSp>
      <p:grpSp>
        <p:nvGrpSpPr>
          <p:cNvPr name="Group 45" id="45"/>
          <p:cNvGrpSpPr/>
          <p:nvPr/>
        </p:nvGrpSpPr>
        <p:grpSpPr>
          <a:xfrm rot="0">
            <a:off x="9248327" y="11255731"/>
            <a:ext cx="212684" cy="266014"/>
            <a:chOff x="0" y="0"/>
            <a:chExt cx="283578" cy="354686"/>
          </a:xfrm>
        </p:grpSpPr>
        <p:sp>
          <p:nvSpPr>
            <p:cNvPr name="Freeform 46" id="46"/>
            <p:cNvSpPr/>
            <p:nvPr/>
          </p:nvSpPr>
          <p:spPr>
            <a:xfrm flipH="false" flipV="false" rot="0">
              <a:off x="0" y="0"/>
              <a:ext cx="283584" cy="354687"/>
            </a:xfrm>
            <a:custGeom>
              <a:avLst/>
              <a:gdLst/>
              <a:ahLst/>
              <a:cxnLst/>
              <a:rect r="r" b="b" t="t" l="l"/>
              <a:pathLst>
                <a:path h="354687" w="283584">
                  <a:moveTo>
                    <a:pt x="0" y="0"/>
                  </a:moveTo>
                  <a:lnTo>
                    <a:pt x="283584" y="0"/>
                  </a:lnTo>
                  <a:lnTo>
                    <a:pt x="283584" y="354687"/>
                  </a:lnTo>
                  <a:lnTo>
                    <a:pt x="0" y="354687"/>
                  </a:lnTo>
                  <a:close/>
                </a:path>
              </a:pathLst>
            </a:custGeom>
            <a:blipFill>
              <a:blip r:embed="rId10">
                <a:alphaModFix amt="0"/>
              </a:blip>
              <a:stretch>
                <a:fillRect l="-110473" t="0" r="-110471" b="0"/>
              </a:stretch>
            </a:blipFill>
          </p:spPr>
        </p:sp>
        <p:sp>
          <p:nvSpPr>
            <p:cNvPr name="TextBox 47" id="47"/>
            <p:cNvSpPr txBox="true"/>
            <p:nvPr/>
          </p:nvSpPr>
          <p:spPr>
            <a:xfrm>
              <a:off x="0" y="-9525"/>
              <a:ext cx="283578" cy="364211"/>
            </a:xfrm>
            <a:prstGeom prst="rect">
              <a:avLst/>
            </a:prstGeom>
          </p:spPr>
          <p:txBody>
            <a:bodyPr anchor="ctr" rtlCol="false" tIns="0" lIns="0" bIns="0" rIns="0"/>
            <a:lstStyle/>
            <a:p>
              <a:pPr algn="ctr">
                <a:lnSpc>
                  <a:spcPts val="1981"/>
                </a:lnSpc>
              </a:pPr>
              <a:r>
                <a:rPr lang="en-US" sz="1651">
                  <a:solidFill>
                    <a:srgbClr val="4C4C4D"/>
                  </a:solidFill>
                  <a:latin typeface="Crimson Pro"/>
                  <a:ea typeface="Crimson Pro"/>
                  <a:cs typeface="Crimson Pro"/>
                  <a:sym typeface="Crimson Pro"/>
                </a:rPr>
                <a:t>2</a:t>
              </a:r>
            </a:p>
          </p:txBody>
        </p:sp>
      </p:grpSp>
      <p:sp>
        <p:nvSpPr>
          <p:cNvPr name="TextBox 48" id="48"/>
          <p:cNvSpPr txBox="true"/>
          <p:nvPr/>
        </p:nvSpPr>
        <p:spPr>
          <a:xfrm rot="0">
            <a:off x="9585236" y="11284772"/>
            <a:ext cx="7723622"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Provide stable gate reference voltage across the 5–100 V supply range</a:t>
            </a:r>
          </a:p>
        </p:txBody>
      </p:sp>
      <p:grpSp>
        <p:nvGrpSpPr>
          <p:cNvPr name="Group 49" id="49"/>
          <p:cNvGrpSpPr/>
          <p:nvPr/>
        </p:nvGrpSpPr>
        <p:grpSpPr>
          <a:xfrm rot="0">
            <a:off x="992991" y="11690204"/>
            <a:ext cx="319183" cy="319192"/>
            <a:chOff x="0" y="0"/>
            <a:chExt cx="425577" cy="425590"/>
          </a:xfrm>
        </p:grpSpPr>
        <p:sp>
          <p:nvSpPr>
            <p:cNvPr name="Freeform 50" id="50"/>
            <p:cNvSpPr/>
            <p:nvPr/>
          </p:nvSpPr>
          <p:spPr>
            <a:xfrm flipH="false" flipV="false" rot="0">
              <a:off x="0" y="0"/>
              <a:ext cx="425577" cy="425577"/>
            </a:xfrm>
            <a:custGeom>
              <a:avLst/>
              <a:gdLst/>
              <a:ahLst/>
              <a:cxnLst/>
              <a:rect r="r" b="b" t="t" l="l"/>
              <a:pathLst>
                <a:path h="425577" w="425577">
                  <a:moveTo>
                    <a:pt x="0" y="28321"/>
                  </a:moveTo>
                  <a:cubicBezTo>
                    <a:pt x="0" y="12700"/>
                    <a:pt x="12700" y="0"/>
                    <a:pt x="28321" y="0"/>
                  </a:cubicBezTo>
                  <a:lnTo>
                    <a:pt x="397256" y="0"/>
                  </a:lnTo>
                  <a:cubicBezTo>
                    <a:pt x="412877" y="0"/>
                    <a:pt x="425577" y="12700"/>
                    <a:pt x="425577" y="28321"/>
                  </a:cubicBezTo>
                  <a:lnTo>
                    <a:pt x="425577" y="397256"/>
                  </a:lnTo>
                  <a:cubicBezTo>
                    <a:pt x="425577" y="412877"/>
                    <a:pt x="412877" y="425577"/>
                    <a:pt x="397256" y="425577"/>
                  </a:cubicBezTo>
                  <a:lnTo>
                    <a:pt x="28321" y="425577"/>
                  </a:lnTo>
                  <a:cubicBezTo>
                    <a:pt x="12700" y="425577"/>
                    <a:pt x="0" y="412877"/>
                    <a:pt x="0" y="397256"/>
                  </a:cubicBezTo>
                  <a:close/>
                </a:path>
              </a:pathLst>
            </a:custGeom>
            <a:solidFill>
              <a:srgbClr val="F2EEEE"/>
            </a:solidFill>
          </p:spPr>
        </p:sp>
      </p:grpSp>
      <p:grpSp>
        <p:nvGrpSpPr>
          <p:cNvPr name="Group 51" id="51"/>
          <p:cNvGrpSpPr/>
          <p:nvPr/>
        </p:nvGrpSpPr>
        <p:grpSpPr>
          <a:xfrm rot="0">
            <a:off x="1046159" y="11716722"/>
            <a:ext cx="212684" cy="266014"/>
            <a:chOff x="0" y="0"/>
            <a:chExt cx="283578" cy="354686"/>
          </a:xfrm>
        </p:grpSpPr>
        <p:sp>
          <p:nvSpPr>
            <p:cNvPr name="Freeform 52" id="52"/>
            <p:cNvSpPr/>
            <p:nvPr/>
          </p:nvSpPr>
          <p:spPr>
            <a:xfrm flipH="false" flipV="false" rot="0">
              <a:off x="0" y="0"/>
              <a:ext cx="283584" cy="354687"/>
            </a:xfrm>
            <a:custGeom>
              <a:avLst/>
              <a:gdLst/>
              <a:ahLst/>
              <a:cxnLst/>
              <a:rect r="r" b="b" t="t" l="l"/>
              <a:pathLst>
                <a:path h="354687" w="283584">
                  <a:moveTo>
                    <a:pt x="0" y="0"/>
                  </a:moveTo>
                  <a:lnTo>
                    <a:pt x="283584" y="0"/>
                  </a:lnTo>
                  <a:lnTo>
                    <a:pt x="283584" y="354687"/>
                  </a:lnTo>
                  <a:lnTo>
                    <a:pt x="0" y="354687"/>
                  </a:lnTo>
                  <a:close/>
                </a:path>
              </a:pathLst>
            </a:custGeom>
            <a:blipFill>
              <a:blip r:embed="rId10">
                <a:alphaModFix amt="0"/>
              </a:blip>
              <a:stretch>
                <a:fillRect l="-110473" t="0" r="-110471" b="0"/>
              </a:stretch>
            </a:blipFill>
          </p:spPr>
        </p:sp>
        <p:sp>
          <p:nvSpPr>
            <p:cNvPr name="TextBox 53" id="53"/>
            <p:cNvSpPr txBox="true"/>
            <p:nvPr/>
          </p:nvSpPr>
          <p:spPr>
            <a:xfrm>
              <a:off x="0" y="-9525"/>
              <a:ext cx="283578" cy="364211"/>
            </a:xfrm>
            <a:prstGeom prst="rect">
              <a:avLst/>
            </a:prstGeom>
          </p:spPr>
          <p:txBody>
            <a:bodyPr anchor="ctr" rtlCol="false" tIns="0" lIns="0" bIns="0" rIns="0"/>
            <a:lstStyle/>
            <a:p>
              <a:pPr algn="ctr">
                <a:lnSpc>
                  <a:spcPts val="1981"/>
                </a:lnSpc>
              </a:pPr>
              <a:r>
                <a:rPr lang="en-US" sz="1651">
                  <a:solidFill>
                    <a:srgbClr val="4C4C4D"/>
                  </a:solidFill>
                  <a:latin typeface="Crimson Pro"/>
                  <a:ea typeface="Crimson Pro"/>
                  <a:cs typeface="Crimson Pro"/>
                  <a:sym typeface="Crimson Pro"/>
                </a:rPr>
                <a:t>3</a:t>
              </a:r>
            </a:p>
          </p:txBody>
        </p:sp>
      </p:grpSp>
      <p:sp>
        <p:nvSpPr>
          <p:cNvPr name="TextBox 54" id="54"/>
          <p:cNvSpPr txBox="true"/>
          <p:nvPr/>
        </p:nvSpPr>
        <p:spPr>
          <a:xfrm rot="0">
            <a:off x="1383068" y="11745754"/>
            <a:ext cx="7723470"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Ensure all resistor power dissipations remain within safe limits</a:t>
            </a:r>
          </a:p>
        </p:txBody>
      </p:sp>
      <p:grpSp>
        <p:nvGrpSpPr>
          <p:cNvPr name="Group 55" id="55"/>
          <p:cNvGrpSpPr/>
          <p:nvPr/>
        </p:nvGrpSpPr>
        <p:grpSpPr>
          <a:xfrm rot="0">
            <a:off x="9195159" y="11690204"/>
            <a:ext cx="319183" cy="319192"/>
            <a:chOff x="0" y="0"/>
            <a:chExt cx="425577" cy="425590"/>
          </a:xfrm>
        </p:grpSpPr>
        <p:sp>
          <p:nvSpPr>
            <p:cNvPr name="Freeform 56" id="56"/>
            <p:cNvSpPr/>
            <p:nvPr/>
          </p:nvSpPr>
          <p:spPr>
            <a:xfrm flipH="false" flipV="false" rot="0">
              <a:off x="0" y="0"/>
              <a:ext cx="425577" cy="425577"/>
            </a:xfrm>
            <a:custGeom>
              <a:avLst/>
              <a:gdLst/>
              <a:ahLst/>
              <a:cxnLst/>
              <a:rect r="r" b="b" t="t" l="l"/>
              <a:pathLst>
                <a:path h="425577" w="425577">
                  <a:moveTo>
                    <a:pt x="0" y="28321"/>
                  </a:moveTo>
                  <a:cubicBezTo>
                    <a:pt x="0" y="12700"/>
                    <a:pt x="12700" y="0"/>
                    <a:pt x="28321" y="0"/>
                  </a:cubicBezTo>
                  <a:lnTo>
                    <a:pt x="397256" y="0"/>
                  </a:lnTo>
                  <a:cubicBezTo>
                    <a:pt x="412877" y="0"/>
                    <a:pt x="425577" y="12700"/>
                    <a:pt x="425577" y="28321"/>
                  </a:cubicBezTo>
                  <a:lnTo>
                    <a:pt x="425577" y="397256"/>
                  </a:lnTo>
                  <a:cubicBezTo>
                    <a:pt x="425577" y="412877"/>
                    <a:pt x="412877" y="425577"/>
                    <a:pt x="397256" y="425577"/>
                  </a:cubicBezTo>
                  <a:lnTo>
                    <a:pt x="28321" y="425577"/>
                  </a:lnTo>
                  <a:cubicBezTo>
                    <a:pt x="12700" y="425577"/>
                    <a:pt x="0" y="412877"/>
                    <a:pt x="0" y="397256"/>
                  </a:cubicBezTo>
                  <a:close/>
                </a:path>
              </a:pathLst>
            </a:custGeom>
            <a:solidFill>
              <a:srgbClr val="F2EEEE"/>
            </a:solidFill>
          </p:spPr>
        </p:sp>
      </p:grpSp>
      <p:grpSp>
        <p:nvGrpSpPr>
          <p:cNvPr name="Group 57" id="57"/>
          <p:cNvGrpSpPr/>
          <p:nvPr/>
        </p:nvGrpSpPr>
        <p:grpSpPr>
          <a:xfrm rot="0">
            <a:off x="9248327" y="11716722"/>
            <a:ext cx="212684" cy="266014"/>
            <a:chOff x="0" y="0"/>
            <a:chExt cx="283578" cy="354686"/>
          </a:xfrm>
        </p:grpSpPr>
        <p:sp>
          <p:nvSpPr>
            <p:cNvPr name="Freeform 58" id="58"/>
            <p:cNvSpPr/>
            <p:nvPr/>
          </p:nvSpPr>
          <p:spPr>
            <a:xfrm flipH="false" flipV="false" rot="0">
              <a:off x="0" y="0"/>
              <a:ext cx="283584" cy="354687"/>
            </a:xfrm>
            <a:custGeom>
              <a:avLst/>
              <a:gdLst/>
              <a:ahLst/>
              <a:cxnLst/>
              <a:rect r="r" b="b" t="t" l="l"/>
              <a:pathLst>
                <a:path h="354687" w="283584">
                  <a:moveTo>
                    <a:pt x="0" y="0"/>
                  </a:moveTo>
                  <a:lnTo>
                    <a:pt x="283584" y="0"/>
                  </a:lnTo>
                  <a:lnTo>
                    <a:pt x="283584" y="354687"/>
                  </a:lnTo>
                  <a:lnTo>
                    <a:pt x="0" y="354687"/>
                  </a:lnTo>
                  <a:close/>
                </a:path>
              </a:pathLst>
            </a:custGeom>
            <a:blipFill>
              <a:blip r:embed="rId10">
                <a:alphaModFix amt="0"/>
              </a:blip>
              <a:stretch>
                <a:fillRect l="-110473" t="0" r="-110471" b="0"/>
              </a:stretch>
            </a:blipFill>
          </p:spPr>
        </p:sp>
        <p:sp>
          <p:nvSpPr>
            <p:cNvPr name="TextBox 59" id="59"/>
            <p:cNvSpPr txBox="true"/>
            <p:nvPr/>
          </p:nvSpPr>
          <p:spPr>
            <a:xfrm>
              <a:off x="0" y="-9525"/>
              <a:ext cx="283578" cy="364211"/>
            </a:xfrm>
            <a:prstGeom prst="rect">
              <a:avLst/>
            </a:prstGeom>
          </p:spPr>
          <p:txBody>
            <a:bodyPr anchor="ctr" rtlCol="false" tIns="0" lIns="0" bIns="0" rIns="0"/>
            <a:lstStyle/>
            <a:p>
              <a:pPr algn="ctr">
                <a:lnSpc>
                  <a:spcPts val="1981"/>
                </a:lnSpc>
              </a:pPr>
              <a:r>
                <a:rPr lang="en-US" sz="1651">
                  <a:solidFill>
                    <a:srgbClr val="4C4C4D"/>
                  </a:solidFill>
                  <a:latin typeface="Crimson Pro"/>
                  <a:ea typeface="Crimson Pro"/>
                  <a:cs typeface="Crimson Pro"/>
                  <a:sym typeface="Crimson Pro"/>
                </a:rPr>
                <a:t>4</a:t>
              </a:r>
            </a:p>
          </p:txBody>
        </p:sp>
      </p:grpSp>
      <p:sp>
        <p:nvSpPr>
          <p:cNvPr name="TextBox 60" id="60"/>
          <p:cNvSpPr txBox="true"/>
          <p:nvPr/>
        </p:nvSpPr>
        <p:spPr>
          <a:xfrm rot="0">
            <a:off x="9585236" y="11745754"/>
            <a:ext cx="7723622"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Support reliable transistor switching for SET and RESET operations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0F0F1"/>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6" id="6"/>
          <p:cNvGrpSpPr/>
          <p:nvPr/>
        </p:nvGrpSpPr>
        <p:grpSpPr>
          <a:xfrm rot="0">
            <a:off x="16628307" y="9846183"/>
            <a:ext cx="1609020" cy="384353"/>
            <a:chOff x="0" y="0"/>
            <a:chExt cx="2145360" cy="512470"/>
          </a:xfrm>
        </p:grpSpPr>
        <p:sp>
          <p:nvSpPr>
            <p:cNvPr name="Freeform 7" id="7" descr="preencoded.png">
              <a:hlinkClick r:id="rId3" tooltip="https://gamma.app/?utm_source=made-with-gamma"/>
            </p:cNvPr>
            <p:cNvSpPr/>
            <p:nvPr/>
          </p:nvSpPr>
          <p:spPr>
            <a:xfrm flipH="false" flipV="false" rot="0">
              <a:off x="0" y="0"/>
              <a:ext cx="2145411" cy="512445"/>
            </a:xfrm>
            <a:custGeom>
              <a:avLst/>
              <a:gdLst/>
              <a:ahLst/>
              <a:cxnLst/>
              <a:rect r="r" b="b" t="t" l="l"/>
              <a:pathLst>
                <a:path h="512445" w="2145411">
                  <a:moveTo>
                    <a:pt x="0" y="0"/>
                  </a:moveTo>
                  <a:lnTo>
                    <a:pt x="2145411" y="0"/>
                  </a:lnTo>
                  <a:lnTo>
                    <a:pt x="2145411" y="512445"/>
                  </a:lnTo>
                  <a:lnTo>
                    <a:pt x="0" y="512445"/>
                  </a:lnTo>
                  <a:lnTo>
                    <a:pt x="0" y="0"/>
                  </a:lnTo>
                  <a:close/>
                </a:path>
              </a:pathLst>
            </a:custGeom>
            <a:blipFill>
              <a:blip r:embed="rId4"/>
              <a:stretch>
                <a:fillRect l="0" t="0" r="2" b="-4"/>
              </a:stretch>
            </a:blipFill>
          </p:spPr>
        </p:sp>
      </p:grpSp>
      <p:sp>
        <p:nvSpPr>
          <p:cNvPr name="TextBox 8" id="8"/>
          <p:cNvSpPr txBox="true"/>
          <p:nvPr/>
        </p:nvSpPr>
        <p:spPr>
          <a:xfrm rot="0">
            <a:off x="992991" y="751742"/>
            <a:ext cx="16315868" cy="471830"/>
          </a:xfrm>
          <a:prstGeom prst="rect">
            <a:avLst/>
          </a:prstGeom>
        </p:spPr>
        <p:txBody>
          <a:bodyPr anchor="t" rtlCol="false" tIns="0" lIns="0" bIns="0" rIns="0">
            <a:spAutoFit/>
          </a:bodyPr>
          <a:lstStyle/>
          <a:p>
            <a:pPr algn="l">
              <a:lnSpc>
                <a:spcPts val="3465"/>
              </a:lnSpc>
            </a:pPr>
            <a:r>
              <a:rPr lang="en-US" sz="2777">
                <a:solidFill>
                  <a:srgbClr val="152D47"/>
                </a:solidFill>
                <a:latin typeface="Crimson Pro"/>
                <a:ea typeface="Crimson Pro"/>
                <a:cs typeface="Crimson Pro"/>
                <a:sym typeface="Crimson Pro"/>
              </a:rPr>
              <a:t>Design Calculations (Part B) &amp; Simulation Results</a:t>
            </a:r>
          </a:p>
        </p:txBody>
      </p:sp>
      <p:sp>
        <p:nvSpPr>
          <p:cNvPr name="TextBox 9" id="9"/>
          <p:cNvSpPr txBox="true"/>
          <p:nvPr/>
        </p:nvSpPr>
        <p:spPr>
          <a:xfrm rot="0">
            <a:off x="992991" y="1232830"/>
            <a:ext cx="16315868" cy="285064"/>
          </a:xfrm>
          <a:prstGeom prst="rect">
            <a:avLst/>
          </a:prstGeom>
        </p:spPr>
        <p:txBody>
          <a:bodyPr anchor="t" rtlCol="false" tIns="0" lIns="0" bIns="0" rIns="0">
            <a:spAutoFit/>
          </a:bodyPr>
          <a:lstStyle/>
          <a:p>
            <a:pPr algn="l">
              <a:lnSpc>
                <a:spcPts val="2060"/>
              </a:lnSpc>
            </a:pPr>
            <a:r>
              <a:rPr lang="en-US" sz="1651">
                <a:solidFill>
                  <a:srgbClr val="152D47"/>
                </a:solidFill>
                <a:latin typeface="Crimson Pro"/>
                <a:ea typeface="Crimson Pro"/>
                <a:cs typeface="Crimson Pro"/>
                <a:sym typeface="Crimson Pro"/>
              </a:rPr>
              <a:t>Zener Verification</a:t>
            </a:r>
          </a:p>
        </p:txBody>
      </p:sp>
      <p:sp>
        <p:nvSpPr>
          <p:cNvPr name="TextBox 10" id="10"/>
          <p:cNvSpPr txBox="true"/>
          <p:nvPr/>
        </p:nvSpPr>
        <p:spPr>
          <a:xfrm rot="0">
            <a:off x="992991" y="1633766"/>
            <a:ext cx="1723095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Applying KCL:</a:t>
            </a:r>
          </a:p>
        </p:txBody>
      </p:sp>
      <p:grpSp>
        <p:nvGrpSpPr>
          <p:cNvPr name="Group 11" id="11"/>
          <p:cNvGrpSpPr/>
          <p:nvPr/>
        </p:nvGrpSpPr>
        <p:grpSpPr>
          <a:xfrm rot="0">
            <a:off x="992991" y="1884150"/>
            <a:ext cx="16315868" cy="241287"/>
            <a:chOff x="0" y="0"/>
            <a:chExt cx="21754490" cy="321716"/>
          </a:xfrm>
        </p:grpSpPr>
        <p:sp>
          <p:nvSpPr>
            <p:cNvPr name="Freeform 12" id="12" descr="preencoded.png"/>
            <p:cNvSpPr/>
            <p:nvPr/>
          </p:nvSpPr>
          <p:spPr>
            <a:xfrm flipH="false" flipV="false" rot="0">
              <a:off x="0" y="0"/>
              <a:ext cx="21754464" cy="321691"/>
            </a:xfrm>
            <a:custGeom>
              <a:avLst/>
              <a:gdLst/>
              <a:ahLst/>
              <a:cxnLst/>
              <a:rect r="r" b="b" t="t" l="l"/>
              <a:pathLst>
                <a:path h="321691" w="21754464">
                  <a:moveTo>
                    <a:pt x="0" y="0"/>
                  </a:moveTo>
                  <a:lnTo>
                    <a:pt x="21754464" y="0"/>
                  </a:lnTo>
                  <a:lnTo>
                    <a:pt x="21754464" y="321691"/>
                  </a:lnTo>
                  <a:lnTo>
                    <a:pt x="0" y="321691"/>
                  </a:lnTo>
                  <a:lnTo>
                    <a:pt x="0" y="0"/>
                  </a:lnTo>
                  <a:close/>
                </a:path>
              </a:pathLst>
            </a:custGeom>
            <a:blipFill>
              <a:blip r:embed="rId5"/>
              <a:stretch>
                <a:fillRect l="0" t="-1346" r="0" b="-1354"/>
              </a:stretch>
            </a:blipFill>
          </p:spPr>
        </p:sp>
      </p:grpSp>
      <p:sp>
        <p:nvSpPr>
          <p:cNvPr name="TextBox 13" id="13"/>
          <p:cNvSpPr txBox="true"/>
          <p:nvPr/>
        </p:nvSpPr>
        <p:spPr>
          <a:xfrm rot="0">
            <a:off x="992991" y="2224630"/>
            <a:ext cx="16315868" cy="1410367"/>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IZ = 88/70k − 12/500k</a:t>
            </a:r>
          </a:p>
          <a:p>
            <a:pPr algn="l">
              <a:lnSpc>
                <a:spcPts val="1260"/>
              </a:lnSpc>
            </a:pPr>
            <a:r>
              <a:rPr lang="en-US" sz="1050">
                <a:solidFill>
                  <a:srgbClr val="4C4C4D"/>
                </a:solidFill>
                <a:latin typeface="Heebo"/>
                <a:ea typeface="Heebo"/>
                <a:cs typeface="Heebo"/>
                <a:sym typeface="Heebo"/>
              </a:rPr>
              <a:t>IZ = 1.233 mA</a:t>
            </a:r>
          </a:p>
          <a:p>
            <a:pPr algn="l">
              <a:lnSpc>
                <a:spcPts val="1260"/>
              </a:lnSpc>
            </a:pPr>
            <a:r>
              <a:rPr lang="en-US" sz="1050">
                <a:solidFill>
                  <a:srgbClr val="4C4C4D"/>
                </a:solidFill>
                <a:latin typeface="Heebo"/>
                <a:ea typeface="Heebo"/>
                <a:cs typeface="Heebo"/>
                <a:sym typeface="Heebo"/>
              </a:rPr>
              <a:t>Power:</a:t>
            </a:r>
          </a:p>
          <a:p>
            <a:pPr algn="l">
              <a:lnSpc>
                <a:spcPts val="1260"/>
              </a:lnSpc>
            </a:pPr>
            <a:r>
              <a:rPr lang="en-US" sz="1050">
                <a:solidFill>
                  <a:srgbClr val="4C4C4D"/>
                </a:solidFill>
                <a:latin typeface="Heebo"/>
                <a:ea typeface="Heebo"/>
                <a:cs typeface="Heebo"/>
                <a:sym typeface="Heebo"/>
              </a:rPr>
              <a:t>PZ = 12 × 1.233 mA</a:t>
            </a:r>
          </a:p>
          <a:p>
            <a:pPr algn="l">
              <a:lnSpc>
                <a:spcPts val="1260"/>
              </a:lnSpc>
            </a:pPr>
            <a:r>
              <a:rPr lang="en-US" sz="1050">
                <a:solidFill>
                  <a:srgbClr val="4C4C4D"/>
                </a:solidFill>
                <a:latin typeface="Heebo"/>
                <a:ea typeface="Heebo"/>
                <a:cs typeface="Heebo"/>
                <a:sym typeface="Heebo"/>
              </a:rPr>
              <a:t>PZ = 14.8 mW</a:t>
            </a:r>
          </a:p>
          <a:p>
            <a:pPr algn="l">
              <a:lnSpc>
                <a:spcPts val="1260"/>
              </a:lnSpc>
            </a:pPr>
            <a:r>
              <a:rPr lang="en-US" sz="1050">
                <a:solidFill>
                  <a:srgbClr val="4C4C4D"/>
                </a:solidFill>
                <a:latin typeface="Heebo"/>
                <a:ea typeface="Heebo"/>
                <a:cs typeface="Heebo"/>
                <a:sym typeface="Heebo"/>
              </a:rPr>
              <a:t>A 500 mW Zener diode is selected.</a:t>
            </a:r>
          </a:p>
        </p:txBody>
      </p:sp>
      <p:sp>
        <p:nvSpPr>
          <p:cNvPr name="TextBox 14" id="14"/>
          <p:cNvSpPr txBox="true"/>
          <p:nvPr/>
        </p:nvSpPr>
        <p:spPr>
          <a:xfrm rot="0">
            <a:off x="992991" y="3722284"/>
            <a:ext cx="16315868" cy="285064"/>
          </a:xfrm>
          <a:prstGeom prst="rect">
            <a:avLst/>
          </a:prstGeom>
        </p:spPr>
        <p:txBody>
          <a:bodyPr anchor="t" rtlCol="false" tIns="0" lIns="0" bIns="0" rIns="0">
            <a:spAutoFit/>
          </a:bodyPr>
          <a:lstStyle/>
          <a:p>
            <a:pPr algn="l">
              <a:lnSpc>
                <a:spcPts val="2060"/>
              </a:lnSpc>
            </a:pPr>
            <a:r>
              <a:rPr lang="en-US" sz="1651">
                <a:solidFill>
                  <a:srgbClr val="152D47"/>
                </a:solidFill>
                <a:latin typeface="Crimson Pro"/>
                <a:ea typeface="Crimson Pro"/>
                <a:cs typeface="Crimson Pro"/>
                <a:sym typeface="Crimson Pro"/>
              </a:rPr>
              <a:t>Transistor Saturation Design</a:t>
            </a:r>
          </a:p>
        </p:txBody>
      </p:sp>
      <p:sp>
        <p:nvSpPr>
          <p:cNvPr name="TextBox 15" id="15"/>
          <p:cNvSpPr txBox="true"/>
          <p:nvPr/>
        </p:nvSpPr>
        <p:spPr>
          <a:xfrm rot="0">
            <a:off x="992991" y="4026122"/>
            <a:ext cx="16315868" cy="231153"/>
          </a:xfrm>
          <a:prstGeom prst="rect">
            <a:avLst/>
          </a:prstGeom>
        </p:spPr>
        <p:txBody>
          <a:bodyPr anchor="t" rtlCol="false" tIns="0" lIns="0" bIns="0" rIns="0">
            <a:spAutoFit/>
          </a:bodyPr>
          <a:lstStyle/>
          <a:p>
            <a:pPr algn="l">
              <a:lnSpc>
                <a:spcPts val="1686"/>
              </a:lnSpc>
            </a:pPr>
            <a:r>
              <a:rPr lang="en-US" sz="1351">
                <a:solidFill>
                  <a:srgbClr val="152D47"/>
                </a:solidFill>
                <a:latin typeface="Crimson Pro"/>
                <a:ea typeface="Crimson Pro"/>
                <a:cs typeface="Crimson Pro"/>
                <a:sym typeface="Crimson Pro"/>
              </a:rPr>
              <a:t>Q1 (SET Transistor)</a:t>
            </a:r>
          </a:p>
        </p:txBody>
      </p:sp>
      <p:sp>
        <p:nvSpPr>
          <p:cNvPr name="TextBox 16" id="16"/>
          <p:cNvSpPr txBox="true"/>
          <p:nvPr/>
        </p:nvSpPr>
        <p:spPr>
          <a:xfrm rot="0">
            <a:off x="992991" y="4373156"/>
            <a:ext cx="16315868" cy="660578"/>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RB1 ≤ 207.2 kΩ</a:t>
            </a:r>
          </a:p>
          <a:p>
            <a:pPr algn="l">
              <a:lnSpc>
                <a:spcPts val="1260"/>
              </a:lnSpc>
            </a:pPr>
            <a:r>
              <a:rPr lang="en-US" sz="1050">
                <a:solidFill>
                  <a:srgbClr val="4C4C4D"/>
                </a:solidFill>
                <a:latin typeface="Heebo"/>
                <a:ea typeface="Heebo"/>
                <a:cs typeface="Heebo"/>
                <a:sym typeface="Heebo"/>
              </a:rPr>
              <a:t>Choose: </a:t>
            </a:r>
            <a:r>
              <a:rPr lang="en-US" sz="1050" b="true">
                <a:solidFill>
                  <a:srgbClr val="4C4C4D"/>
                </a:solidFill>
                <a:latin typeface="Heebo Bold"/>
                <a:ea typeface="Heebo Bold"/>
                <a:cs typeface="Heebo Bold"/>
                <a:sym typeface="Heebo Bold"/>
              </a:rPr>
              <a:t>RB1 = 100 kΩ</a:t>
            </a:r>
          </a:p>
          <a:p>
            <a:pPr algn="l">
              <a:lnSpc>
                <a:spcPts val="1260"/>
              </a:lnSpc>
            </a:pPr>
            <a:r>
              <a:rPr lang="en-US" sz="1050">
                <a:solidFill>
                  <a:srgbClr val="4C4C4D"/>
                </a:solidFill>
                <a:latin typeface="Heebo"/>
                <a:ea typeface="Heebo"/>
                <a:cs typeface="Heebo"/>
                <a:sym typeface="Heebo"/>
              </a:rPr>
              <a:t>Power: 67.6 μW</a:t>
            </a:r>
          </a:p>
        </p:txBody>
      </p:sp>
      <p:sp>
        <p:nvSpPr>
          <p:cNvPr name="TextBox 17" id="17"/>
          <p:cNvSpPr txBox="true"/>
          <p:nvPr/>
        </p:nvSpPr>
        <p:spPr>
          <a:xfrm rot="0">
            <a:off x="992991" y="5130546"/>
            <a:ext cx="16315868" cy="231153"/>
          </a:xfrm>
          <a:prstGeom prst="rect">
            <a:avLst/>
          </a:prstGeom>
        </p:spPr>
        <p:txBody>
          <a:bodyPr anchor="t" rtlCol="false" tIns="0" lIns="0" bIns="0" rIns="0">
            <a:spAutoFit/>
          </a:bodyPr>
          <a:lstStyle/>
          <a:p>
            <a:pPr algn="l">
              <a:lnSpc>
                <a:spcPts val="1686"/>
              </a:lnSpc>
            </a:pPr>
            <a:r>
              <a:rPr lang="en-US" sz="1351">
                <a:solidFill>
                  <a:srgbClr val="152D47"/>
                </a:solidFill>
                <a:latin typeface="Crimson Pro"/>
                <a:ea typeface="Crimson Pro"/>
                <a:cs typeface="Crimson Pro"/>
                <a:sym typeface="Crimson Pro"/>
              </a:rPr>
              <a:t>Q2 (Latching Transistor)</a:t>
            </a:r>
          </a:p>
        </p:txBody>
      </p:sp>
      <p:sp>
        <p:nvSpPr>
          <p:cNvPr name="TextBox 18" id="18"/>
          <p:cNvSpPr txBox="true"/>
          <p:nvPr/>
        </p:nvSpPr>
        <p:spPr>
          <a:xfrm rot="0">
            <a:off x="992991" y="5477580"/>
            <a:ext cx="16315868" cy="660578"/>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RB2 ≤ 51 MΩ</a:t>
            </a:r>
          </a:p>
          <a:p>
            <a:pPr algn="l">
              <a:lnSpc>
                <a:spcPts val="1260"/>
              </a:lnSpc>
            </a:pPr>
            <a:r>
              <a:rPr lang="en-US" sz="1050">
                <a:solidFill>
                  <a:srgbClr val="4C4C4D"/>
                </a:solidFill>
                <a:latin typeface="Heebo"/>
                <a:ea typeface="Heebo"/>
                <a:cs typeface="Heebo"/>
                <a:sym typeface="Heebo"/>
              </a:rPr>
              <a:t>Choose: </a:t>
            </a:r>
            <a:r>
              <a:rPr lang="en-US" sz="1050" b="true">
                <a:solidFill>
                  <a:srgbClr val="4C4C4D"/>
                </a:solidFill>
                <a:latin typeface="Heebo Bold"/>
                <a:ea typeface="Heebo Bold"/>
                <a:cs typeface="Heebo Bold"/>
                <a:sym typeface="Heebo Bold"/>
              </a:rPr>
              <a:t>RB2 = 100 kΩ</a:t>
            </a:r>
          </a:p>
          <a:p>
            <a:pPr algn="l">
              <a:lnSpc>
                <a:spcPts val="1260"/>
              </a:lnSpc>
            </a:pPr>
            <a:r>
              <a:rPr lang="en-US" sz="1050">
                <a:solidFill>
                  <a:srgbClr val="4C4C4D"/>
                </a:solidFill>
                <a:latin typeface="Heebo"/>
                <a:ea typeface="Heebo"/>
                <a:cs typeface="Heebo"/>
                <a:sym typeface="Heebo"/>
              </a:rPr>
              <a:t>Power: 100 mW</a:t>
            </a:r>
          </a:p>
        </p:txBody>
      </p:sp>
      <p:sp>
        <p:nvSpPr>
          <p:cNvPr name="TextBox 19" id="19"/>
          <p:cNvSpPr txBox="true"/>
          <p:nvPr/>
        </p:nvSpPr>
        <p:spPr>
          <a:xfrm rot="0">
            <a:off x="992991" y="6234970"/>
            <a:ext cx="16315868" cy="231153"/>
          </a:xfrm>
          <a:prstGeom prst="rect">
            <a:avLst/>
          </a:prstGeom>
        </p:spPr>
        <p:txBody>
          <a:bodyPr anchor="t" rtlCol="false" tIns="0" lIns="0" bIns="0" rIns="0">
            <a:spAutoFit/>
          </a:bodyPr>
          <a:lstStyle/>
          <a:p>
            <a:pPr algn="l">
              <a:lnSpc>
                <a:spcPts val="1686"/>
              </a:lnSpc>
            </a:pPr>
            <a:r>
              <a:rPr lang="en-US" sz="1351">
                <a:solidFill>
                  <a:srgbClr val="152D47"/>
                </a:solidFill>
                <a:latin typeface="Crimson Pro"/>
                <a:ea typeface="Crimson Pro"/>
                <a:cs typeface="Crimson Pro"/>
                <a:sym typeface="Crimson Pro"/>
              </a:rPr>
              <a:t>Q3 (RESET Transistor)</a:t>
            </a:r>
          </a:p>
        </p:txBody>
      </p:sp>
      <p:sp>
        <p:nvSpPr>
          <p:cNvPr name="TextBox 20" id="20"/>
          <p:cNvSpPr txBox="true"/>
          <p:nvPr/>
        </p:nvSpPr>
        <p:spPr>
          <a:xfrm rot="0">
            <a:off x="992991" y="6581994"/>
            <a:ext cx="16315868" cy="660578"/>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RB3 ≤ 260.5 kΩ</a:t>
            </a:r>
          </a:p>
          <a:p>
            <a:pPr algn="l">
              <a:lnSpc>
                <a:spcPts val="1260"/>
              </a:lnSpc>
            </a:pPr>
            <a:r>
              <a:rPr lang="en-US" sz="1050">
                <a:solidFill>
                  <a:srgbClr val="4C4C4D"/>
                </a:solidFill>
                <a:latin typeface="Heebo"/>
                <a:ea typeface="Heebo"/>
                <a:cs typeface="Heebo"/>
                <a:sym typeface="Heebo"/>
              </a:rPr>
              <a:t>Choose: </a:t>
            </a:r>
            <a:r>
              <a:rPr lang="en-US" sz="1050" b="true">
                <a:solidFill>
                  <a:srgbClr val="4C4C4D"/>
                </a:solidFill>
                <a:latin typeface="Heebo Bold"/>
                <a:ea typeface="Heebo Bold"/>
                <a:cs typeface="Heebo Bold"/>
                <a:sym typeface="Heebo Bold"/>
              </a:rPr>
              <a:t>RB3 = 100 kΩ</a:t>
            </a:r>
          </a:p>
          <a:p>
            <a:pPr algn="l">
              <a:lnSpc>
                <a:spcPts val="1260"/>
              </a:lnSpc>
            </a:pPr>
            <a:r>
              <a:rPr lang="en-US" sz="1050">
                <a:solidFill>
                  <a:srgbClr val="4C4C4D"/>
                </a:solidFill>
                <a:latin typeface="Heebo"/>
                <a:ea typeface="Heebo"/>
                <a:cs typeface="Heebo"/>
                <a:sym typeface="Heebo"/>
              </a:rPr>
              <a:t>Power: 67 μW</a:t>
            </a:r>
          </a:p>
        </p:txBody>
      </p:sp>
      <p:sp>
        <p:nvSpPr>
          <p:cNvPr name="TextBox 21" id="21"/>
          <p:cNvSpPr txBox="true"/>
          <p:nvPr/>
        </p:nvSpPr>
        <p:spPr>
          <a:xfrm rot="0">
            <a:off x="992991" y="7329868"/>
            <a:ext cx="16315868" cy="285064"/>
          </a:xfrm>
          <a:prstGeom prst="rect">
            <a:avLst/>
          </a:prstGeom>
        </p:spPr>
        <p:txBody>
          <a:bodyPr anchor="t" rtlCol="false" tIns="0" lIns="0" bIns="0" rIns="0">
            <a:spAutoFit/>
          </a:bodyPr>
          <a:lstStyle/>
          <a:p>
            <a:pPr algn="l">
              <a:lnSpc>
                <a:spcPts val="2060"/>
              </a:lnSpc>
            </a:pPr>
            <a:r>
              <a:rPr lang="en-US" sz="1651">
                <a:solidFill>
                  <a:srgbClr val="152D47"/>
                </a:solidFill>
                <a:latin typeface="Crimson Pro"/>
                <a:ea typeface="Crimson Pro"/>
                <a:cs typeface="Crimson Pro"/>
                <a:sym typeface="Crimson Pro"/>
              </a:rPr>
              <a:t>Simulation Results</a:t>
            </a:r>
          </a:p>
        </p:txBody>
      </p:sp>
      <p:sp>
        <p:nvSpPr>
          <p:cNvPr name="TextBox 22" id="22"/>
          <p:cNvSpPr txBox="true"/>
          <p:nvPr/>
        </p:nvSpPr>
        <p:spPr>
          <a:xfrm rot="0">
            <a:off x="992991" y="7633706"/>
            <a:ext cx="16315868" cy="231153"/>
          </a:xfrm>
          <a:prstGeom prst="rect">
            <a:avLst/>
          </a:prstGeom>
        </p:spPr>
        <p:txBody>
          <a:bodyPr anchor="t" rtlCol="false" tIns="0" lIns="0" bIns="0" rIns="0">
            <a:spAutoFit/>
          </a:bodyPr>
          <a:lstStyle/>
          <a:p>
            <a:pPr algn="l">
              <a:lnSpc>
                <a:spcPts val="1686"/>
              </a:lnSpc>
            </a:pPr>
            <a:r>
              <a:rPr lang="en-US" sz="1351">
                <a:solidFill>
                  <a:srgbClr val="152D47"/>
                </a:solidFill>
                <a:latin typeface="Crimson Pro"/>
                <a:ea typeface="Crimson Pro"/>
                <a:cs typeface="Crimson Pro"/>
                <a:sym typeface="Crimson Pro"/>
              </a:rPr>
              <a:t>LTspice Simulation Conditions</a:t>
            </a:r>
          </a:p>
        </p:txBody>
      </p:sp>
      <p:sp>
        <p:nvSpPr>
          <p:cNvPr name="TextBox 23" id="23"/>
          <p:cNvSpPr txBox="true"/>
          <p:nvPr/>
        </p:nvSpPr>
        <p:spPr>
          <a:xfrm rot="0">
            <a:off x="992991" y="7980740"/>
            <a:ext cx="16315868" cy="940594"/>
          </a:xfrm>
          <a:prstGeom prst="rect">
            <a:avLst/>
          </a:prstGeom>
        </p:spPr>
        <p:txBody>
          <a:bodyPr anchor="t" rtlCol="false" tIns="0" lIns="0" bIns="0" rIns="0">
            <a:spAutoFit/>
          </a:bodyPr>
          <a:lstStyle/>
          <a:p>
            <a:pPr algn="l" marL="190321" indent="-95161" lvl="1">
              <a:lnSpc>
                <a:spcPts val="1260"/>
              </a:lnSpc>
              <a:buFont typeface="Arial"/>
              <a:buChar char="•"/>
            </a:pPr>
            <a:r>
              <a:rPr lang="en-US" sz="1050">
                <a:solidFill>
                  <a:srgbClr val="4C4C4D"/>
                </a:solidFill>
                <a:latin typeface="Heebo"/>
                <a:ea typeface="Heebo"/>
                <a:cs typeface="Heebo"/>
                <a:sym typeface="Heebo"/>
              </a:rPr>
              <a:t>Supply Voltage = 5 V to 100 V</a:t>
            </a:r>
          </a:p>
          <a:p>
            <a:pPr algn="l" marL="190321" indent="-95161" lvl="1">
              <a:lnSpc>
                <a:spcPts val="1260"/>
              </a:lnSpc>
              <a:buFont typeface="Arial"/>
              <a:buChar char="•"/>
            </a:pPr>
            <a:r>
              <a:rPr lang="en-US" sz="1050">
                <a:solidFill>
                  <a:srgbClr val="4C4C4D"/>
                </a:solidFill>
                <a:latin typeface="Heebo"/>
                <a:ea typeface="Heebo"/>
                <a:cs typeface="Heebo"/>
                <a:sym typeface="Heebo"/>
              </a:rPr>
              <a:t>SET Pulse = 3.3 V</a:t>
            </a:r>
          </a:p>
          <a:p>
            <a:pPr algn="l" marL="190321" indent="-95161" lvl="1">
              <a:lnSpc>
                <a:spcPts val="1260"/>
              </a:lnSpc>
              <a:buFont typeface="Arial"/>
              <a:buChar char="•"/>
            </a:pPr>
            <a:r>
              <a:rPr lang="en-US" sz="1050">
                <a:solidFill>
                  <a:srgbClr val="4C4C4D"/>
                </a:solidFill>
                <a:latin typeface="Heebo"/>
                <a:ea typeface="Heebo"/>
                <a:cs typeface="Heebo"/>
                <a:sym typeface="Heebo"/>
              </a:rPr>
              <a:t>RESET Pulse = 3.3 V</a:t>
            </a:r>
          </a:p>
          <a:p>
            <a:pPr algn="l" marL="190321" indent="-95161" lvl="1">
              <a:lnSpc>
                <a:spcPts val="1260"/>
              </a:lnSpc>
              <a:buFont typeface="Arial"/>
              <a:buChar char="•"/>
            </a:pPr>
            <a:r>
              <a:rPr lang="en-US" sz="1050">
                <a:solidFill>
                  <a:srgbClr val="4C4C4D"/>
                </a:solidFill>
                <a:latin typeface="Heebo"/>
                <a:ea typeface="Heebo"/>
                <a:cs typeface="Heebo"/>
                <a:sym typeface="Heebo"/>
              </a:rPr>
              <a:t>Load = 1 kΩ resistive load</a:t>
            </a:r>
          </a:p>
          <a:p>
            <a:pPr algn="l" marL="190321" indent="-95161" lvl="1">
              <a:lnSpc>
                <a:spcPts val="1260"/>
              </a:lnSpc>
              <a:buFont typeface="Arial"/>
              <a:buChar char="•"/>
            </a:pPr>
            <a:r>
              <a:rPr lang="en-US" sz="1050">
                <a:solidFill>
                  <a:srgbClr val="4C4C4D"/>
                </a:solidFill>
                <a:latin typeface="Heebo"/>
                <a:ea typeface="Heebo"/>
                <a:cs typeface="Heebo"/>
                <a:sym typeface="Heebo"/>
              </a:rPr>
              <a:t>Zener Voltage = 12 V</a:t>
            </a:r>
          </a:p>
        </p:txBody>
      </p:sp>
      <p:sp>
        <p:nvSpPr>
          <p:cNvPr name="TextBox 24" id="24"/>
          <p:cNvSpPr txBox="true"/>
          <p:nvPr/>
        </p:nvSpPr>
        <p:spPr>
          <a:xfrm rot="0">
            <a:off x="992991" y="9018146"/>
            <a:ext cx="16315868" cy="231153"/>
          </a:xfrm>
          <a:prstGeom prst="rect">
            <a:avLst/>
          </a:prstGeom>
        </p:spPr>
        <p:txBody>
          <a:bodyPr anchor="t" rtlCol="false" tIns="0" lIns="0" bIns="0" rIns="0">
            <a:spAutoFit/>
          </a:bodyPr>
          <a:lstStyle/>
          <a:p>
            <a:pPr algn="l">
              <a:lnSpc>
                <a:spcPts val="1686"/>
              </a:lnSpc>
            </a:pPr>
            <a:r>
              <a:rPr lang="en-US" sz="1351">
                <a:solidFill>
                  <a:srgbClr val="152D47"/>
                </a:solidFill>
                <a:latin typeface="Crimson Pro"/>
                <a:ea typeface="Crimson Pro"/>
                <a:cs typeface="Crimson Pro"/>
                <a:sym typeface="Crimson Pro"/>
              </a:rPr>
              <a:t>Simulation Observations</a:t>
            </a:r>
          </a:p>
        </p:txBody>
      </p:sp>
      <p:sp>
        <p:nvSpPr>
          <p:cNvPr name="TextBox 25" id="25"/>
          <p:cNvSpPr txBox="true"/>
          <p:nvPr/>
        </p:nvSpPr>
        <p:spPr>
          <a:xfrm rot="0">
            <a:off x="992991" y="9365171"/>
            <a:ext cx="16315868" cy="1330528"/>
          </a:xfrm>
          <a:prstGeom prst="rect">
            <a:avLst/>
          </a:prstGeom>
        </p:spPr>
        <p:txBody>
          <a:bodyPr anchor="t" rtlCol="false" tIns="0" lIns="0" bIns="0" rIns="0">
            <a:spAutoFit/>
          </a:bodyPr>
          <a:lstStyle/>
          <a:p>
            <a:pPr algn="l" marL="190321" indent="-95161" lvl="1">
              <a:lnSpc>
                <a:spcPts val="1260"/>
              </a:lnSpc>
              <a:buAutoNum type="arabicPeriod" startAt="1"/>
            </a:pPr>
            <a:r>
              <a:rPr lang="en-US" b="true" sz="1050">
                <a:solidFill>
                  <a:srgbClr val="4C4C4D"/>
                </a:solidFill>
                <a:latin typeface="Heebo Bold"/>
                <a:ea typeface="Heebo Bold"/>
                <a:cs typeface="Heebo Bold"/>
                <a:sym typeface="Heebo Bold"/>
              </a:rPr>
              <a:t>SET Pulse Response:</a:t>
            </a:r>
            <a:r>
              <a:rPr lang="en-US" sz="1050">
                <a:solidFill>
                  <a:srgbClr val="4C4C4D"/>
                </a:solidFill>
                <a:latin typeface="Heebo"/>
                <a:ea typeface="Heebo"/>
                <a:cs typeface="Heebo"/>
                <a:sym typeface="Heebo"/>
              </a:rPr>
              <a:t> Q1 turns ON with the SET pulse and initiates the latch by providing base current to Q2.</a:t>
            </a:r>
          </a:p>
          <a:p>
            <a:pPr algn="l" marL="190321" indent="-95161" lvl="1">
              <a:lnSpc>
                <a:spcPts val="1260"/>
              </a:lnSpc>
              <a:buAutoNum type="arabicPeriod" startAt="1"/>
            </a:pPr>
            <a:r>
              <a:rPr lang="en-US" b="true" sz="1050">
                <a:solidFill>
                  <a:srgbClr val="4C4C4D"/>
                </a:solidFill>
                <a:latin typeface="Heebo Bold"/>
                <a:ea typeface="Heebo Bold"/>
                <a:cs typeface="Heebo Bold"/>
                <a:sym typeface="Heebo Bold"/>
              </a:rPr>
              <a:t>Latch Holding:</a:t>
            </a:r>
            <a:r>
              <a:rPr lang="en-US" sz="1050">
                <a:solidFill>
                  <a:srgbClr val="4C4C4D"/>
                </a:solidFill>
                <a:latin typeface="Heebo"/>
                <a:ea typeface="Heebo"/>
                <a:cs typeface="Heebo"/>
                <a:sym typeface="Heebo"/>
              </a:rPr>
              <a:t> Q2 maintains the ON state even after the SET pulse is removed, demonstrating positive feedback operation.</a:t>
            </a:r>
          </a:p>
          <a:p>
            <a:pPr algn="l" marL="190321" indent="-95161" lvl="1">
              <a:lnSpc>
                <a:spcPts val="1260"/>
              </a:lnSpc>
              <a:buAutoNum type="arabicPeriod" startAt="1"/>
            </a:pPr>
            <a:r>
              <a:rPr lang="en-US" b="true" sz="1050">
                <a:solidFill>
                  <a:srgbClr val="4C4C4D"/>
                </a:solidFill>
                <a:latin typeface="Heebo Bold"/>
                <a:ea typeface="Heebo Bold"/>
                <a:cs typeface="Heebo Bold"/>
                <a:sym typeface="Heebo Bold"/>
              </a:rPr>
              <a:t>Gate Voltage Clamping:</a:t>
            </a:r>
            <a:r>
              <a:rPr lang="en-US" sz="1050">
                <a:solidFill>
                  <a:srgbClr val="4C4C4D"/>
                </a:solidFill>
                <a:latin typeface="Heebo"/>
                <a:ea typeface="Heebo"/>
                <a:cs typeface="Heebo"/>
                <a:sym typeface="Heebo"/>
              </a:rPr>
              <a:t> The PMOS gate voltage remains clamped near −12 V by the Zener diode, ensuring safe operation.</a:t>
            </a:r>
          </a:p>
          <a:p>
            <a:pPr algn="l" marL="190321" indent="-95161" lvl="1">
              <a:lnSpc>
                <a:spcPts val="1260"/>
              </a:lnSpc>
              <a:buAutoNum type="arabicPeriod" startAt="1"/>
            </a:pPr>
            <a:r>
              <a:rPr lang="en-US" b="true" sz="1050">
                <a:solidFill>
                  <a:srgbClr val="4C4C4D"/>
                </a:solidFill>
                <a:latin typeface="Heebo Bold"/>
                <a:ea typeface="Heebo Bold"/>
                <a:cs typeface="Heebo Bold"/>
                <a:sym typeface="Heebo Bold"/>
              </a:rPr>
              <a:t>Output Stability:</a:t>
            </a:r>
            <a:r>
              <a:rPr lang="en-US" sz="1050">
                <a:solidFill>
                  <a:srgbClr val="4C4C4D"/>
                </a:solidFill>
                <a:latin typeface="Heebo"/>
                <a:ea typeface="Heebo"/>
                <a:cs typeface="Heebo"/>
                <a:sym typeface="Heebo"/>
              </a:rPr>
              <a:t> The output remains ON until a RESET pulse activates Q3, demonstrating reliable memory-based switching.</a:t>
            </a:r>
          </a:p>
          <a:p>
            <a:pPr algn="l" marL="190321" indent="-95161" lvl="1">
              <a:lnSpc>
                <a:spcPts val="1260"/>
              </a:lnSpc>
              <a:buAutoNum type="arabicPeriod" startAt="1"/>
            </a:pPr>
            <a:r>
              <a:rPr lang="en-US" b="true" sz="1050">
                <a:solidFill>
                  <a:srgbClr val="4C4C4D"/>
                </a:solidFill>
                <a:latin typeface="Heebo Bold"/>
                <a:ea typeface="Heebo Bold"/>
                <a:cs typeface="Heebo Bold"/>
                <a:sym typeface="Heebo Bold"/>
              </a:rPr>
              <a:t>RESET Operation:</a:t>
            </a:r>
            <a:r>
              <a:rPr lang="en-US" sz="1050">
                <a:solidFill>
                  <a:srgbClr val="4C4C4D"/>
                </a:solidFill>
                <a:latin typeface="Heebo"/>
                <a:ea typeface="Heebo"/>
                <a:cs typeface="Heebo"/>
                <a:sym typeface="Heebo"/>
              </a:rPr>
              <a:t> Q3 successfully clears the latch by removing base drive from Q2, returning the PMOS to the OFF state.</a:t>
            </a:r>
          </a:p>
          <a:p>
            <a:pPr algn="l" marL="190321" indent="-95161" lvl="1">
              <a:lnSpc>
                <a:spcPts val="1260"/>
              </a:lnSpc>
              <a:buAutoNum type="arabicPeriod" startAt="1"/>
            </a:pPr>
            <a:r>
              <a:rPr lang="en-US" b="true" sz="1050">
                <a:solidFill>
                  <a:srgbClr val="4C4C4D"/>
                </a:solidFill>
                <a:latin typeface="Heebo Bold"/>
                <a:ea typeface="Heebo Bold"/>
                <a:cs typeface="Heebo Bold"/>
                <a:sym typeface="Heebo Bold"/>
              </a:rPr>
              <a:t>Wide Supply Range:</a:t>
            </a:r>
            <a:r>
              <a:rPr lang="en-US" sz="1050">
                <a:solidFill>
                  <a:srgbClr val="4C4C4D"/>
                </a:solidFill>
                <a:latin typeface="Heebo"/>
                <a:ea typeface="Heebo"/>
                <a:cs typeface="Heebo"/>
                <a:sym typeface="Heebo"/>
              </a:rPr>
              <a:t> The circuit demonstrates stable operation across the full supply range of 5–100 V.</a:t>
            </a:r>
          </a:p>
          <a:p>
            <a:pPr algn="l" marL="190321" indent="-95161" lvl="1">
              <a:lnSpc>
                <a:spcPts val="1260"/>
              </a:lnSpc>
              <a:buAutoNum type="arabicPeriod" startAt="1"/>
            </a:pPr>
            <a:r>
              <a:rPr lang="en-US" b="true" sz="1050">
                <a:solidFill>
                  <a:srgbClr val="4C4C4D"/>
                </a:solidFill>
                <a:latin typeface="Heebo Bold"/>
                <a:ea typeface="Heebo Bold"/>
                <a:cs typeface="Heebo Bold"/>
                <a:sym typeface="Heebo Bold"/>
              </a:rPr>
              <a:t>Transient Suppression:</a:t>
            </a:r>
            <a:r>
              <a:rPr lang="en-US" sz="1050">
                <a:solidFill>
                  <a:srgbClr val="4C4C4D"/>
                </a:solidFill>
                <a:latin typeface="Heebo"/>
                <a:ea typeface="Heebo"/>
                <a:cs typeface="Heebo"/>
                <a:sym typeface="Heebo"/>
              </a:rPr>
              <a:t> Switching transients are effectively suppressed by the Zener diode and gate protection network.</a:t>
            </a:r>
          </a:p>
        </p:txBody>
      </p:sp>
      <p:sp>
        <p:nvSpPr>
          <p:cNvPr name="TextBox 26" id="26"/>
          <p:cNvSpPr txBox="true"/>
          <p:nvPr/>
        </p:nvSpPr>
        <p:spPr>
          <a:xfrm rot="0">
            <a:off x="992991" y="10792530"/>
            <a:ext cx="16315868" cy="231153"/>
          </a:xfrm>
          <a:prstGeom prst="rect">
            <a:avLst/>
          </a:prstGeom>
        </p:spPr>
        <p:txBody>
          <a:bodyPr anchor="t" rtlCol="false" tIns="0" lIns="0" bIns="0" rIns="0">
            <a:spAutoFit/>
          </a:bodyPr>
          <a:lstStyle/>
          <a:p>
            <a:pPr algn="l">
              <a:lnSpc>
                <a:spcPts val="1686"/>
              </a:lnSpc>
            </a:pPr>
            <a:r>
              <a:rPr lang="en-US" sz="1351">
                <a:solidFill>
                  <a:srgbClr val="152D47"/>
                </a:solidFill>
                <a:latin typeface="Crimson Pro"/>
                <a:ea typeface="Crimson Pro"/>
                <a:cs typeface="Crimson Pro"/>
                <a:sym typeface="Crimson Pro"/>
              </a:rPr>
              <a:t>Key Performance Metrics</a:t>
            </a:r>
          </a:p>
        </p:txBody>
      </p:sp>
      <p:sp>
        <p:nvSpPr>
          <p:cNvPr name="TextBox 27" id="27"/>
          <p:cNvSpPr txBox="true"/>
          <p:nvPr/>
        </p:nvSpPr>
        <p:spPr>
          <a:xfrm rot="0">
            <a:off x="992991" y="11139554"/>
            <a:ext cx="16315868" cy="1330528"/>
          </a:xfrm>
          <a:prstGeom prst="rect">
            <a:avLst/>
          </a:prstGeom>
        </p:spPr>
        <p:txBody>
          <a:bodyPr anchor="t" rtlCol="false" tIns="0" lIns="0" bIns="0" rIns="0">
            <a:spAutoFit/>
          </a:bodyPr>
          <a:lstStyle/>
          <a:p>
            <a:pPr algn="l" marL="190321" indent="-95161" lvl="1">
              <a:lnSpc>
                <a:spcPts val="1260"/>
              </a:lnSpc>
              <a:buFont typeface="Arial"/>
              <a:buChar char="•"/>
            </a:pPr>
            <a:r>
              <a:rPr lang="en-US" sz="1050">
                <a:solidFill>
                  <a:srgbClr val="4C4C4D"/>
                </a:solidFill>
                <a:latin typeface="Heebo"/>
                <a:ea typeface="Heebo"/>
                <a:cs typeface="Heebo"/>
                <a:sym typeface="Heebo"/>
              </a:rPr>
              <a:t>Gate-to-Source Voltage Range: −12 V to 0 V (within ±20 V limit)</a:t>
            </a:r>
          </a:p>
          <a:p>
            <a:pPr algn="l" marL="190321" indent="-95161" lvl="1">
              <a:lnSpc>
                <a:spcPts val="1260"/>
              </a:lnSpc>
              <a:buFont typeface="Arial"/>
              <a:buChar char="•"/>
            </a:pPr>
            <a:r>
              <a:rPr lang="en-US" sz="1050">
                <a:solidFill>
                  <a:srgbClr val="4C4C4D"/>
                </a:solidFill>
                <a:latin typeface="Heebo"/>
                <a:ea typeface="Heebo"/>
                <a:cs typeface="Heebo"/>
                <a:sym typeface="Heebo"/>
              </a:rPr>
              <a:t>Latch Holding Time: Indefinite (until RESET pulse)</a:t>
            </a:r>
          </a:p>
          <a:p>
            <a:pPr algn="l" marL="190321" indent="-95161" lvl="1">
              <a:lnSpc>
                <a:spcPts val="1260"/>
              </a:lnSpc>
              <a:buFont typeface="Arial"/>
              <a:buChar char="•"/>
            </a:pPr>
            <a:r>
              <a:rPr lang="en-US" sz="1050">
                <a:solidFill>
                  <a:srgbClr val="4C4C4D"/>
                </a:solidFill>
                <a:latin typeface="Heebo"/>
                <a:ea typeface="Heebo"/>
                <a:cs typeface="Heebo"/>
                <a:sym typeface="Heebo"/>
              </a:rPr>
              <a:t>SET Pulse Duration: Minimal (microseconds)</a:t>
            </a:r>
          </a:p>
          <a:p>
            <a:pPr algn="l" marL="190321" indent="-95161" lvl="1">
              <a:lnSpc>
                <a:spcPts val="1260"/>
              </a:lnSpc>
              <a:buFont typeface="Arial"/>
              <a:buChar char="•"/>
            </a:pPr>
            <a:r>
              <a:rPr lang="en-US" sz="1050">
                <a:solidFill>
                  <a:srgbClr val="4C4C4D"/>
                </a:solidFill>
                <a:latin typeface="Heebo"/>
                <a:ea typeface="Heebo"/>
                <a:cs typeface="Heebo"/>
                <a:sym typeface="Heebo"/>
              </a:rPr>
              <a:t>RESET Pulse Duration: Minimal (microseconds)</a:t>
            </a:r>
          </a:p>
          <a:p>
            <a:pPr algn="l" marL="190321" indent="-95161" lvl="1">
              <a:lnSpc>
                <a:spcPts val="1260"/>
              </a:lnSpc>
              <a:buFont typeface="Arial"/>
              <a:buChar char="•"/>
            </a:pPr>
            <a:r>
              <a:rPr lang="en-US" sz="1050">
                <a:solidFill>
                  <a:srgbClr val="4C4C4D"/>
                </a:solidFill>
                <a:latin typeface="Heebo"/>
                <a:ea typeface="Heebo"/>
                <a:cs typeface="Heebo"/>
                <a:sym typeface="Heebo"/>
              </a:rPr>
              <a:t>Output Voltage: Reaches 100 V when PMOS is ON</a:t>
            </a:r>
          </a:p>
          <a:p>
            <a:pPr algn="l" marL="190321" indent="-95161" lvl="1">
              <a:lnSpc>
                <a:spcPts val="1260"/>
              </a:lnSpc>
              <a:buFont typeface="Arial"/>
              <a:buChar char="•"/>
            </a:pPr>
            <a:r>
              <a:rPr lang="en-US" sz="1050">
                <a:solidFill>
                  <a:srgbClr val="4C4C4D"/>
                </a:solidFill>
                <a:latin typeface="Heebo"/>
                <a:ea typeface="Heebo"/>
                <a:cs typeface="Heebo"/>
                <a:sym typeface="Heebo"/>
              </a:rPr>
              <a:t>Load Current: Full conduction when PMOS is ON</a:t>
            </a:r>
          </a:p>
          <a:p>
            <a:pPr algn="l" marL="190321" indent="-95161" lvl="1">
              <a:lnSpc>
                <a:spcPts val="1260"/>
              </a:lnSpc>
              <a:buFont typeface="Arial"/>
              <a:buChar char="•"/>
            </a:pPr>
            <a:r>
              <a:rPr lang="en-US" sz="1050">
                <a:solidFill>
                  <a:srgbClr val="4C4C4D"/>
                </a:solidFill>
                <a:latin typeface="Heebo"/>
                <a:ea typeface="Heebo"/>
                <a:cs typeface="Heebo"/>
                <a:sym typeface="Heebo"/>
              </a:rPr>
              <a:t>Power Dissipation: Minimal in latched state (no continuous drive)</a:t>
            </a:r>
          </a:p>
        </p:txBody>
      </p:sp>
      <p:sp>
        <p:nvSpPr>
          <p:cNvPr name="TextBox 28" id="28"/>
          <p:cNvSpPr txBox="true"/>
          <p:nvPr/>
        </p:nvSpPr>
        <p:spPr>
          <a:xfrm rot="0">
            <a:off x="992991" y="12566904"/>
            <a:ext cx="16315868" cy="231153"/>
          </a:xfrm>
          <a:prstGeom prst="rect">
            <a:avLst/>
          </a:prstGeom>
        </p:spPr>
        <p:txBody>
          <a:bodyPr anchor="t" rtlCol="false" tIns="0" lIns="0" bIns="0" rIns="0">
            <a:spAutoFit/>
          </a:bodyPr>
          <a:lstStyle/>
          <a:p>
            <a:pPr algn="l">
              <a:lnSpc>
                <a:spcPts val="1686"/>
              </a:lnSpc>
            </a:pPr>
            <a:r>
              <a:rPr lang="en-US" sz="1351">
                <a:solidFill>
                  <a:srgbClr val="152D47"/>
                </a:solidFill>
                <a:latin typeface="Crimson Pro"/>
                <a:ea typeface="Crimson Pro"/>
                <a:cs typeface="Crimson Pro"/>
                <a:sym typeface="Crimson Pro"/>
              </a:rPr>
              <a:t>Conclusion</a:t>
            </a:r>
          </a:p>
        </p:txBody>
      </p:sp>
      <p:sp>
        <p:nvSpPr>
          <p:cNvPr name="TextBox 29" id="29"/>
          <p:cNvSpPr txBox="true"/>
          <p:nvPr/>
        </p:nvSpPr>
        <p:spPr>
          <a:xfrm rot="0">
            <a:off x="992991" y="12913928"/>
            <a:ext cx="1723095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The simulation confirms that the transistor-based latching circuit successfully implements SET–RESET memory functionality while maintaining safe PMOS gate protection across the entire 5–100 V supply range.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0F0F1"/>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6" id="6"/>
          <p:cNvGrpSpPr/>
          <p:nvPr/>
        </p:nvGrpSpPr>
        <p:grpSpPr>
          <a:xfrm rot="0">
            <a:off x="16628307" y="9846183"/>
            <a:ext cx="1609020" cy="384353"/>
            <a:chOff x="0" y="0"/>
            <a:chExt cx="2145360" cy="512470"/>
          </a:xfrm>
        </p:grpSpPr>
        <p:sp>
          <p:nvSpPr>
            <p:cNvPr name="Freeform 7" id="7" descr="preencoded.png">
              <a:hlinkClick r:id="rId3" tooltip="https://gamma.app/?utm_source=made-with-gamma"/>
            </p:cNvPr>
            <p:cNvSpPr/>
            <p:nvPr/>
          </p:nvSpPr>
          <p:spPr>
            <a:xfrm flipH="false" flipV="false" rot="0">
              <a:off x="0" y="0"/>
              <a:ext cx="2145411" cy="512445"/>
            </a:xfrm>
            <a:custGeom>
              <a:avLst/>
              <a:gdLst/>
              <a:ahLst/>
              <a:cxnLst/>
              <a:rect r="r" b="b" t="t" l="l"/>
              <a:pathLst>
                <a:path h="512445" w="2145411">
                  <a:moveTo>
                    <a:pt x="0" y="0"/>
                  </a:moveTo>
                  <a:lnTo>
                    <a:pt x="2145411" y="0"/>
                  </a:lnTo>
                  <a:lnTo>
                    <a:pt x="2145411" y="512445"/>
                  </a:lnTo>
                  <a:lnTo>
                    <a:pt x="0" y="512445"/>
                  </a:lnTo>
                  <a:lnTo>
                    <a:pt x="0" y="0"/>
                  </a:lnTo>
                  <a:close/>
                </a:path>
              </a:pathLst>
            </a:custGeom>
            <a:blipFill>
              <a:blip r:embed="rId4"/>
              <a:stretch>
                <a:fillRect l="0" t="0" r="2" b="-4"/>
              </a:stretch>
            </a:blipFill>
          </p:spPr>
        </p:sp>
      </p:grpSp>
      <p:sp>
        <p:nvSpPr>
          <p:cNvPr name="TextBox 8" id="8"/>
          <p:cNvSpPr txBox="true"/>
          <p:nvPr/>
        </p:nvSpPr>
        <p:spPr>
          <a:xfrm rot="0">
            <a:off x="992991" y="792699"/>
            <a:ext cx="16315868" cy="476307"/>
          </a:xfrm>
          <a:prstGeom prst="rect">
            <a:avLst/>
          </a:prstGeom>
        </p:spPr>
        <p:txBody>
          <a:bodyPr anchor="t" rtlCol="false" tIns="0" lIns="0" bIns="0" rIns="0">
            <a:spAutoFit/>
          </a:bodyPr>
          <a:lstStyle/>
          <a:p>
            <a:pPr algn="l">
              <a:lnSpc>
                <a:spcPts val="3559"/>
              </a:lnSpc>
            </a:pPr>
            <a:r>
              <a:rPr lang="en-US" sz="2852">
                <a:solidFill>
                  <a:srgbClr val="152D47"/>
                </a:solidFill>
                <a:latin typeface="Crimson Pro"/>
                <a:ea typeface="Crimson Pro"/>
                <a:cs typeface="Crimson Pro"/>
                <a:sym typeface="Crimson Pro"/>
              </a:rPr>
              <a:t>Design Verification, Advantages and Applications</a:t>
            </a:r>
          </a:p>
        </p:txBody>
      </p:sp>
      <p:sp>
        <p:nvSpPr>
          <p:cNvPr name="TextBox 9" id="9"/>
          <p:cNvSpPr txBox="true"/>
          <p:nvPr/>
        </p:nvSpPr>
        <p:spPr>
          <a:xfrm rot="0">
            <a:off x="992991" y="1428845"/>
            <a:ext cx="7979502" cy="394383"/>
          </a:xfrm>
          <a:prstGeom prst="rect">
            <a:avLst/>
          </a:prstGeom>
        </p:spPr>
        <p:txBody>
          <a:bodyPr anchor="t" rtlCol="false" tIns="0" lIns="0" bIns="0" rIns="0">
            <a:spAutoFit/>
          </a:bodyPr>
          <a:lstStyle/>
          <a:p>
            <a:pPr algn="l">
              <a:lnSpc>
                <a:spcPts val="2810"/>
              </a:lnSpc>
            </a:pPr>
            <a:r>
              <a:rPr lang="en-US" sz="2251">
                <a:solidFill>
                  <a:srgbClr val="152D47"/>
                </a:solidFill>
                <a:latin typeface="Crimson Pro"/>
                <a:ea typeface="Crimson Pro"/>
                <a:cs typeface="Crimson Pro"/>
                <a:sym typeface="Crimson Pro"/>
              </a:rPr>
              <a:t>Design Verification at VS = 100 V</a:t>
            </a:r>
          </a:p>
        </p:txBody>
      </p:sp>
      <p:sp>
        <p:nvSpPr>
          <p:cNvPr name="TextBox 10" id="10"/>
          <p:cNvSpPr txBox="true"/>
          <p:nvPr/>
        </p:nvSpPr>
        <p:spPr>
          <a:xfrm rot="0">
            <a:off x="992991" y="1889074"/>
            <a:ext cx="7979502" cy="1656855"/>
          </a:xfrm>
          <a:prstGeom prst="rect">
            <a:avLst/>
          </a:prstGeom>
        </p:spPr>
        <p:txBody>
          <a:bodyPr anchor="t" rtlCol="false" tIns="0" lIns="0" bIns="0" rIns="0">
            <a:spAutoFit/>
          </a:bodyPr>
          <a:lstStyle/>
          <a:p>
            <a:pPr algn="l">
              <a:lnSpc>
                <a:spcPts val="1364"/>
              </a:lnSpc>
            </a:pPr>
            <a:r>
              <a:rPr lang="en-US" sz="1125">
                <a:solidFill>
                  <a:srgbClr val="4C4C4D"/>
                </a:solidFill>
                <a:latin typeface="Heebo"/>
                <a:ea typeface="Heebo"/>
                <a:cs typeface="Heebo"/>
                <a:sym typeface="Heebo"/>
              </a:rPr>
              <a:t>IC1 = IC2 = 1.25 mA</a:t>
            </a:r>
          </a:p>
          <a:p>
            <a:pPr algn="l">
              <a:lnSpc>
                <a:spcPts val="1364"/>
              </a:lnSpc>
            </a:pPr>
            <a:r>
              <a:rPr lang="en-US" sz="1125">
                <a:solidFill>
                  <a:srgbClr val="4C4C4D"/>
                </a:solidFill>
                <a:latin typeface="Heebo"/>
                <a:ea typeface="Heebo"/>
                <a:cs typeface="Heebo"/>
                <a:sym typeface="Heebo"/>
              </a:rPr>
              <a:t>IB1 = 26 μA</a:t>
            </a:r>
          </a:p>
          <a:p>
            <a:pPr algn="l">
              <a:lnSpc>
                <a:spcPts val="1364"/>
              </a:lnSpc>
            </a:pPr>
            <a:r>
              <a:rPr lang="en-US" sz="1125">
                <a:solidFill>
                  <a:srgbClr val="4C4C4D"/>
                </a:solidFill>
                <a:latin typeface="Heebo"/>
                <a:ea typeface="Heebo"/>
                <a:cs typeface="Heebo"/>
                <a:sym typeface="Heebo"/>
              </a:rPr>
              <a:t>β·IB1 = 2.6 mA (greater than 1.25 mA) </a:t>
            </a:r>
            <a:r>
              <a:rPr lang="en-US" sz="1125">
                <a:solidFill>
                  <a:srgbClr val="000000"/>
                </a:solidFill>
                <a:latin typeface="Heebo"/>
                <a:ea typeface="Heebo"/>
                <a:cs typeface="Heebo"/>
                <a:sym typeface="Heebo"/>
              </a:rPr>
              <a:t>✔</a:t>
            </a:r>
            <a:r>
              <a:rPr lang="en-US" sz="1125">
                <a:solidFill>
                  <a:srgbClr val="4C4C4D"/>
                </a:solidFill>
                <a:latin typeface="Heebo"/>
                <a:ea typeface="Heebo"/>
                <a:cs typeface="Heebo"/>
                <a:sym typeface="Heebo"/>
              </a:rPr>
              <a:t> Q1 Saturates</a:t>
            </a:r>
          </a:p>
          <a:p>
            <a:pPr algn="l">
              <a:lnSpc>
                <a:spcPts val="1364"/>
              </a:lnSpc>
            </a:pPr>
            <a:r>
              <a:rPr lang="en-US" sz="1125">
                <a:solidFill>
                  <a:srgbClr val="4C4C4D"/>
                </a:solidFill>
                <a:latin typeface="Heebo"/>
                <a:ea typeface="Heebo"/>
                <a:cs typeface="Heebo"/>
                <a:sym typeface="Heebo"/>
              </a:rPr>
              <a:t>IB2 = 0.993 mA</a:t>
            </a:r>
          </a:p>
          <a:p>
            <a:pPr algn="l">
              <a:lnSpc>
                <a:spcPts val="1364"/>
              </a:lnSpc>
            </a:pPr>
            <a:r>
              <a:rPr lang="en-US" sz="1125">
                <a:solidFill>
                  <a:srgbClr val="4C4C4D"/>
                </a:solidFill>
                <a:latin typeface="Heebo"/>
                <a:ea typeface="Heebo"/>
                <a:cs typeface="Heebo"/>
                <a:sym typeface="Heebo"/>
              </a:rPr>
              <a:t>β·IB2 = 99.3 mA (greater than 1.25 mA) </a:t>
            </a:r>
            <a:r>
              <a:rPr lang="en-US" sz="1125">
                <a:solidFill>
                  <a:srgbClr val="000000"/>
                </a:solidFill>
                <a:latin typeface="Heebo"/>
                <a:ea typeface="Heebo"/>
                <a:cs typeface="Heebo"/>
                <a:sym typeface="Heebo"/>
              </a:rPr>
              <a:t>✔</a:t>
            </a:r>
            <a:r>
              <a:rPr lang="en-US" sz="1125">
                <a:solidFill>
                  <a:srgbClr val="4C4C4D"/>
                </a:solidFill>
                <a:latin typeface="Heebo"/>
                <a:ea typeface="Heebo"/>
                <a:cs typeface="Heebo"/>
                <a:sym typeface="Heebo"/>
              </a:rPr>
              <a:t> Q2 Latches</a:t>
            </a:r>
          </a:p>
          <a:p>
            <a:pPr algn="l">
              <a:lnSpc>
                <a:spcPts val="1364"/>
              </a:lnSpc>
            </a:pPr>
            <a:r>
              <a:rPr lang="en-US" sz="1125">
                <a:solidFill>
                  <a:srgbClr val="4C4C4D"/>
                </a:solidFill>
                <a:latin typeface="Heebo"/>
                <a:ea typeface="Heebo"/>
                <a:cs typeface="Heebo"/>
                <a:sym typeface="Heebo"/>
              </a:rPr>
              <a:t>IC3 = 0.998 mA</a:t>
            </a:r>
          </a:p>
          <a:p>
            <a:pPr algn="l">
              <a:lnSpc>
                <a:spcPts val="1364"/>
              </a:lnSpc>
            </a:pPr>
            <a:r>
              <a:rPr lang="en-US" sz="1125">
                <a:solidFill>
                  <a:srgbClr val="4C4C4D"/>
                </a:solidFill>
                <a:latin typeface="Heebo"/>
                <a:ea typeface="Heebo"/>
                <a:cs typeface="Heebo"/>
                <a:sym typeface="Heebo"/>
              </a:rPr>
              <a:t>β·IB3 = 2.6 mA (greater than 0.998 mA) </a:t>
            </a:r>
            <a:r>
              <a:rPr lang="en-US" sz="1125">
                <a:solidFill>
                  <a:srgbClr val="000000"/>
                </a:solidFill>
                <a:latin typeface="Heebo"/>
                <a:ea typeface="Heebo"/>
                <a:cs typeface="Heebo"/>
                <a:sym typeface="Heebo"/>
              </a:rPr>
              <a:t>✔</a:t>
            </a:r>
            <a:r>
              <a:rPr lang="en-US" sz="1125">
                <a:solidFill>
                  <a:srgbClr val="4C4C4D"/>
                </a:solidFill>
                <a:latin typeface="Heebo"/>
                <a:ea typeface="Heebo"/>
                <a:cs typeface="Heebo"/>
                <a:sym typeface="Heebo"/>
              </a:rPr>
              <a:t> Q3 Resets</a:t>
            </a:r>
          </a:p>
        </p:txBody>
      </p:sp>
      <p:sp>
        <p:nvSpPr>
          <p:cNvPr name="TextBox 11" id="11"/>
          <p:cNvSpPr txBox="true"/>
          <p:nvPr/>
        </p:nvSpPr>
        <p:spPr>
          <a:xfrm rot="0">
            <a:off x="9338882" y="1428845"/>
            <a:ext cx="7979502" cy="394383"/>
          </a:xfrm>
          <a:prstGeom prst="rect">
            <a:avLst/>
          </a:prstGeom>
        </p:spPr>
        <p:txBody>
          <a:bodyPr anchor="t" rtlCol="false" tIns="0" lIns="0" bIns="0" rIns="0">
            <a:spAutoFit/>
          </a:bodyPr>
          <a:lstStyle/>
          <a:p>
            <a:pPr algn="l">
              <a:lnSpc>
                <a:spcPts val="2810"/>
              </a:lnSpc>
            </a:pPr>
            <a:r>
              <a:rPr lang="en-US" sz="2251">
                <a:solidFill>
                  <a:srgbClr val="152D47"/>
                </a:solidFill>
                <a:latin typeface="Crimson Pro"/>
                <a:ea typeface="Crimson Pro"/>
                <a:cs typeface="Crimson Pro"/>
                <a:sym typeface="Crimson Pro"/>
              </a:rPr>
              <a:t>Design Verification at VS = 5 V</a:t>
            </a:r>
          </a:p>
        </p:txBody>
      </p:sp>
      <p:sp>
        <p:nvSpPr>
          <p:cNvPr name="TextBox 12" id="12"/>
          <p:cNvSpPr txBox="true"/>
          <p:nvPr/>
        </p:nvSpPr>
        <p:spPr>
          <a:xfrm rot="0">
            <a:off x="9338882" y="1889074"/>
            <a:ext cx="7979502" cy="1411834"/>
          </a:xfrm>
          <a:prstGeom prst="rect">
            <a:avLst/>
          </a:prstGeom>
        </p:spPr>
        <p:txBody>
          <a:bodyPr anchor="t" rtlCol="false" tIns="0" lIns="0" bIns="0" rIns="0">
            <a:spAutoFit/>
          </a:bodyPr>
          <a:lstStyle/>
          <a:p>
            <a:pPr algn="l">
              <a:lnSpc>
                <a:spcPts val="1364"/>
              </a:lnSpc>
            </a:pPr>
            <a:r>
              <a:rPr lang="en-US" sz="1125">
                <a:solidFill>
                  <a:srgbClr val="4C4C4D"/>
                </a:solidFill>
                <a:latin typeface="Heebo"/>
                <a:ea typeface="Heebo"/>
                <a:cs typeface="Heebo"/>
                <a:sym typeface="Heebo"/>
              </a:rPr>
              <a:t>IC1 = IC2 = 8.4 μA</a:t>
            </a:r>
          </a:p>
          <a:p>
            <a:pPr algn="l">
              <a:lnSpc>
                <a:spcPts val="1364"/>
              </a:lnSpc>
            </a:pPr>
            <a:r>
              <a:rPr lang="en-US" sz="1125">
                <a:solidFill>
                  <a:srgbClr val="4C4C4D"/>
                </a:solidFill>
                <a:latin typeface="Heebo"/>
                <a:ea typeface="Heebo"/>
                <a:cs typeface="Heebo"/>
                <a:sym typeface="Heebo"/>
              </a:rPr>
              <a:t>β·IB1 = 2.6 mA (greater than 8.4 μA) </a:t>
            </a:r>
            <a:r>
              <a:rPr lang="en-US" sz="1125">
                <a:solidFill>
                  <a:srgbClr val="000000"/>
                </a:solidFill>
                <a:latin typeface="Heebo"/>
                <a:ea typeface="Heebo"/>
                <a:cs typeface="Heebo"/>
                <a:sym typeface="Heebo"/>
              </a:rPr>
              <a:t>✔</a:t>
            </a:r>
          </a:p>
          <a:p>
            <a:pPr algn="l">
              <a:lnSpc>
                <a:spcPts val="1364"/>
              </a:lnSpc>
            </a:pPr>
            <a:r>
              <a:rPr lang="en-US" sz="1125">
                <a:solidFill>
                  <a:srgbClr val="4C4C4D"/>
                </a:solidFill>
                <a:latin typeface="Heebo"/>
                <a:ea typeface="Heebo"/>
                <a:cs typeface="Heebo"/>
                <a:sym typeface="Heebo"/>
              </a:rPr>
              <a:t>IB2 = 43 μA</a:t>
            </a:r>
          </a:p>
          <a:p>
            <a:pPr algn="l">
              <a:lnSpc>
                <a:spcPts val="1364"/>
              </a:lnSpc>
            </a:pPr>
            <a:r>
              <a:rPr lang="en-US" sz="1125">
                <a:solidFill>
                  <a:srgbClr val="4C4C4D"/>
                </a:solidFill>
                <a:latin typeface="Heebo"/>
                <a:ea typeface="Heebo"/>
                <a:cs typeface="Heebo"/>
                <a:sym typeface="Heebo"/>
              </a:rPr>
              <a:t>β·IB2 = 4.3 mA (greater than 8.4 μA) </a:t>
            </a:r>
            <a:r>
              <a:rPr lang="en-US" sz="1125">
                <a:solidFill>
                  <a:srgbClr val="000000"/>
                </a:solidFill>
                <a:latin typeface="Heebo"/>
                <a:ea typeface="Heebo"/>
                <a:cs typeface="Heebo"/>
                <a:sym typeface="Heebo"/>
              </a:rPr>
              <a:t>✔</a:t>
            </a:r>
          </a:p>
          <a:p>
            <a:pPr algn="l">
              <a:lnSpc>
                <a:spcPts val="1364"/>
              </a:lnSpc>
            </a:pPr>
            <a:r>
              <a:rPr lang="en-US" sz="1125">
                <a:solidFill>
                  <a:srgbClr val="4C4C4D"/>
                </a:solidFill>
                <a:latin typeface="Heebo"/>
                <a:ea typeface="Heebo"/>
                <a:cs typeface="Heebo"/>
                <a:sym typeface="Heebo"/>
              </a:rPr>
              <a:t>IC3 = 48 μA</a:t>
            </a:r>
          </a:p>
          <a:p>
            <a:pPr algn="l">
              <a:lnSpc>
                <a:spcPts val="1364"/>
              </a:lnSpc>
            </a:pPr>
            <a:r>
              <a:rPr lang="en-US" sz="1125">
                <a:solidFill>
                  <a:srgbClr val="4C4C4D"/>
                </a:solidFill>
                <a:latin typeface="Heebo"/>
                <a:ea typeface="Heebo"/>
                <a:cs typeface="Heebo"/>
                <a:sym typeface="Heebo"/>
              </a:rPr>
              <a:t>β·IB3 = 2.6 mA (greater than 48 μA) </a:t>
            </a:r>
            <a:r>
              <a:rPr lang="en-US" sz="1125">
                <a:solidFill>
                  <a:srgbClr val="000000"/>
                </a:solidFill>
                <a:latin typeface="Heebo"/>
                <a:ea typeface="Heebo"/>
                <a:cs typeface="Heebo"/>
                <a:sym typeface="Heebo"/>
              </a:rPr>
              <a:t>✔</a:t>
            </a:r>
          </a:p>
        </p:txBody>
      </p:sp>
      <p:sp>
        <p:nvSpPr>
          <p:cNvPr name="TextBox 13" id="13"/>
          <p:cNvSpPr txBox="true"/>
          <p:nvPr/>
        </p:nvSpPr>
        <p:spPr>
          <a:xfrm rot="0">
            <a:off x="992991" y="3688918"/>
            <a:ext cx="17230954" cy="186766"/>
          </a:xfrm>
          <a:prstGeom prst="rect">
            <a:avLst/>
          </a:prstGeom>
        </p:spPr>
        <p:txBody>
          <a:bodyPr anchor="t" rtlCol="false" tIns="0" lIns="0" bIns="0" rIns="0">
            <a:spAutoFit/>
          </a:bodyPr>
          <a:lstStyle/>
          <a:p>
            <a:pPr algn="l">
              <a:lnSpc>
                <a:spcPts val="1364"/>
              </a:lnSpc>
            </a:pPr>
            <a:r>
              <a:rPr lang="en-US" sz="1125">
                <a:solidFill>
                  <a:srgbClr val="4C4C4D"/>
                </a:solidFill>
                <a:latin typeface="Heebo"/>
                <a:ea typeface="Heebo"/>
                <a:cs typeface="Heebo"/>
                <a:sym typeface="Heebo"/>
              </a:rPr>
              <a:t>All transistors achieve reliable saturation across the entire supply range, confirming design validity.</a:t>
            </a:r>
          </a:p>
        </p:txBody>
      </p:sp>
      <p:sp>
        <p:nvSpPr>
          <p:cNvPr name="TextBox 14" id="14"/>
          <p:cNvSpPr txBox="true"/>
          <p:nvPr/>
        </p:nvSpPr>
        <p:spPr>
          <a:xfrm rot="0">
            <a:off x="992991" y="3960162"/>
            <a:ext cx="16315868" cy="394383"/>
          </a:xfrm>
          <a:prstGeom prst="rect">
            <a:avLst/>
          </a:prstGeom>
        </p:spPr>
        <p:txBody>
          <a:bodyPr anchor="t" rtlCol="false" tIns="0" lIns="0" bIns="0" rIns="0">
            <a:spAutoFit/>
          </a:bodyPr>
          <a:lstStyle/>
          <a:p>
            <a:pPr algn="l">
              <a:lnSpc>
                <a:spcPts val="2810"/>
              </a:lnSpc>
            </a:pPr>
            <a:r>
              <a:rPr lang="en-US" sz="2251">
                <a:solidFill>
                  <a:srgbClr val="152D47"/>
                </a:solidFill>
                <a:latin typeface="Crimson Pro"/>
                <a:ea typeface="Crimson Pro"/>
                <a:cs typeface="Crimson Pro"/>
                <a:sym typeface="Crimson Pro"/>
              </a:rPr>
              <a:t>Final Component Values</a:t>
            </a:r>
          </a:p>
        </p:txBody>
      </p:sp>
      <p:grpSp>
        <p:nvGrpSpPr>
          <p:cNvPr name="Group 15" id="15"/>
          <p:cNvGrpSpPr/>
          <p:nvPr/>
        </p:nvGrpSpPr>
        <p:grpSpPr>
          <a:xfrm rot="0">
            <a:off x="988219" y="4462824"/>
            <a:ext cx="16325393" cy="2387879"/>
            <a:chOff x="0" y="0"/>
            <a:chExt cx="21767190" cy="3183839"/>
          </a:xfrm>
        </p:grpSpPr>
        <p:sp>
          <p:nvSpPr>
            <p:cNvPr name="Freeform 16" id="16"/>
            <p:cNvSpPr/>
            <p:nvPr/>
          </p:nvSpPr>
          <p:spPr>
            <a:xfrm flipH="false" flipV="false" rot="0">
              <a:off x="0" y="0"/>
              <a:ext cx="21767166" cy="3183763"/>
            </a:xfrm>
            <a:custGeom>
              <a:avLst/>
              <a:gdLst/>
              <a:ahLst/>
              <a:cxnLst/>
              <a:rect r="r" b="b" t="t" l="l"/>
              <a:pathLst>
                <a:path h="3183763" w="21767166">
                  <a:moveTo>
                    <a:pt x="0" y="29337"/>
                  </a:moveTo>
                  <a:cubicBezTo>
                    <a:pt x="0" y="13208"/>
                    <a:pt x="13208" y="0"/>
                    <a:pt x="29337" y="0"/>
                  </a:cubicBezTo>
                  <a:lnTo>
                    <a:pt x="21737828" y="0"/>
                  </a:lnTo>
                  <a:cubicBezTo>
                    <a:pt x="21754085" y="0"/>
                    <a:pt x="21767166" y="13208"/>
                    <a:pt x="21767166" y="29337"/>
                  </a:cubicBezTo>
                  <a:lnTo>
                    <a:pt x="21767166" y="3154426"/>
                  </a:lnTo>
                  <a:cubicBezTo>
                    <a:pt x="21767166" y="3170682"/>
                    <a:pt x="21753957" y="3183763"/>
                    <a:pt x="21737828" y="3183763"/>
                  </a:cubicBezTo>
                  <a:lnTo>
                    <a:pt x="29337" y="3183763"/>
                  </a:lnTo>
                  <a:cubicBezTo>
                    <a:pt x="13081" y="3183763"/>
                    <a:pt x="0" y="3170555"/>
                    <a:pt x="0" y="3154426"/>
                  </a:cubicBezTo>
                  <a:close/>
                </a:path>
              </a:pathLst>
            </a:custGeom>
            <a:blipFill>
              <a:blip r:embed="rId5">
                <a:alphaModFix amt="0"/>
              </a:blip>
              <a:stretch>
                <a:fillRect l="0" t="-83216" r="0" b="-83219"/>
              </a:stretch>
            </a:blipFill>
            <a:ln w="9532" cap="sq">
              <a:solidFill>
                <a:srgbClr val="000000"/>
              </a:solidFill>
              <a:prstDash val="solid"/>
              <a:miter/>
            </a:ln>
          </p:spPr>
        </p:sp>
      </p:grpSp>
      <p:grpSp>
        <p:nvGrpSpPr>
          <p:cNvPr name="Group 17" id="17"/>
          <p:cNvGrpSpPr/>
          <p:nvPr/>
        </p:nvGrpSpPr>
        <p:grpSpPr>
          <a:xfrm rot="0">
            <a:off x="992991" y="4768453"/>
            <a:ext cx="16315868" cy="9535"/>
            <a:chOff x="0" y="0"/>
            <a:chExt cx="21754490" cy="12713"/>
          </a:xfrm>
        </p:grpSpPr>
        <p:sp>
          <p:nvSpPr>
            <p:cNvPr name="Freeform 18" id="18"/>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19" id="19"/>
          <p:cNvGrpSpPr/>
          <p:nvPr/>
        </p:nvGrpSpPr>
        <p:grpSpPr>
          <a:xfrm rot="0">
            <a:off x="992991" y="5064557"/>
            <a:ext cx="16315868" cy="9535"/>
            <a:chOff x="0" y="0"/>
            <a:chExt cx="21754490" cy="12713"/>
          </a:xfrm>
        </p:grpSpPr>
        <p:sp>
          <p:nvSpPr>
            <p:cNvPr name="Freeform 20" id="20"/>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21" id="21"/>
          <p:cNvGrpSpPr/>
          <p:nvPr/>
        </p:nvGrpSpPr>
        <p:grpSpPr>
          <a:xfrm rot="0">
            <a:off x="992991" y="5360660"/>
            <a:ext cx="16315868" cy="9535"/>
            <a:chOff x="0" y="0"/>
            <a:chExt cx="21754490" cy="12713"/>
          </a:xfrm>
        </p:grpSpPr>
        <p:sp>
          <p:nvSpPr>
            <p:cNvPr name="Freeform 22" id="22"/>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23" id="23"/>
          <p:cNvGrpSpPr/>
          <p:nvPr/>
        </p:nvGrpSpPr>
        <p:grpSpPr>
          <a:xfrm rot="0">
            <a:off x="992991" y="5656764"/>
            <a:ext cx="16315868" cy="9535"/>
            <a:chOff x="0" y="0"/>
            <a:chExt cx="21754490" cy="12713"/>
          </a:xfrm>
        </p:grpSpPr>
        <p:sp>
          <p:nvSpPr>
            <p:cNvPr name="Freeform 24" id="24"/>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25" id="25"/>
          <p:cNvGrpSpPr/>
          <p:nvPr/>
        </p:nvGrpSpPr>
        <p:grpSpPr>
          <a:xfrm rot="0">
            <a:off x="992991" y="5952868"/>
            <a:ext cx="16315868" cy="9535"/>
            <a:chOff x="0" y="0"/>
            <a:chExt cx="21754490" cy="12713"/>
          </a:xfrm>
        </p:grpSpPr>
        <p:sp>
          <p:nvSpPr>
            <p:cNvPr name="Freeform 26" id="26"/>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27" id="27"/>
          <p:cNvGrpSpPr/>
          <p:nvPr/>
        </p:nvGrpSpPr>
        <p:grpSpPr>
          <a:xfrm rot="0">
            <a:off x="992991" y="6248962"/>
            <a:ext cx="16315868" cy="9535"/>
            <a:chOff x="0" y="0"/>
            <a:chExt cx="21754490" cy="12713"/>
          </a:xfrm>
        </p:grpSpPr>
        <p:sp>
          <p:nvSpPr>
            <p:cNvPr name="Freeform 28" id="28"/>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29" id="29"/>
          <p:cNvGrpSpPr/>
          <p:nvPr/>
        </p:nvGrpSpPr>
        <p:grpSpPr>
          <a:xfrm rot="0">
            <a:off x="992991" y="6545066"/>
            <a:ext cx="16315868" cy="9535"/>
            <a:chOff x="0" y="0"/>
            <a:chExt cx="21754490" cy="12713"/>
          </a:xfrm>
        </p:grpSpPr>
        <p:sp>
          <p:nvSpPr>
            <p:cNvPr name="Freeform 30" id="30"/>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sp>
        <p:nvSpPr>
          <p:cNvPr name="TextBox 31" id="31"/>
          <p:cNvSpPr txBox="true"/>
          <p:nvPr/>
        </p:nvSpPr>
        <p:spPr>
          <a:xfrm rot="0">
            <a:off x="1148782" y="4522260"/>
            <a:ext cx="8770972" cy="186766"/>
          </a:xfrm>
          <a:prstGeom prst="rect">
            <a:avLst/>
          </a:prstGeom>
        </p:spPr>
        <p:txBody>
          <a:bodyPr anchor="t" rtlCol="false" tIns="0" lIns="0" bIns="0" rIns="0">
            <a:spAutoFit/>
          </a:bodyPr>
          <a:lstStyle/>
          <a:p>
            <a:pPr algn="l">
              <a:lnSpc>
                <a:spcPts val="1364"/>
              </a:lnSpc>
            </a:pPr>
            <a:r>
              <a:rPr lang="en-US" sz="1125">
                <a:solidFill>
                  <a:srgbClr val="4C4C4D"/>
                </a:solidFill>
                <a:latin typeface="Heebo"/>
                <a:ea typeface="Heebo"/>
                <a:cs typeface="Heebo"/>
                <a:sym typeface="Heebo"/>
              </a:rPr>
              <a:t>Component</a:t>
            </a:r>
          </a:p>
        </p:txBody>
      </p:sp>
      <p:sp>
        <p:nvSpPr>
          <p:cNvPr name="TextBox 32" id="32"/>
          <p:cNvSpPr txBox="true"/>
          <p:nvPr/>
        </p:nvSpPr>
        <p:spPr>
          <a:xfrm rot="0">
            <a:off x="9297181" y="4522260"/>
            <a:ext cx="8770972" cy="186766"/>
          </a:xfrm>
          <a:prstGeom prst="rect">
            <a:avLst/>
          </a:prstGeom>
        </p:spPr>
        <p:txBody>
          <a:bodyPr anchor="t" rtlCol="false" tIns="0" lIns="0" bIns="0" rIns="0">
            <a:spAutoFit/>
          </a:bodyPr>
          <a:lstStyle/>
          <a:p>
            <a:pPr algn="l">
              <a:lnSpc>
                <a:spcPts val="1364"/>
              </a:lnSpc>
            </a:pPr>
            <a:r>
              <a:rPr lang="en-US" sz="1125">
                <a:solidFill>
                  <a:srgbClr val="4C4C4D"/>
                </a:solidFill>
                <a:latin typeface="Heebo"/>
                <a:ea typeface="Heebo"/>
                <a:cs typeface="Heebo"/>
                <a:sym typeface="Heebo"/>
              </a:rPr>
              <a:t>Selected Value</a:t>
            </a:r>
          </a:p>
        </p:txBody>
      </p:sp>
      <p:sp>
        <p:nvSpPr>
          <p:cNvPr name="TextBox 33" id="33"/>
          <p:cNvSpPr txBox="true"/>
          <p:nvPr/>
        </p:nvSpPr>
        <p:spPr>
          <a:xfrm rot="0">
            <a:off x="1148782" y="4818364"/>
            <a:ext cx="8770972" cy="186766"/>
          </a:xfrm>
          <a:prstGeom prst="rect">
            <a:avLst/>
          </a:prstGeom>
        </p:spPr>
        <p:txBody>
          <a:bodyPr anchor="t" rtlCol="false" tIns="0" lIns="0" bIns="0" rIns="0">
            <a:spAutoFit/>
          </a:bodyPr>
          <a:lstStyle/>
          <a:p>
            <a:pPr algn="l">
              <a:lnSpc>
                <a:spcPts val="1364"/>
              </a:lnSpc>
            </a:pPr>
            <a:r>
              <a:rPr lang="en-US" sz="1125">
                <a:solidFill>
                  <a:srgbClr val="4C4C4D"/>
                </a:solidFill>
                <a:latin typeface="Heebo"/>
                <a:ea typeface="Heebo"/>
                <a:cs typeface="Heebo"/>
                <a:sym typeface="Heebo"/>
              </a:rPr>
              <a:t>R1</a:t>
            </a:r>
          </a:p>
        </p:txBody>
      </p:sp>
      <p:sp>
        <p:nvSpPr>
          <p:cNvPr name="TextBox 34" id="34"/>
          <p:cNvSpPr txBox="true"/>
          <p:nvPr/>
        </p:nvSpPr>
        <p:spPr>
          <a:xfrm rot="0">
            <a:off x="9297181" y="4818364"/>
            <a:ext cx="8770972" cy="186766"/>
          </a:xfrm>
          <a:prstGeom prst="rect">
            <a:avLst/>
          </a:prstGeom>
        </p:spPr>
        <p:txBody>
          <a:bodyPr anchor="t" rtlCol="false" tIns="0" lIns="0" bIns="0" rIns="0">
            <a:spAutoFit/>
          </a:bodyPr>
          <a:lstStyle/>
          <a:p>
            <a:pPr algn="l">
              <a:lnSpc>
                <a:spcPts val="1364"/>
              </a:lnSpc>
            </a:pPr>
            <a:r>
              <a:rPr lang="en-US" sz="1125">
                <a:solidFill>
                  <a:srgbClr val="4C4C4D"/>
                </a:solidFill>
                <a:latin typeface="Heebo"/>
                <a:ea typeface="Heebo"/>
                <a:cs typeface="Heebo"/>
                <a:sym typeface="Heebo"/>
              </a:rPr>
              <a:t>500 kΩ</a:t>
            </a:r>
          </a:p>
        </p:txBody>
      </p:sp>
      <p:sp>
        <p:nvSpPr>
          <p:cNvPr name="TextBox 35" id="35"/>
          <p:cNvSpPr txBox="true"/>
          <p:nvPr/>
        </p:nvSpPr>
        <p:spPr>
          <a:xfrm rot="0">
            <a:off x="1148782" y="5114458"/>
            <a:ext cx="8770972" cy="186766"/>
          </a:xfrm>
          <a:prstGeom prst="rect">
            <a:avLst/>
          </a:prstGeom>
        </p:spPr>
        <p:txBody>
          <a:bodyPr anchor="t" rtlCol="false" tIns="0" lIns="0" bIns="0" rIns="0">
            <a:spAutoFit/>
          </a:bodyPr>
          <a:lstStyle/>
          <a:p>
            <a:pPr algn="l">
              <a:lnSpc>
                <a:spcPts val="1364"/>
              </a:lnSpc>
            </a:pPr>
            <a:r>
              <a:rPr lang="en-US" sz="1125">
                <a:solidFill>
                  <a:srgbClr val="4C4C4D"/>
                </a:solidFill>
                <a:latin typeface="Heebo"/>
                <a:ea typeface="Heebo"/>
                <a:cs typeface="Heebo"/>
                <a:sym typeface="Heebo"/>
              </a:rPr>
              <a:t>R2</a:t>
            </a:r>
          </a:p>
        </p:txBody>
      </p:sp>
      <p:sp>
        <p:nvSpPr>
          <p:cNvPr name="TextBox 36" id="36"/>
          <p:cNvSpPr txBox="true"/>
          <p:nvPr/>
        </p:nvSpPr>
        <p:spPr>
          <a:xfrm rot="0">
            <a:off x="9297181" y="5114458"/>
            <a:ext cx="8770972" cy="186766"/>
          </a:xfrm>
          <a:prstGeom prst="rect">
            <a:avLst/>
          </a:prstGeom>
        </p:spPr>
        <p:txBody>
          <a:bodyPr anchor="t" rtlCol="false" tIns="0" lIns="0" bIns="0" rIns="0">
            <a:spAutoFit/>
          </a:bodyPr>
          <a:lstStyle/>
          <a:p>
            <a:pPr algn="l">
              <a:lnSpc>
                <a:spcPts val="1364"/>
              </a:lnSpc>
            </a:pPr>
            <a:r>
              <a:rPr lang="en-US" sz="1125">
                <a:solidFill>
                  <a:srgbClr val="4C4C4D"/>
                </a:solidFill>
                <a:latin typeface="Heebo"/>
                <a:ea typeface="Heebo"/>
                <a:cs typeface="Heebo"/>
                <a:sym typeface="Heebo"/>
              </a:rPr>
              <a:t>70 kΩ</a:t>
            </a:r>
          </a:p>
        </p:txBody>
      </p:sp>
      <p:sp>
        <p:nvSpPr>
          <p:cNvPr name="TextBox 37" id="37"/>
          <p:cNvSpPr txBox="true"/>
          <p:nvPr/>
        </p:nvSpPr>
        <p:spPr>
          <a:xfrm rot="0">
            <a:off x="1148782" y="5410562"/>
            <a:ext cx="8770972" cy="186766"/>
          </a:xfrm>
          <a:prstGeom prst="rect">
            <a:avLst/>
          </a:prstGeom>
        </p:spPr>
        <p:txBody>
          <a:bodyPr anchor="t" rtlCol="false" tIns="0" lIns="0" bIns="0" rIns="0">
            <a:spAutoFit/>
          </a:bodyPr>
          <a:lstStyle/>
          <a:p>
            <a:pPr algn="l">
              <a:lnSpc>
                <a:spcPts val="1364"/>
              </a:lnSpc>
            </a:pPr>
            <a:r>
              <a:rPr lang="en-US" sz="1125">
                <a:solidFill>
                  <a:srgbClr val="4C4C4D"/>
                </a:solidFill>
                <a:latin typeface="Heebo"/>
                <a:ea typeface="Heebo"/>
                <a:cs typeface="Heebo"/>
                <a:sym typeface="Heebo"/>
              </a:rPr>
              <a:t>RB1</a:t>
            </a:r>
          </a:p>
        </p:txBody>
      </p:sp>
      <p:sp>
        <p:nvSpPr>
          <p:cNvPr name="TextBox 38" id="38"/>
          <p:cNvSpPr txBox="true"/>
          <p:nvPr/>
        </p:nvSpPr>
        <p:spPr>
          <a:xfrm rot="0">
            <a:off x="9297181" y="5410562"/>
            <a:ext cx="8770972" cy="186766"/>
          </a:xfrm>
          <a:prstGeom prst="rect">
            <a:avLst/>
          </a:prstGeom>
        </p:spPr>
        <p:txBody>
          <a:bodyPr anchor="t" rtlCol="false" tIns="0" lIns="0" bIns="0" rIns="0">
            <a:spAutoFit/>
          </a:bodyPr>
          <a:lstStyle/>
          <a:p>
            <a:pPr algn="l">
              <a:lnSpc>
                <a:spcPts val="1364"/>
              </a:lnSpc>
            </a:pPr>
            <a:r>
              <a:rPr lang="en-US" sz="1125">
                <a:solidFill>
                  <a:srgbClr val="4C4C4D"/>
                </a:solidFill>
                <a:latin typeface="Heebo"/>
                <a:ea typeface="Heebo"/>
                <a:cs typeface="Heebo"/>
                <a:sym typeface="Heebo"/>
              </a:rPr>
              <a:t>100 kΩ</a:t>
            </a:r>
          </a:p>
        </p:txBody>
      </p:sp>
      <p:sp>
        <p:nvSpPr>
          <p:cNvPr name="TextBox 39" id="39"/>
          <p:cNvSpPr txBox="true"/>
          <p:nvPr/>
        </p:nvSpPr>
        <p:spPr>
          <a:xfrm rot="0">
            <a:off x="1148782" y="5706666"/>
            <a:ext cx="8770972" cy="186766"/>
          </a:xfrm>
          <a:prstGeom prst="rect">
            <a:avLst/>
          </a:prstGeom>
        </p:spPr>
        <p:txBody>
          <a:bodyPr anchor="t" rtlCol="false" tIns="0" lIns="0" bIns="0" rIns="0">
            <a:spAutoFit/>
          </a:bodyPr>
          <a:lstStyle/>
          <a:p>
            <a:pPr algn="l">
              <a:lnSpc>
                <a:spcPts val="1364"/>
              </a:lnSpc>
            </a:pPr>
            <a:r>
              <a:rPr lang="en-US" sz="1125">
                <a:solidFill>
                  <a:srgbClr val="4C4C4D"/>
                </a:solidFill>
                <a:latin typeface="Heebo"/>
                <a:ea typeface="Heebo"/>
                <a:cs typeface="Heebo"/>
                <a:sym typeface="Heebo"/>
              </a:rPr>
              <a:t>RB2</a:t>
            </a:r>
          </a:p>
        </p:txBody>
      </p:sp>
      <p:sp>
        <p:nvSpPr>
          <p:cNvPr name="TextBox 40" id="40"/>
          <p:cNvSpPr txBox="true"/>
          <p:nvPr/>
        </p:nvSpPr>
        <p:spPr>
          <a:xfrm rot="0">
            <a:off x="9297181" y="5706666"/>
            <a:ext cx="8770972" cy="186766"/>
          </a:xfrm>
          <a:prstGeom prst="rect">
            <a:avLst/>
          </a:prstGeom>
        </p:spPr>
        <p:txBody>
          <a:bodyPr anchor="t" rtlCol="false" tIns="0" lIns="0" bIns="0" rIns="0">
            <a:spAutoFit/>
          </a:bodyPr>
          <a:lstStyle/>
          <a:p>
            <a:pPr algn="l">
              <a:lnSpc>
                <a:spcPts val="1364"/>
              </a:lnSpc>
            </a:pPr>
            <a:r>
              <a:rPr lang="en-US" sz="1125">
                <a:solidFill>
                  <a:srgbClr val="4C4C4D"/>
                </a:solidFill>
                <a:latin typeface="Heebo"/>
                <a:ea typeface="Heebo"/>
                <a:cs typeface="Heebo"/>
                <a:sym typeface="Heebo"/>
              </a:rPr>
              <a:t>100 kΩ</a:t>
            </a:r>
          </a:p>
        </p:txBody>
      </p:sp>
      <p:sp>
        <p:nvSpPr>
          <p:cNvPr name="TextBox 41" id="41"/>
          <p:cNvSpPr txBox="true"/>
          <p:nvPr/>
        </p:nvSpPr>
        <p:spPr>
          <a:xfrm rot="0">
            <a:off x="1148782" y="6002769"/>
            <a:ext cx="8770972" cy="186766"/>
          </a:xfrm>
          <a:prstGeom prst="rect">
            <a:avLst/>
          </a:prstGeom>
        </p:spPr>
        <p:txBody>
          <a:bodyPr anchor="t" rtlCol="false" tIns="0" lIns="0" bIns="0" rIns="0">
            <a:spAutoFit/>
          </a:bodyPr>
          <a:lstStyle/>
          <a:p>
            <a:pPr algn="l">
              <a:lnSpc>
                <a:spcPts val="1364"/>
              </a:lnSpc>
            </a:pPr>
            <a:r>
              <a:rPr lang="en-US" sz="1125">
                <a:solidFill>
                  <a:srgbClr val="4C4C4D"/>
                </a:solidFill>
                <a:latin typeface="Heebo"/>
                <a:ea typeface="Heebo"/>
                <a:cs typeface="Heebo"/>
                <a:sym typeface="Heebo"/>
              </a:rPr>
              <a:t>RB3</a:t>
            </a:r>
          </a:p>
        </p:txBody>
      </p:sp>
      <p:sp>
        <p:nvSpPr>
          <p:cNvPr name="TextBox 42" id="42"/>
          <p:cNvSpPr txBox="true"/>
          <p:nvPr/>
        </p:nvSpPr>
        <p:spPr>
          <a:xfrm rot="0">
            <a:off x="9297181" y="6002769"/>
            <a:ext cx="8770972" cy="186766"/>
          </a:xfrm>
          <a:prstGeom prst="rect">
            <a:avLst/>
          </a:prstGeom>
        </p:spPr>
        <p:txBody>
          <a:bodyPr anchor="t" rtlCol="false" tIns="0" lIns="0" bIns="0" rIns="0">
            <a:spAutoFit/>
          </a:bodyPr>
          <a:lstStyle/>
          <a:p>
            <a:pPr algn="l">
              <a:lnSpc>
                <a:spcPts val="1364"/>
              </a:lnSpc>
            </a:pPr>
            <a:r>
              <a:rPr lang="en-US" sz="1125">
                <a:solidFill>
                  <a:srgbClr val="4C4C4D"/>
                </a:solidFill>
                <a:latin typeface="Heebo"/>
                <a:ea typeface="Heebo"/>
                <a:cs typeface="Heebo"/>
                <a:sym typeface="Heebo"/>
              </a:rPr>
              <a:t>100 kΩ</a:t>
            </a:r>
          </a:p>
        </p:txBody>
      </p:sp>
      <p:sp>
        <p:nvSpPr>
          <p:cNvPr name="TextBox 43" id="43"/>
          <p:cNvSpPr txBox="true"/>
          <p:nvPr/>
        </p:nvSpPr>
        <p:spPr>
          <a:xfrm rot="0">
            <a:off x="1148782" y="6298873"/>
            <a:ext cx="8770972" cy="186766"/>
          </a:xfrm>
          <a:prstGeom prst="rect">
            <a:avLst/>
          </a:prstGeom>
        </p:spPr>
        <p:txBody>
          <a:bodyPr anchor="t" rtlCol="false" tIns="0" lIns="0" bIns="0" rIns="0">
            <a:spAutoFit/>
          </a:bodyPr>
          <a:lstStyle/>
          <a:p>
            <a:pPr algn="l">
              <a:lnSpc>
                <a:spcPts val="1364"/>
              </a:lnSpc>
            </a:pPr>
            <a:r>
              <a:rPr lang="en-US" sz="1125">
                <a:solidFill>
                  <a:srgbClr val="4C4C4D"/>
                </a:solidFill>
                <a:latin typeface="Heebo"/>
                <a:ea typeface="Heebo"/>
                <a:cs typeface="Heebo"/>
                <a:sym typeface="Heebo"/>
              </a:rPr>
              <a:t>Zener Voltage</a:t>
            </a:r>
          </a:p>
        </p:txBody>
      </p:sp>
      <p:sp>
        <p:nvSpPr>
          <p:cNvPr name="TextBox 44" id="44"/>
          <p:cNvSpPr txBox="true"/>
          <p:nvPr/>
        </p:nvSpPr>
        <p:spPr>
          <a:xfrm rot="0">
            <a:off x="9297181" y="6298873"/>
            <a:ext cx="8770972" cy="186766"/>
          </a:xfrm>
          <a:prstGeom prst="rect">
            <a:avLst/>
          </a:prstGeom>
        </p:spPr>
        <p:txBody>
          <a:bodyPr anchor="t" rtlCol="false" tIns="0" lIns="0" bIns="0" rIns="0">
            <a:spAutoFit/>
          </a:bodyPr>
          <a:lstStyle/>
          <a:p>
            <a:pPr algn="l">
              <a:lnSpc>
                <a:spcPts val="1364"/>
              </a:lnSpc>
            </a:pPr>
            <a:r>
              <a:rPr lang="en-US" sz="1125">
                <a:solidFill>
                  <a:srgbClr val="4C4C4D"/>
                </a:solidFill>
                <a:latin typeface="Heebo"/>
                <a:ea typeface="Heebo"/>
                <a:cs typeface="Heebo"/>
                <a:sym typeface="Heebo"/>
              </a:rPr>
              <a:t>12 V</a:t>
            </a:r>
          </a:p>
        </p:txBody>
      </p:sp>
      <p:sp>
        <p:nvSpPr>
          <p:cNvPr name="TextBox 45" id="45"/>
          <p:cNvSpPr txBox="true"/>
          <p:nvPr/>
        </p:nvSpPr>
        <p:spPr>
          <a:xfrm rot="0">
            <a:off x="1148782" y="6594967"/>
            <a:ext cx="8770972" cy="186766"/>
          </a:xfrm>
          <a:prstGeom prst="rect">
            <a:avLst/>
          </a:prstGeom>
        </p:spPr>
        <p:txBody>
          <a:bodyPr anchor="t" rtlCol="false" tIns="0" lIns="0" bIns="0" rIns="0">
            <a:spAutoFit/>
          </a:bodyPr>
          <a:lstStyle/>
          <a:p>
            <a:pPr algn="l">
              <a:lnSpc>
                <a:spcPts val="1364"/>
              </a:lnSpc>
            </a:pPr>
            <a:r>
              <a:rPr lang="en-US" sz="1125">
                <a:solidFill>
                  <a:srgbClr val="4C4C4D"/>
                </a:solidFill>
                <a:latin typeface="Heebo"/>
                <a:ea typeface="Heebo"/>
                <a:cs typeface="Heebo"/>
                <a:sym typeface="Heebo"/>
              </a:rPr>
              <a:t>Zener Power</a:t>
            </a:r>
          </a:p>
        </p:txBody>
      </p:sp>
      <p:sp>
        <p:nvSpPr>
          <p:cNvPr name="TextBox 46" id="46"/>
          <p:cNvSpPr txBox="true"/>
          <p:nvPr/>
        </p:nvSpPr>
        <p:spPr>
          <a:xfrm rot="0">
            <a:off x="9297181" y="6594967"/>
            <a:ext cx="8770972" cy="186766"/>
          </a:xfrm>
          <a:prstGeom prst="rect">
            <a:avLst/>
          </a:prstGeom>
        </p:spPr>
        <p:txBody>
          <a:bodyPr anchor="t" rtlCol="false" tIns="0" lIns="0" bIns="0" rIns="0">
            <a:spAutoFit/>
          </a:bodyPr>
          <a:lstStyle/>
          <a:p>
            <a:pPr algn="l">
              <a:lnSpc>
                <a:spcPts val="1364"/>
              </a:lnSpc>
            </a:pPr>
            <a:r>
              <a:rPr lang="en-US" sz="1125">
                <a:solidFill>
                  <a:srgbClr val="4C4C4D"/>
                </a:solidFill>
                <a:latin typeface="Heebo"/>
                <a:ea typeface="Heebo"/>
                <a:cs typeface="Heebo"/>
                <a:sym typeface="Heebo"/>
              </a:rPr>
              <a:t>14.8 mW</a:t>
            </a:r>
          </a:p>
        </p:txBody>
      </p:sp>
      <p:sp>
        <p:nvSpPr>
          <p:cNvPr name="TextBox 47" id="47"/>
          <p:cNvSpPr txBox="true"/>
          <p:nvPr/>
        </p:nvSpPr>
        <p:spPr>
          <a:xfrm rot="0">
            <a:off x="992991" y="6977472"/>
            <a:ext cx="7979502" cy="394383"/>
          </a:xfrm>
          <a:prstGeom prst="rect">
            <a:avLst/>
          </a:prstGeom>
        </p:spPr>
        <p:txBody>
          <a:bodyPr anchor="t" rtlCol="false" tIns="0" lIns="0" bIns="0" rIns="0">
            <a:spAutoFit/>
          </a:bodyPr>
          <a:lstStyle/>
          <a:p>
            <a:pPr algn="l">
              <a:lnSpc>
                <a:spcPts val="2810"/>
              </a:lnSpc>
            </a:pPr>
            <a:r>
              <a:rPr lang="en-US" sz="2251">
                <a:solidFill>
                  <a:srgbClr val="152D47"/>
                </a:solidFill>
                <a:latin typeface="Crimson Pro"/>
                <a:ea typeface="Crimson Pro"/>
                <a:cs typeface="Crimson Pro"/>
                <a:sym typeface="Crimson Pro"/>
              </a:rPr>
              <a:t>Advantages</a:t>
            </a:r>
          </a:p>
        </p:txBody>
      </p:sp>
      <p:sp>
        <p:nvSpPr>
          <p:cNvPr name="TextBox 48" id="48"/>
          <p:cNvSpPr txBox="true"/>
          <p:nvPr/>
        </p:nvSpPr>
        <p:spPr>
          <a:xfrm rot="0">
            <a:off x="992991" y="7437701"/>
            <a:ext cx="7979502" cy="2019233"/>
          </a:xfrm>
          <a:prstGeom prst="rect">
            <a:avLst/>
          </a:prstGeom>
        </p:spPr>
        <p:txBody>
          <a:bodyPr anchor="t" rtlCol="false" tIns="0" lIns="0" bIns="0" rIns="0">
            <a:spAutoFit/>
          </a:bodyPr>
          <a:lstStyle/>
          <a:p>
            <a:pPr algn="l" marL="203915" indent="-101958" lvl="1">
              <a:lnSpc>
                <a:spcPts val="1364"/>
              </a:lnSpc>
              <a:buFont typeface="Arial"/>
              <a:buChar char="•"/>
            </a:pPr>
            <a:r>
              <a:rPr lang="en-US" sz="1125">
                <a:solidFill>
                  <a:srgbClr val="4C4C4D"/>
                </a:solidFill>
                <a:latin typeface="Heebo"/>
                <a:ea typeface="Heebo"/>
                <a:cs typeface="Heebo"/>
                <a:sym typeface="Heebo"/>
              </a:rPr>
              <a:t>Latching operation using SET and RESET inputs</a:t>
            </a:r>
          </a:p>
          <a:p>
            <a:pPr algn="l" marL="203915" indent="-101958" lvl="1">
              <a:lnSpc>
                <a:spcPts val="1364"/>
              </a:lnSpc>
              <a:buFont typeface="Arial"/>
              <a:buChar char="•"/>
            </a:pPr>
            <a:r>
              <a:rPr lang="en-US" sz="1125">
                <a:solidFill>
                  <a:srgbClr val="4C4C4D"/>
                </a:solidFill>
                <a:latin typeface="Heebo"/>
                <a:ea typeface="Heebo"/>
                <a:cs typeface="Heebo"/>
                <a:sym typeface="Heebo"/>
              </a:rPr>
              <a:t>Eliminates continuous controller drive requirement</a:t>
            </a:r>
          </a:p>
          <a:p>
            <a:pPr algn="l" marL="203915" indent="-101958" lvl="1">
              <a:lnSpc>
                <a:spcPts val="1364"/>
              </a:lnSpc>
              <a:buFont typeface="Arial"/>
              <a:buChar char="•"/>
            </a:pPr>
            <a:r>
              <a:rPr lang="en-US" sz="1125">
                <a:solidFill>
                  <a:srgbClr val="4C4C4D"/>
                </a:solidFill>
                <a:latin typeface="Heebo"/>
                <a:ea typeface="Heebo"/>
                <a:cs typeface="Heebo"/>
                <a:sym typeface="Heebo"/>
              </a:rPr>
              <a:t>Safe PMOS gate protection with a 12 V Zener diode</a:t>
            </a:r>
          </a:p>
          <a:p>
            <a:pPr algn="l" marL="203915" indent="-101958" lvl="1">
              <a:lnSpc>
                <a:spcPts val="1364"/>
              </a:lnSpc>
              <a:buFont typeface="Arial"/>
              <a:buChar char="•"/>
            </a:pPr>
            <a:r>
              <a:rPr lang="en-US" sz="1125">
                <a:solidFill>
                  <a:srgbClr val="4C4C4D"/>
                </a:solidFill>
                <a:latin typeface="Heebo"/>
                <a:ea typeface="Heebo"/>
                <a:cs typeface="Heebo"/>
                <a:sym typeface="Heebo"/>
              </a:rPr>
              <a:t>Reliable operation from 5 V to 100 V supply range</a:t>
            </a:r>
          </a:p>
          <a:p>
            <a:pPr algn="l" marL="203915" indent="-101958" lvl="1">
              <a:lnSpc>
                <a:spcPts val="1364"/>
              </a:lnSpc>
              <a:buFont typeface="Arial"/>
              <a:buChar char="•"/>
            </a:pPr>
            <a:r>
              <a:rPr lang="en-US" sz="1125">
                <a:solidFill>
                  <a:srgbClr val="4C4C4D"/>
                </a:solidFill>
                <a:latin typeface="Heebo"/>
                <a:ea typeface="Heebo"/>
                <a:cs typeface="Heebo"/>
                <a:sym typeface="Heebo"/>
              </a:rPr>
              <a:t>Low power dissipation in all passive components</a:t>
            </a:r>
          </a:p>
          <a:p>
            <a:pPr algn="l" marL="203915" indent="-101958" lvl="1">
              <a:lnSpc>
                <a:spcPts val="1364"/>
              </a:lnSpc>
              <a:buFont typeface="Arial"/>
              <a:buChar char="•"/>
            </a:pPr>
            <a:r>
              <a:rPr lang="en-US" sz="1125">
                <a:solidFill>
                  <a:srgbClr val="4C4C4D"/>
                </a:solidFill>
                <a:latin typeface="Heebo"/>
                <a:ea typeface="Heebo"/>
                <a:cs typeface="Heebo"/>
                <a:sym typeface="Heebo"/>
              </a:rPr>
              <a:t>Memory-based switching reduces controller workload</a:t>
            </a:r>
          </a:p>
          <a:p>
            <a:pPr algn="l" marL="203915" indent="-101958" lvl="1">
              <a:lnSpc>
                <a:spcPts val="1364"/>
              </a:lnSpc>
              <a:buFont typeface="Arial"/>
              <a:buChar char="•"/>
            </a:pPr>
            <a:r>
              <a:rPr lang="en-US" sz="1125">
                <a:solidFill>
                  <a:srgbClr val="4C4C4D"/>
                </a:solidFill>
                <a:latin typeface="Heebo"/>
                <a:ea typeface="Heebo"/>
                <a:cs typeface="Heebo"/>
                <a:sym typeface="Heebo"/>
              </a:rPr>
              <a:t>Pulse-based control (SET/RESET) instead of continuous signals</a:t>
            </a:r>
          </a:p>
          <a:p>
            <a:pPr algn="l" marL="203915" indent="-101958" lvl="1">
              <a:lnSpc>
                <a:spcPts val="1364"/>
              </a:lnSpc>
              <a:buFont typeface="Arial"/>
              <a:buChar char="•"/>
            </a:pPr>
            <a:r>
              <a:rPr lang="en-US" sz="1125">
                <a:solidFill>
                  <a:srgbClr val="4C4C4D"/>
                </a:solidFill>
                <a:latin typeface="Heebo"/>
                <a:ea typeface="Heebo"/>
                <a:cs typeface="Heebo"/>
                <a:sym typeface="Heebo"/>
              </a:rPr>
              <a:t>Suitable for industrial automation and embedded control systems</a:t>
            </a:r>
          </a:p>
          <a:p>
            <a:pPr algn="l" marL="203915" indent="-101958" lvl="1">
              <a:lnSpc>
                <a:spcPts val="1364"/>
              </a:lnSpc>
              <a:buFont typeface="Arial"/>
              <a:buChar char="•"/>
            </a:pPr>
            <a:r>
              <a:rPr lang="en-US" sz="1125">
                <a:solidFill>
                  <a:srgbClr val="4C4C4D"/>
                </a:solidFill>
                <a:latin typeface="Heebo"/>
                <a:ea typeface="Heebo"/>
                <a:cs typeface="Heebo"/>
                <a:sym typeface="Heebo"/>
              </a:rPr>
              <a:t>Fail-safe design capability with explicit RESET commands</a:t>
            </a:r>
          </a:p>
          <a:p>
            <a:pPr algn="l" marL="203915" indent="-101958" lvl="1">
              <a:lnSpc>
                <a:spcPts val="1364"/>
              </a:lnSpc>
              <a:buFont typeface="Arial"/>
              <a:buChar char="•"/>
            </a:pPr>
            <a:r>
              <a:rPr lang="en-US" sz="1125">
                <a:solidFill>
                  <a:srgbClr val="4C4C4D"/>
                </a:solidFill>
                <a:latin typeface="Heebo"/>
                <a:ea typeface="Heebo"/>
                <a:cs typeface="Heebo"/>
                <a:sym typeface="Heebo"/>
              </a:rPr>
              <a:t>Minimal propagation delay for fast switching response</a:t>
            </a:r>
          </a:p>
        </p:txBody>
      </p:sp>
      <p:sp>
        <p:nvSpPr>
          <p:cNvPr name="TextBox 49" id="49"/>
          <p:cNvSpPr txBox="true"/>
          <p:nvPr/>
        </p:nvSpPr>
        <p:spPr>
          <a:xfrm rot="0">
            <a:off x="9338882" y="6977472"/>
            <a:ext cx="7979502" cy="394383"/>
          </a:xfrm>
          <a:prstGeom prst="rect">
            <a:avLst/>
          </a:prstGeom>
        </p:spPr>
        <p:txBody>
          <a:bodyPr anchor="t" rtlCol="false" tIns="0" lIns="0" bIns="0" rIns="0">
            <a:spAutoFit/>
          </a:bodyPr>
          <a:lstStyle/>
          <a:p>
            <a:pPr algn="l">
              <a:lnSpc>
                <a:spcPts val="2810"/>
              </a:lnSpc>
            </a:pPr>
            <a:r>
              <a:rPr lang="en-US" sz="2251">
                <a:solidFill>
                  <a:srgbClr val="152D47"/>
                </a:solidFill>
                <a:latin typeface="Crimson Pro"/>
                <a:ea typeface="Crimson Pro"/>
                <a:cs typeface="Crimson Pro"/>
                <a:sym typeface="Crimson Pro"/>
              </a:rPr>
              <a:t>Applications</a:t>
            </a:r>
          </a:p>
        </p:txBody>
      </p:sp>
      <p:sp>
        <p:nvSpPr>
          <p:cNvPr name="TextBox 50" id="50"/>
          <p:cNvSpPr txBox="true"/>
          <p:nvPr/>
        </p:nvSpPr>
        <p:spPr>
          <a:xfrm rot="0">
            <a:off x="9338882" y="7437701"/>
            <a:ext cx="7979502" cy="2019233"/>
          </a:xfrm>
          <a:prstGeom prst="rect">
            <a:avLst/>
          </a:prstGeom>
        </p:spPr>
        <p:txBody>
          <a:bodyPr anchor="t" rtlCol="false" tIns="0" lIns="0" bIns="0" rIns="0">
            <a:spAutoFit/>
          </a:bodyPr>
          <a:lstStyle/>
          <a:p>
            <a:pPr algn="l" marL="203915" indent="-101958" lvl="1">
              <a:lnSpc>
                <a:spcPts val="1364"/>
              </a:lnSpc>
              <a:buFont typeface="Arial"/>
              <a:buChar char="•"/>
            </a:pPr>
            <a:r>
              <a:rPr lang="en-US" sz="1125">
                <a:solidFill>
                  <a:srgbClr val="4C4C4D"/>
                </a:solidFill>
                <a:latin typeface="Heebo"/>
                <a:ea typeface="Heebo"/>
                <a:cs typeface="Heebo"/>
                <a:sym typeface="Heebo"/>
              </a:rPr>
              <a:t>Industrial automation and PLC systems</a:t>
            </a:r>
          </a:p>
          <a:p>
            <a:pPr algn="l" marL="203915" indent="-101958" lvl="1">
              <a:lnSpc>
                <a:spcPts val="1364"/>
              </a:lnSpc>
              <a:buFont typeface="Arial"/>
              <a:buChar char="•"/>
            </a:pPr>
            <a:r>
              <a:rPr lang="en-US" sz="1125">
                <a:solidFill>
                  <a:srgbClr val="4C4C4D"/>
                </a:solidFill>
                <a:latin typeface="Heebo"/>
                <a:ea typeface="Heebo"/>
                <a:cs typeface="Heebo"/>
                <a:sym typeface="Heebo"/>
              </a:rPr>
              <a:t>Motor control and relay replacement</a:t>
            </a:r>
          </a:p>
          <a:p>
            <a:pPr algn="l" marL="203915" indent="-101958" lvl="1">
              <a:lnSpc>
                <a:spcPts val="1364"/>
              </a:lnSpc>
              <a:buFont typeface="Arial"/>
              <a:buChar char="•"/>
            </a:pPr>
            <a:r>
              <a:rPr lang="en-US" sz="1125">
                <a:solidFill>
                  <a:srgbClr val="4C4C4D"/>
                </a:solidFill>
                <a:latin typeface="Heebo"/>
                <a:ea typeface="Heebo"/>
                <a:cs typeface="Heebo"/>
                <a:sym typeface="Heebo"/>
              </a:rPr>
              <a:t>Battery management systems (BMS)</a:t>
            </a:r>
          </a:p>
          <a:p>
            <a:pPr algn="l" marL="203915" indent="-101958" lvl="1">
              <a:lnSpc>
                <a:spcPts val="1364"/>
              </a:lnSpc>
              <a:buFont typeface="Arial"/>
              <a:buChar char="•"/>
            </a:pPr>
            <a:r>
              <a:rPr lang="en-US" sz="1125">
                <a:solidFill>
                  <a:srgbClr val="4C4C4D"/>
                </a:solidFill>
                <a:latin typeface="Heebo"/>
                <a:ea typeface="Heebo"/>
                <a:cs typeface="Heebo"/>
                <a:sym typeface="Heebo"/>
              </a:rPr>
              <a:t>Power distribution and load switching</a:t>
            </a:r>
          </a:p>
          <a:p>
            <a:pPr algn="l" marL="203915" indent="-101958" lvl="1">
              <a:lnSpc>
                <a:spcPts val="1364"/>
              </a:lnSpc>
              <a:buFont typeface="Arial"/>
              <a:buChar char="•"/>
            </a:pPr>
            <a:r>
              <a:rPr lang="en-US" sz="1125">
                <a:solidFill>
                  <a:srgbClr val="4C4C4D"/>
                </a:solidFill>
                <a:latin typeface="Heebo"/>
                <a:ea typeface="Heebo"/>
                <a:cs typeface="Heebo"/>
                <a:sym typeface="Heebo"/>
              </a:rPr>
              <a:t>Solenoid and actuator control</a:t>
            </a:r>
          </a:p>
          <a:p>
            <a:pPr algn="l" marL="203915" indent="-101958" lvl="1">
              <a:lnSpc>
                <a:spcPts val="1364"/>
              </a:lnSpc>
              <a:buFont typeface="Arial"/>
              <a:buChar char="•"/>
            </a:pPr>
            <a:r>
              <a:rPr lang="en-US" sz="1125">
                <a:solidFill>
                  <a:srgbClr val="4C4C4D"/>
                </a:solidFill>
                <a:latin typeface="Heebo"/>
                <a:ea typeface="Heebo"/>
                <a:cs typeface="Heebo"/>
                <a:sym typeface="Heebo"/>
              </a:rPr>
              <a:t>Emergency shutdown circuits</a:t>
            </a:r>
          </a:p>
          <a:p>
            <a:pPr algn="l" marL="203915" indent="-101958" lvl="1">
              <a:lnSpc>
                <a:spcPts val="1364"/>
              </a:lnSpc>
              <a:buFont typeface="Arial"/>
              <a:buChar char="•"/>
            </a:pPr>
            <a:r>
              <a:rPr lang="en-US" sz="1125">
                <a:solidFill>
                  <a:srgbClr val="4C4C4D"/>
                </a:solidFill>
                <a:latin typeface="Heebo"/>
                <a:ea typeface="Heebo"/>
                <a:cs typeface="Heebo"/>
                <a:sym typeface="Heebo"/>
              </a:rPr>
              <a:t>Uninterruptible power supply (UPS) systems</a:t>
            </a:r>
          </a:p>
          <a:p>
            <a:pPr algn="l" marL="203915" indent="-101958" lvl="1">
              <a:lnSpc>
                <a:spcPts val="1364"/>
              </a:lnSpc>
              <a:buFont typeface="Arial"/>
              <a:buChar char="•"/>
            </a:pPr>
            <a:r>
              <a:rPr lang="en-US" sz="1125">
                <a:solidFill>
                  <a:srgbClr val="4C4C4D"/>
                </a:solidFill>
                <a:latin typeface="Heebo"/>
                <a:ea typeface="Heebo"/>
                <a:cs typeface="Heebo"/>
                <a:sym typeface="Heebo"/>
              </a:rPr>
              <a:t>Renewable energy systems (solar, wind)</a:t>
            </a:r>
          </a:p>
          <a:p>
            <a:pPr algn="l" marL="203915" indent="-101958" lvl="1">
              <a:lnSpc>
                <a:spcPts val="1364"/>
              </a:lnSpc>
              <a:buFont typeface="Arial"/>
              <a:buChar char="•"/>
            </a:pPr>
            <a:r>
              <a:rPr lang="en-US" sz="1125">
                <a:solidFill>
                  <a:srgbClr val="4C4C4D"/>
                </a:solidFill>
                <a:latin typeface="Heebo"/>
                <a:ea typeface="Heebo"/>
                <a:cs typeface="Heebo"/>
                <a:sym typeface="Heebo"/>
              </a:rPr>
              <a:t>Electric vehicle charging systems</a:t>
            </a:r>
          </a:p>
          <a:p>
            <a:pPr algn="l" marL="203915" indent="-101958" lvl="1">
              <a:lnSpc>
                <a:spcPts val="1364"/>
              </a:lnSpc>
              <a:buFont typeface="Arial"/>
              <a:buChar char="•"/>
            </a:pPr>
            <a:r>
              <a:rPr lang="en-US" sz="1125">
                <a:solidFill>
                  <a:srgbClr val="4C4C4D"/>
                </a:solidFill>
                <a:latin typeface="Heebo"/>
                <a:ea typeface="Heebo"/>
                <a:cs typeface="Heebo"/>
                <a:sym typeface="Heebo"/>
              </a:rPr>
              <a:t>Safety-critical switching applications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0F0F1"/>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6" id="6"/>
          <p:cNvGrpSpPr/>
          <p:nvPr/>
        </p:nvGrpSpPr>
        <p:grpSpPr>
          <a:xfrm rot="0">
            <a:off x="16628307" y="9846183"/>
            <a:ext cx="1609020" cy="384353"/>
            <a:chOff x="0" y="0"/>
            <a:chExt cx="2145360" cy="512470"/>
          </a:xfrm>
        </p:grpSpPr>
        <p:sp>
          <p:nvSpPr>
            <p:cNvPr name="Freeform 7" id="7" descr="preencoded.png">
              <a:hlinkClick r:id="rId3" tooltip="https://gamma.app/?utm_source=made-with-gamma"/>
            </p:cNvPr>
            <p:cNvSpPr/>
            <p:nvPr/>
          </p:nvSpPr>
          <p:spPr>
            <a:xfrm flipH="false" flipV="false" rot="0">
              <a:off x="0" y="0"/>
              <a:ext cx="2145411" cy="512445"/>
            </a:xfrm>
            <a:custGeom>
              <a:avLst/>
              <a:gdLst/>
              <a:ahLst/>
              <a:cxnLst/>
              <a:rect r="r" b="b" t="t" l="l"/>
              <a:pathLst>
                <a:path h="512445" w="2145411">
                  <a:moveTo>
                    <a:pt x="0" y="0"/>
                  </a:moveTo>
                  <a:lnTo>
                    <a:pt x="2145411" y="0"/>
                  </a:lnTo>
                  <a:lnTo>
                    <a:pt x="2145411" y="512445"/>
                  </a:lnTo>
                  <a:lnTo>
                    <a:pt x="0" y="512445"/>
                  </a:lnTo>
                  <a:lnTo>
                    <a:pt x="0" y="0"/>
                  </a:lnTo>
                  <a:close/>
                </a:path>
              </a:pathLst>
            </a:custGeom>
            <a:blipFill>
              <a:blip r:embed="rId4"/>
              <a:stretch>
                <a:fillRect l="0" t="0" r="2" b="-4"/>
              </a:stretch>
            </a:blipFill>
          </p:spPr>
        </p:sp>
      </p:grpSp>
      <p:sp>
        <p:nvSpPr>
          <p:cNvPr name="TextBox 8" id="8"/>
          <p:cNvSpPr txBox="true"/>
          <p:nvPr/>
        </p:nvSpPr>
        <p:spPr>
          <a:xfrm rot="0">
            <a:off x="992991" y="751742"/>
            <a:ext cx="16315868" cy="471830"/>
          </a:xfrm>
          <a:prstGeom prst="rect">
            <a:avLst/>
          </a:prstGeom>
        </p:spPr>
        <p:txBody>
          <a:bodyPr anchor="t" rtlCol="false" tIns="0" lIns="0" bIns="0" rIns="0">
            <a:spAutoFit/>
          </a:bodyPr>
          <a:lstStyle/>
          <a:p>
            <a:pPr algn="l">
              <a:lnSpc>
                <a:spcPts val="3465"/>
              </a:lnSpc>
            </a:pPr>
            <a:r>
              <a:rPr lang="en-US" sz="2777">
                <a:solidFill>
                  <a:srgbClr val="152D47"/>
                </a:solidFill>
                <a:latin typeface="Crimson Pro"/>
                <a:ea typeface="Crimson Pro"/>
                <a:cs typeface="Crimson Pro"/>
                <a:sym typeface="Crimson Pro"/>
              </a:rPr>
              <a:t>Comparative Analysis and Conclusion</a:t>
            </a:r>
          </a:p>
        </p:txBody>
      </p:sp>
      <p:sp>
        <p:nvSpPr>
          <p:cNvPr name="TextBox 9" id="9"/>
          <p:cNvSpPr txBox="true"/>
          <p:nvPr/>
        </p:nvSpPr>
        <p:spPr>
          <a:xfrm rot="0">
            <a:off x="992991" y="1223305"/>
            <a:ext cx="16315868" cy="383210"/>
          </a:xfrm>
          <a:prstGeom prst="rect">
            <a:avLst/>
          </a:prstGeom>
        </p:spPr>
        <p:txBody>
          <a:bodyPr anchor="t" rtlCol="false" tIns="0" lIns="0" bIns="0" rIns="0">
            <a:spAutoFit/>
          </a:bodyPr>
          <a:lstStyle/>
          <a:p>
            <a:pPr algn="l">
              <a:lnSpc>
                <a:spcPts val="2716"/>
              </a:lnSpc>
            </a:pPr>
            <a:r>
              <a:rPr lang="en-US" sz="2176">
                <a:solidFill>
                  <a:srgbClr val="152D47"/>
                </a:solidFill>
                <a:latin typeface="Crimson Pro"/>
                <a:ea typeface="Crimson Pro"/>
                <a:cs typeface="Crimson Pro"/>
                <a:sym typeface="Crimson Pro"/>
              </a:rPr>
              <a:t>Comparative Analysis of the Three Driver Circuits</a:t>
            </a:r>
          </a:p>
        </p:txBody>
      </p:sp>
      <p:grpSp>
        <p:nvGrpSpPr>
          <p:cNvPr name="Group 10" id="10"/>
          <p:cNvGrpSpPr/>
          <p:nvPr/>
        </p:nvGrpSpPr>
        <p:grpSpPr>
          <a:xfrm rot="0">
            <a:off x="988219" y="1708099"/>
            <a:ext cx="16325393" cy="3423933"/>
            <a:chOff x="0" y="0"/>
            <a:chExt cx="21767190" cy="4565244"/>
          </a:xfrm>
        </p:grpSpPr>
        <p:sp>
          <p:nvSpPr>
            <p:cNvPr name="Freeform 11" id="11"/>
            <p:cNvSpPr/>
            <p:nvPr/>
          </p:nvSpPr>
          <p:spPr>
            <a:xfrm flipH="false" flipV="false" rot="0">
              <a:off x="0" y="0"/>
              <a:ext cx="21767164" cy="4565269"/>
            </a:xfrm>
            <a:custGeom>
              <a:avLst/>
              <a:gdLst/>
              <a:ahLst/>
              <a:cxnLst/>
              <a:rect r="r" b="b" t="t" l="l"/>
              <a:pathLst>
                <a:path h="4565269" w="21767164">
                  <a:moveTo>
                    <a:pt x="0" y="28448"/>
                  </a:moveTo>
                  <a:cubicBezTo>
                    <a:pt x="0" y="12700"/>
                    <a:pt x="12700" y="0"/>
                    <a:pt x="28448" y="0"/>
                  </a:cubicBezTo>
                  <a:lnTo>
                    <a:pt x="21738717" y="0"/>
                  </a:lnTo>
                  <a:cubicBezTo>
                    <a:pt x="21754464" y="0"/>
                    <a:pt x="21767164" y="12700"/>
                    <a:pt x="21767164" y="28448"/>
                  </a:cubicBezTo>
                  <a:lnTo>
                    <a:pt x="21767164" y="4536821"/>
                  </a:lnTo>
                  <a:cubicBezTo>
                    <a:pt x="21767164" y="4552569"/>
                    <a:pt x="21754464" y="4565269"/>
                    <a:pt x="21738717" y="4565269"/>
                  </a:cubicBezTo>
                  <a:lnTo>
                    <a:pt x="28448" y="4565269"/>
                  </a:lnTo>
                  <a:cubicBezTo>
                    <a:pt x="12700" y="4565269"/>
                    <a:pt x="0" y="4552569"/>
                    <a:pt x="0" y="4536821"/>
                  </a:cubicBezTo>
                  <a:close/>
                </a:path>
              </a:pathLst>
            </a:custGeom>
            <a:blipFill>
              <a:blip r:embed="rId5">
                <a:alphaModFix amt="0"/>
              </a:blip>
              <a:stretch>
                <a:fillRect l="0" t="-42904" r="0" b="-42904"/>
              </a:stretch>
            </a:blipFill>
            <a:ln w="9532" cap="sq">
              <a:solidFill>
                <a:srgbClr val="000000"/>
              </a:solidFill>
              <a:prstDash val="solid"/>
              <a:miter/>
            </a:ln>
          </p:spPr>
        </p:sp>
      </p:grpSp>
      <p:grpSp>
        <p:nvGrpSpPr>
          <p:cNvPr name="Group 12" id="12"/>
          <p:cNvGrpSpPr/>
          <p:nvPr/>
        </p:nvGrpSpPr>
        <p:grpSpPr>
          <a:xfrm rot="0">
            <a:off x="992991" y="2001364"/>
            <a:ext cx="16315868" cy="9535"/>
            <a:chOff x="0" y="0"/>
            <a:chExt cx="21754490" cy="12713"/>
          </a:xfrm>
        </p:grpSpPr>
        <p:sp>
          <p:nvSpPr>
            <p:cNvPr name="Freeform 13" id="13"/>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14" id="14"/>
          <p:cNvGrpSpPr/>
          <p:nvPr/>
        </p:nvGrpSpPr>
        <p:grpSpPr>
          <a:xfrm rot="0">
            <a:off x="992991" y="2285105"/>
            <a:ext cx="16315868" cy="9535"/>
            <a:chOff x="0" y="0"/>
            <a:chExt cx="21754490" cy="12713"/>
          </a:xfrm>
        </p:grpSpPr>
        <p:sp>
          <p:nvSpPr>
            <p:cNvPr name="Freeform 15" id="15"/>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16" id="16"/>
          <p:cNvGrpSpPr/>
          <p:nvPr/>
        </p:nvGrpSpPr>
        <p:grpSpPr>
          <a:xfrm rot="0">
            <a:off x="992991" y="2568845"/>
            <a:ext cx="16315868" cy="9535"/>
            <a:chOff x="0" y="0"/>
            <a:chExt cx="21754490" cy="12713"/>
          </a:xfrm>
        </p:grpSpPr>
        <p:sp>
          <p:nvSpPr>
            <p:cNvPr name="Freeform 17" id="17"/>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18" id="18"/>
          <p:cNvGrpSpPr/>
          <p:nvPr/>
        </p:nvGrpSpPr>
        <p:grpSpPr>
          <a:xfrm rot="0">
            <a:off x="992991" y="2852585"/>
            <a:ext cx="16315868" cy="9535"/>
            <a:chOff x="0" y="0"/>
            <a:chExt cx="21754490" cy="12713"/>
          </a:xfrm>
        </p:grpSpPr>
        <p:sp>
          <p:nvSpPr>
            <p:cNvPr name="Freeform 19" id="19"/>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20" id="20"/>
          <p:cNvGrpSpPr/>
          <p:nvPr/>
        </p:nvGrpSpPr>
        <p:grpSpPr>
          <a:xfrm rot="0">
            <a:off x="992991" y="3136325"/>
            <a:ext cx="16315868" cy="9535"/>
            <a:chOff x="0" y="0"/>
            <a:chExt cx="21754490" cy="12713"/>
          </a:xfrm>
        </p:grpSpPr>
        <p:sp>
          <p:nvSpPr>
            <p:cNvPr name="Freeform 21" id="21"/>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22" id="22"/>
          <p:cNvGrpSpPr/>
          <p:nvPr/>
        </p:nvGrpSpPr>
        <p:grpSpPr>
          <a:xfrm rot="0">
            <a:off x="992991" y="3420066"/>
            <a:ext cx="16315868" cy="9535"/>
            <a:chOff x="0" y="0"/>
            <a:chExt cx="21754490" cy="12713"/>
          </a:xfrm>
        </p:grpSpPr>
        <p:sp>
          <p:nvSpPr>
            <p:cNvPr name="Freeform 23" id="23"/>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24" id="24"/>
          <p:cNvGrpSpPr/>
          <p:nvPr/>
        </p:nvGrpSpPr>
        <p:grpSpPr>
          <a:xfrm rot="0">
            <a:off x="992991" y="3703806"/>
            <a:ext cx="16315868" cy="9535"/>
            <a:chOff x="0" y="0"/>
            <a:chExt cx="21754490" cy="12713"/>
          </a:xfrm>
        </p:grpSpPr>
        <p:sp>
          <p:nvSpPr>
            <p:cNvPr name="Freeform 25" id="25"/>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26" id="26"/>
          <p:cNvGrpSpPr/>
          <p:nvPr/>
        </p:nvGrpSpPr>
        <p:grpSpPr>
          <a:xfrm rot="0">
            <a:off x="992991" y="3987546"/>
            <a:ext cx="16315868" cy="9535"/>
            <a:chOff x="0" y="0"/>
            <a:chExt cx="21754490" cy="12713"/>
          </a:xfrm>
        </p:grpSpPr>
        <p:sp>
          <p:nvSpPr>
            <p:cNvPr name="Freeform 27" id="27"/>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28" id="28"/>
          <p:cNvGrpSpPr/>
          <p:nvPr/>
        </p:nvGrpSpPr>
        <p:grpSpPr>
          <a:xfrm rot="0">
            <a:off x="992991" y="4271277"/>
            <a:ext cx="16315868" cy="9535"/>
            <a:chOff x="0" y="0"/>
            <a:chExt cx="21754490" cy="12713"/>
          </a:xfrm>
        </p:grpSpPr>
        <p:sp>
          <p:nvSpPr>
            <p:cNvPr name="Freeform 29" id="29"/>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30" id="30"/>
          <p:cNvGrpSpPr/>
          <p:nvPr/>
        </p:nvGrpSpPr>
        <p:grpSpPr>
          <a:xfrm rot="0">
            <a:off x="992991" y="4555017"/>
            <a:ext cx="16315868" cy="9535"/>
            <a:chOff x="0" y="0"/>
            <a:chExt cx="21754490" cy="12713"/>
          </a:xfrm>
        </p:grpSpPr>
        <p:sp>
          <p:nvSpPr>
            <p:cNvPr name="Freeform 31" id="31"/>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32" id="32"/>
          <p:cNvGrpSpPr/>
          <p:nvPr/>
        </p:nvGrpSpPr>
        <p:grpSpPr>
          <a:xfrm rot="0">
            <a:off x="992991" y="4838757"/>
            <a:ext cx="16315868" cy="9535"/>
            <a:chOff x="0" y="0"/>
            <a:chExt cx="21754490" cy="12713"/>
          </a:xfrm>
        </p:grpSpPr>
        <p:sp>
          <p:nvSpPr>
            <p:cNvPr name="Freeform 33" id="33"/>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34" id="34"/>
          <p:cNvGrpSpPr/>
          <p:nvPr/>
        </p:nvGrpSpPr>
        <p:grpSpPr>
          <a:xfrm rot="0">
            <a:off x="5891803" y="1712862"/>
            <a:ext cx="9535" cy="3414408"/>
            <a:chOff x="0" y="0"/>
            <a:chExt cx="12713" cy="4552544"/>
          </a:xfrm>
        </p:grpSpPr>
        <p:sp>
          <p:nvSpPr>
            <p:cNvPr name="Freeform 35" id="35"/>
            <p:cNvSpPr/>
            <p:nvPr/>
          </p:nvSpPr>
          <p:spPr>
            <a:xfrm flipH="false" flipV="false" rot="0">
              <a:off x="0" y="0"/>
              <a:ext cx="12700" cy="4552569"/>
            </a:xfrm>
            <a:custGeom>
              <a:avLst/>
              <a:gdLst/>
              <a:ahLst/>
              <a:cxnLst/>
              <a:rect r="r" b="b" t="t" l="l"/>
              <a:pathLst>
                <a:path h="4552569" w="12700">
                  <a:moveTo>
                    <a:pt x="0" y="0"/>
                  </a:moveTo>
                  <a:lnTo>
                    <a:pt x="12700" y="0"/>
                  </a:lnTo>
                  <a:lnTo>
                    <a:pt x="12700" y="4552569"/>
                  </a:lnTo>
                  <a:lnTo>
                    <a:pt x="0" y="4552569"/>
                  </a:lnTo>
                  <a:close/>
                </a:path>
              </a:pathLst>
            </a:custGeom>
            <a:solidFill>
              <a:srgbClr val="000000">
                <a:alpha val="392"/>
              </a:srgbClr>
            </a:solidFill>
          </p:spPr>
        </p:sp>
      </p:grpSp>
      <p:grpSp>
        <p:nvGrpSpPr>
          <p:cNvPr name="Group 36" id="36"/>
          <p:cNvGrpSpPr/>
          <p:nvPr/>
        </p:nvGrpSpPr>
        <p:grpSpPr>
          <a:xfrm rot="0">
            <a:off x="9965922" y="1712862"/>
            <a:ext cx="9535" cy="3414408"/>
            <a:chOff x="0" y="0"/>
            <a:chExt cx="12713" cy="4552544"/>
          </a:xfrm>
        </p:grpSpPr>
        <p:sp>
          <p:nvSpPr>
            <p:cNvPr name="Freeform 37" id="37"/>
            <p:cNvSpPr/>
            <p:nvPr/>
          </p:nvSpPr>
          <p:spPr>
            <a:xfrm flipH="false" flipV="false" rot="0">
              <a:off x="0" y="0"/>
              <a:ext cx="12700" cy="4552569"/>
            </a:xfrm>
            <a:custGeom>
              <a:avLst/>
              <a:gdLst/>
              <a:ahLst/>
              <a:cxnLst/>
              <a:rect r="r" b="b" t="t" l="l"/>
              <a:pathLst>
                <a:path h="4552569" w="12700">
                  <a:moveTo>
                    <a:pt x="0" y="0"/>
                  </a:moveTo>
                  <a:lnTo>
                    <a:pt x="12700" y="0"/>
                  </a:lnTo>
                  <a:lnTo>
                    <a:pt x="12700" y="4552569"/>
                  </a:lnTo>
                  <a:lnTo>
                    <a:pt x="0" y="4552569"/>
                  </a:lnTo>
                  <a:close/>
                </a:path>
              </a:pathLst>
            </a:custGeom>
            <a:solidFill>
              <a:srgbClr val="000000">
                <a:alpha val="392"/>
              </a:srgbClr>
            </a:solidFill>
          </p:spPr>
        </p:sp>
      </p:grpSp>
      <p:grpSp>
        <p:nvGrpSpPr>
          <p:cNvPr name="Group 38" id="38"/>
          <p:cNvGrpSpPr/>
          <p:nvPr/>
        </p:nvGrpSpPr>
        <p:grpSpPr>
          <a:xfrm rot="0">
            <a:off x="14040050" y="1712862"/>
            <a:ext cx="9535" cy="3414408"/>
            <a:chOff x="0" y="0"/>
            <a:chExt cx="12713" cy="4552544"/>
          </a:xfrm>
        </p:grpSpPr>
        <p:sp>
          <p:nvSpPr>
            <p:cNvPr name="Freeform 39" id="39"/>
            <p:cNvSpPr/>
            <p:nvPr/>
          </p:nvSpPr>
          <p:spPr>
            <a:xfrm flipH="false" flipV="false" rot="0">
              <a:off x="0" y="0"/>
              <a:ext cx="12700" cy="4552569"/>
            </a:xfrm>
            <a:custGeom>
              <a:avLst/>
              <a:gdLst/>
              <a:ahLst/>
              <a:cxnLst/>
              <a:rect r="r" b="b" t="t" l="l"/>
              <a:pathLst>
                <a:path h="4552569" w="12700">
                  <a:moveTo>
                    <a:pt x="0" y="0"/>
                  </a:moveTo>
                  <a:lnTo>
                    <a:pt x="12700" y="0"/>
                  </a:lnTo>
                  <a:lnTo>
                    <a:pt x="12700" y="4552569"/>
                  </a:lnTo>
                  <a:lnTo>
                    <a:pt x="0" y="4552569"/>
                  </a:lnTo>
                  <a:close/>
                </a:path>
              </a:pathLst>
            </a:custGeom>
            <a:solidFill>
              <a:srgbClr val="000000">
                <a:alpha val="392"/>
              </a:srgbClr>
            </a:solidFill>
          </p:spPr>
        </p:sp>
      </p:grpSp>
      <p:sp>
        <p:nvSpPr>
          <p:cNvPr name="TextBox 40" id="40"/>
          <p:cNvSpPr txBox="true"/>
          <p:nvPr/>
        </p:nvSpPr>
        <p:spPr>
          <a:xfrm rot="0">
            <a:off x="1144610" y="1783899"/>
            <a:ext cx="5515727"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Parameter</a:t>
            </a:r>
          </a:p>
        </p:txBody>
      </p:sp>
      <p:sp>
        <p:nvSpPr>
          <p:cNvPr name="TextBox 41" id="41"/>
          <p:cNvSpPr txBox="true"/>
          <p:nvPr/>
        </p:nvSpPr>
        <p:spPr>
          <a:xfrm rot="0">
            <a:off x="6038355" y="1783899"/>
            <a:ext cx="4696101"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Circuit 1 (General PMOS–NMOS)</a:t>
            </a:r>
          </a:p>
        </p:txBody>
      </p:sp>
      <p:sp>
        <p:nvSpPr>
          <p:cNvPr name="TextBox 42" id="42"/>
          <p:cNvSpPr txBox="true"/>
          <p:nvPr/>
        </p:nvSpPr>
        <p:spPr>
          <a:xfrm rot="0">
            <a:off x="10112483" y="1783899"/>
            <a:ext cx="4696101"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Circuit 2 (Optocoupler)</a:t>
            </a:r>
          </a:p>
        </p:txBody>
      </p:sp>
      <p:sp>
        <p:nvSpPr>
          <p:cNvPr name="TextBox 43" id="43"/>
          <p:cNvSpPr txBox="true"/>
          <p:nvPr/>
        </p:nvSpPr>
        <p:spPr>
          <a:xfrm rot="0">
            <a:off x="14186611" y="1783899"/>
            <a:ext cx="3886010"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Circuit 3 (Latching Driver)</a:t>
            </a:r>
          </a:p>
        </p:txBody>
      </p:sp>
      <p:sp>
        <p:nvSpPr>
          <p:cNvPr name="TextBox 44" id="44"/>
          <p:cNvSpPr txBox="true"/>
          <p:nvPr/>
        </p:nvSpPr>
        <p:spPr>
          <a:xfrm rot="0">
            <a:off x="1144610" y="2067639"/>
            <a:ext cx="5515727"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Supply Voltage</a:t>
            </a:r>
          </a:p>
        </p:txBody>
      </p:sp>
      <p:sp>
        <p:nvSpPr>
          <p:cNvPr name="TextBox 45" id="45"/>
          <p:cNvSpPr txBox="true"/>
          <p:nvPr/>
        </p:nvSpPr>
        <p:spPr>
          <a:xfrm rot="0">
            <a:off x="6038355" y="2067639"/>
            <a:ext cx="4696101"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5–100 V</a:t>
            </a:r>
          </a:p>
        </p:txBody>
      </p:sp>
      <p:sp>
        <p:nvSpPr>
          <p:cNvPr name="TextBox 46" id="46"/>
          <p:cNvSpPr txBox="true"/>
          <p:nvPr/>
        </p:nvSpPr>
        <p:spPr>
          <a:xfrm rot="0">
            <a:off x="10112483" y="2067639"/>
            <a:ext cx="4696101"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5–100 V</a:t>
            </a:r>
          </a:p>
        </p:txBody>
      </p:sp>
      <p:sp>
        <p:nvSpPr>
          <p:cNvPr name="TextBox 47" id="47"/>
          <p:cNvSpPr txBox="true"/>
          <p:nvPr/>
        </p:nvSpPr>
        <p:spPr>
          <a:xfrm rot="0">
            <a:off x="14186611" y="2067639"/>
            <a:ext cx="3886010"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5–100 V</a:t>
            </a:r>
          </a:p>
        </p:txBody>
      </p:sp>
      <p:sp>
        <p:nvSpPr>
          <p:cNvPr name="TextBox 48" id="48"/>
          <p:cNvSpPr txBox="true"/>
          <p:nvPr/>
        </p:nvSpPr>
        <p:spPr>
          <a:xfrm rot="0">
            <a:off x="1144610" y="2351380"/>
            <a:ext cx="5515727"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Logic Input</a:t>
            </a:r>
          </a:p>
        </p:txBody>
      </p:sp>
      <p:sp>
        <p:nvSpPr>
          <p:cNvPr name="TextBox 49" id="49"/>
          <p:cNvSpPr txBox="true"/>
          <p:nvPr/>
        </p:nvSpPr>
        <p:spPr>
          <a:xfrm rot="0">
            <a:off x="6038355" y="2351380"/>
            <a:ext cx="4696101"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3.3 V</a:t>
            </a:r>
          </a:p>
        </p:txBody>
      </p:sp>
      <p:sp>
        <p:nvSpPr>
          <p:cNvPr name="TextBox 50" id="50"/>
          <p:cNvSpPr txBox="true"/>
          <p:nvPr/>
        </p:nvSpPr>
        <p:spPr>
          <a:xfrm rot="0">
            <a:off x="10112483" y="2351380"/>
            <a:ext cx="4696101"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3.3 V</a:t>
            </a:r>
          </a:p>
        </p:txBody>
      </p:sp>
      <p:sp>
        <p:nvSpPr>
          <p:cNvPr name="TextBox 51" id="51"/>
          <p:cNvSpPr txBox="true"/>
          <p:nvPr/>
        </p:nvSpPr>
        <p:spPr>
          <a:xfrm rot="0">
            <a:off x="14186611" y="2351380"/>
            <a:ext cx="3886010"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3.3 V</a:t>
            </a:r>
          </a:p>
        </p:txBody>
      </p:sp>
      <p:sp>
        <p:nvSpPr>
          <p:cNvPr name="TextBox 52" id="52"/>
          <p:cNvSpPr txBox="true"/>
          <p:nvPr/>
        </p:nvSpPr>
        <p:spPr>
          <a:xfrm rot="0">
            <a:off x="1144610" y="2635120"/>
            <a:ext cx="5515727"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High-Side Switching</a:t>
            </a:r>
          </a:p>
        </p:txBody>
      </p:sp>
      <p:sp>
        <p:nvSpPr>
          <p:cNvPr name="TextBox 53" id="53"/>
          <p:cNvSpPr txBox="true"/>
          <p:nvPr/>
        </p:nvSpPr>
        <p:spPr>
          <a:xfrm rot="0">
            <a:off x="6038355" y="2635120"/>
            <a:ext cx="4696101"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Yes</a:t>
            </a:r>
          </a:p>
        </p:txBody>
      </p:sp>
      <p:sp>
        <p:nvSpPr>
          <p:cNvPr name="TextBox 54" id="54"/>
          <p:cNvSpPr txBox="true"/>
          <p:nvPr/>
        </p:nvSpPr>
        <p:spPr>
          <a:xfrm rot="0">
            <a:off x="10112483" y="2635120"/>
            <a:ext cx="4696101"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Yes</a:t>
            </a:r>
          </a:p>
        </p:txBody>
      </p:sp>
      <p:sp>
        <p:nvSpPr>
          <p:cNvPr name="TextBox 55" id="55"/>
          <p:cNvSpPr txBox="true"/>
          <p:nvPr/>
        </p:nvSpPr>
        <p:spPr>
          <a:xfrm rot="0">
            <a:off x="14186611" y="2635120"/>
            <a:ext cx="3886010"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Yes</a:t>
            </a:r>
          </a:p>
        </p:txBody>
      </p:sp>
      <p:sp>
        <p:nvSpPr>
          <p:cNvPr name="TextBox 56" id="56"/>
          <p:cNvSpPr txBox="true"/>
          <p:nvPr/>
        </p:nvSpPr>
        <p:spPr>
          <a:xfrm rot="0">
            <a:off x="1144610" y="2918860"/>
            <a:ext cx="5515727"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Electrical Isolation</a:t>
            </a:r>
          </a:p>
        </p:txBody>
      </p:sp>
      <p:sp>
        <p:nvSpPr>
          <p:cNvPr name="TextBox 57" id="57"/>
          <p:cNvSpPr txBox="true"/>
          <p:nvPr/>
        </p:nvSpPr>
        <p:spPr>
          <a:xfrm rot="0">
            <a:off x="6038355" y="2918860"/>
            <a:ext cx="4696101"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No</a:t>
            </a:r>
          </a:p>
        </p:txBody>
      </p:sp>
      <p:sp>
        <p:nvSpPr>
          <p:cNvPr name="TextBox 58" id="58"/>
          <p:cNvSpPr txBox="true"/>
          <p:nvPr/>
        </p:nvSpPr>
        <p:spPr>
          <a:xfrm rot="0">
            <a:off x="10112483" y="2918860"/>
            <a:ext cx="4696101"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Yes</a:t>
            </a:r>
          </a:p>
        </p:txBody>
      </p:sp>
      <p:sp>
        <p:nvSpPr>
          <p:cNvPr name="TextBox 59" id="59"/>
          <p:cNvSpPr txBox="true"/>
          <p:nvPr/>
        </p:nvSpPr>
        <p:spPr>
          <a:xfrm rot="0">
            <a:off x="14186611" y="2918860"/>
            <a:ext cx="3886010"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No</a:t>
            </a:r>
          </a:p>
        </p:txBody>
      </p:sp>
      <p:sp>
        <p:nvSpPr>
          <p:cNvPr name="TextBox 60" id="60"/>
          <p:cNvSpPr txBox="true"/>
          <p:nvPr/>
        </p:nvSpPr>
        <p:spPr>
          <a:xfrm rot="0">
            <a:off x="1144610" y="3202600"/>
            <a:ext cx="5515727"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Latching Capability</a:t>
            </a:r>
          </a:p>
        </p:txBody>
      </p:sp>
      <p:sp>
        <p:nvSpPr>
          <p:cNvPr name="TextBox 61" id="61"/>
          <p:cNvSpPr txBox="true"/>
          <p:nvPr/>
        </p:nvSpPr>
        <p:spPr>
          <a:xfrm rot="0">
            <a:off x="6038355" y="3202600"/>
            <a:ext cx="4696101"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No</a:t>
            </a:r>
          </a:p>
        </p:txBody>
      </p:sp>
      <p:sp>
        <p:nvSpPr>
          <p:cNvPr name="TextBox 62" id="62"/>
          <p:cNvSpPr txBox="true"/>
          <p:nvPr/>
        </p:nvSpPr>
        <p:spPr>
          <a:xfrm rot="0">
            <a:off x="10112483" y="3202600"/>
            <a:ext cx="4696101"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No</a:t>
            </a:r>
          </a:p>
        </p:txBody>
      </p:sp>
      <p:sp>
        <p:nvSpPr>
          <p:cNvPr name="TextBox 63" id="63"/>
          <p:cNvSpPr txBox="true"/>
          <p:nvPr/>
        </p:nvSpPr>
        <p:spPr>
          <a:xfrm rot="0">
            <a:off x="14186611" y="3202600"/>
            <a:ext cx="3886010"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Yes</a:t>
            </a:r>
          </a:p>
        </p:txBody>
      </p:sp>
      <p:sp>
        <p:nvSpPr>
          <p:cNvPr name="TextBox 64" id="64"/>
          <p:cNvSpPr txBox="true"/>
          <p:nvPr/>
        </p:nvSpPr>
        <p:spPr>
          <a:xfrm rot="0">
            <a:off x="1144610" y="3486341"/>
            <a:ext cx="5515727"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Continuous Input Required</a:t>
            </a:r>
          </a:p>
        </p:txBody>
      </p:sp>
      <p:sp>
        <p:nvSpPr>
          <p:cNvPr name="TextBox 65" id="65"/>
          <p:cNvSpPr txBox="true"/>
          <p:nvPr/>
        </p:nvSpPr>
        <p:spPr>
          <a:xfrm rot="0">
            <a:off x="6038355" y="3486341"/>
            <a:ext cx="4696101"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Yes</a:t>
            </a:r>
          </a:p>
        </p:txBody>
      </p:sp>
      <p:sp>
        <p:nvSpPr>
          <p:cNvPr name="TextBox 66" id="66"/>
          <p:cNvSpPr txBox="true"/>
          <p:nvPr/>
        </p:nvSpPr>
        <p:spPr>
          <a:xfrm rot="0">
            <a:off x="10112483" y="3486341"/>
            <a:ext cx="4696101"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Yes</a:t>
            </a:r>
          </a:p>
        </p:txBody>
      </p:sp>
      <p:sp>
        <p:nvSpPr>
          <p:cNvPr name="TextBox 67" id="67"/>
          <p:cNvSpPr txBox="true"/>
          <p:nvPr/>
        </p:nvSpPr>
        <p:spPr>
          <a:xfrm rot="0">
            <a:off x="14186611" y="3486341"/>
            <a:ext cx="3886010"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No</a:t>
            </a:r>
          </a:p>
        </p:txBody>
      </p:sp>
      <p:sp>
        <p:nvSpPr>
          <p:cNvPr name="TextBox 68" id="68"/>
          <p:cNvSpPr txBox="true"/>
          <p:nvPr/>
        </p:nvSpPr>
        <p:spPr>
          <a:xfrm rot="0">
            <a:off x="1144610" y="3770071"/>
            <a:ext cx="5515727"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Controller Protection</a:t>
            </a:r>
          </a:p>
        </p:txBody>
      </p:sp>
      <p:sp>
        <p:nvSpPr>
          <p:cNvPr name="TextBox 69" id="69"/>
          <p:cNvSpPr txBox="true"/>
          <p:nvPr/>
        </p:nvSpPr>
        <p:spPr>
          <a:xfrm rot="0">
            <a:off x="6038355" y="3770071"/>
            <a:ext cx="4696101"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Moderate</a:t>
            </a:r>
          </a:p>
        </p:txBody>
      </p:sp>
      <p:sp>
        <p:nvSpPr>
          <p:cNvPr name="TextBox 70" id="70"/>
          <p:cNvSpPr txBox="true"/>
          <p:nvPr/>
        </p:nvSpPr>
        <p:spPr>
          <a:xfrm rot="0">
            <a:off x="10112483" y="3770071"/>
            <a:ext cx="4696101"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Excellent</a:t>
            </a:r>
          </a:p>
        </p:txBody>
      </p:sp>
      <p:sp>
        <p:nvSpPr>
          <p:cNvPr name="TextBox 71" id="71"/>
          <p:cNvSpPr txBox="true"/>
          <p:nvPr/>
        </p:nvSpPr>
        <p:spPr>
          <a:xfrm rot="0">
            <a:off x="14186611" y="3770071"/>
            <a:ext cx="3886010"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Good</a:t>
            </a:r>
          </a:p>
        </p:txBody>
      </p:sp>
      <p:sp>
        <p:nvSpPr>
          <p:cNvPr name="TextBox 72" id="72"/>
          <p:cNvSpPr txBox="true"/>
          <p:nvPr/>
        </p:nvSpPr>
        <p:spPr>
          <a:xfrm rot="0">
            <a:off x="1144610" y="4053811"/>
            <a:ext cx="5515727"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Noise Immunity</a:t>
            </a:r>
          </a:p>
        </p:txBody>
      </p:sp>
      <p:sp>
        <p:nvSpPr>
          <p:cNvPr name="TextBox 73" id="73"/>
          <p:cNvSpPr txBox="true"/>
          <p:nvPr/>
        </p:nvSpPr>
        <p:spPr>
          <a:xfrm rot="0">
            <a:off x="6038355" y="4053811"/>
            <a:ext cx="4696101"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Moderate</a:t>
            </a:r>
          </a:p>
        </p:txBody>
      </p:sp>
      <p:sp>
        <p:nvSpPr>
          <p:cNvPr name="TextBox 74" id="74"/>
          <p:cNvSpPr txBox="true"/>
          <p:nvPr/>
        </p:nvSpPr>
        <p:spPr>
          <a:xfrm rot="0">
            <a:off x="10112483" y="4053811"/>
            <a:ext cx="4696101"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High</a:t>
            </a:r>
          </a:p>
        </p:txBody>
      </p:sp>
      <p:sp>
        <p:nvSpPr>
          <p:cNvPr name="TextBox 75" id="75"/>
          <p:cNvSpPr txBox="true"/>
          <p:nvPr/>
        </p:nvSpPr>
        <p:spPr>
          <a:xfrm rot="0">
            <a:off x="14186611" y="4053811"/>
            <a:ext cx="3886010"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High</a:t>
            </a:r>
          </a:p>
        </p:txBody>
      </p:sp>
      <p:sp>
        <p:nvSpPr>
          <p:cNvPr name="TextBox 76" id="76"/>
          <p:cNvSpPr txBox="true"/>
          <p:nvPr/>
        </p:nvSpPr>
        <p:spPr>
          <a:xfrm rot="0">
            <a:off x="1144610" y="4337552"/>
            <a:ext cx="5515727"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Component Count</a:t>
            </a:r>
          </a:p>
        </p:txBody>
      </p:sp>
      <p:sp>
        <p:nvSpPr>
          <p:cNvPr name="TextBox 77" id="77"/>
          <p:cNvSpPr txBox="true"/>
          <p:nvPr/>
        </p:nvSpPr>
        <p:spPr>
          <a:xfrm rot="0">
            <a:off x="6038355" y="4337552"/>
            <a:ext cx="4696101"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Low</a:t>
            </a:r>
          </a:p>
        </p:txBody>
      </p:sp>
      <p:sp>
        <p:nvSpPr>
          <p:cNvPr name="TextBox 78" id="78"/>
          <p:cNvSpPr txBox="true"/>
          <p:nvPr/>
        </p:nvSpPr>
        <p:spPr>
          <a:xfrm rot="0">
            <a:off x="10112483" y="4337552"/>
            <a:ext cx="4696101"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Medium</a:t>
            </a:r>
          </a:p>
        </p:txBody>
      </p:sp>
      <p:sp>
        <p:nvSpPr>
          <p:cNvPr name="TextBox 79" id="79"/>
          <p:cNvSpPr txBox="true"/>
          <p:nvPr/>
        </p:nvSpPr>
        <p:spPr>
          <a:xfrm rot="0">
            <a:off x="14186611" y="4337552"/>
            <a:ext cx="3886010"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High</a:t>
            </a:r>
          </a:p>
        </p:txBody>
      </p:sp>
      <p:sp>
        <p:nvSpPr>
          <p:cNvPr name="TextBox 80" id="80"/>
          <p:cNvSpPr txBox="true"/>
          <p:nvPr/>
        </p:nvSpPr>
        <p:spPr>
          <a:xfrm rot="0">
            <a:off x="1144610" y="4621292"/>
            <a:ext cx="5515727"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Circuit Complexity</a:t>
            </a:r>
          </a:p>
        </p:txBody>
      </p:sp>
      <p:sp>
        <p:nvSpPr>
          <p:cNvPr name="TextBox 81" id="81"/>
          <p:cNvSpPr txBox="true"/>
          <p:nvPr/>
        </p:nvSpPr>
        <p:spPr>
          <a:xfrm rot="0">
            <a:off x="6038355" y="4621292"/>
            <a:ext cx="4696101"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Low</a:t>
            </a:r>
          </a:p>
        </p:txBody>
      </p:sp>
      <p:sp>
        <p:nvSpPr>
          <p:cNvPr name="TextBox 82" id="82"/>
          <p:cNvSpPr txBox="true"/>
          <p:nvPr/>
        </p:nvSpPr>
        <p:spPr>
          <a:xfrm rot="0">
            <a:off x="10112483" y="4621292"/>
            <a:ext cx="4696101"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Medium</a:t>
            </a:r>
          </a:p>
        </p:txBody>
      </p:sp>
      <p:sp>
        <p:nvSpPr>
          <p:cNvPr name="TextBox 83" id="83"/>
          <p:cNvSpPr txBox="true"/>
          <p:nvPr/>
        </p:nvSpPr>
        <p:spPr>
          <a:xfrm rot="0">
            <a:off x="14186611" y="4621292"/>
            <a:ext cx="3886010"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High</a:t>
            </a:r>
          </a:p>
        </p:txBody>
      </p:sp>
      <p:sp>
        <p:nvSpPr>
          <p:cNvPr name="TextBox 84" id="84"/>
          <p:cNvSpPr txBox="true"/>
          <p:nvPr/>
        </p:nvSpPr>
        <p:spPr>
          <a:xfrm rot="0">
            <a:off x="1144610" y="4905032"/>
            <a:ext cx="5515727"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Industrial Suitability</a:t>
            </a:r>
          </a:p>
        </p:txBody>
      </p:sp>
      <p:sp>
        <p:nvSpPr>
          <p:cNvPr name="TextBox 85" id="85"/>
          <p:cNvSpPr txBox="true"/>
          <p:nvPr/>
        </p:nvSpPr>
        <p:spPr>
          <a:xfrm rot="0">
            <a:off x="6038355" y="4905032"/>
            <a:ext cx="4696101"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Good</a:t>
            </a:r>
          </a:p>
        </p:txBody>
      </p:sp>
      <p:sp>
        <p:nvSpPr>
          <p:cNvPr name="TextBox 86" id="86"/>
          <p:cNvSpPr txBox="true"/>
          <p:nvPr/>
        </p:nvSpPr>
        <p:spPr>
          <a:xfrm rot="0">
            <a:off x="10112483" y="4905032"/>
            <a:ext cx="4696101"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Very Good</a:t>
            </a:r>
          </a:p>
        </p:txBody>
      </p:sp>
      <p:sp>
        <p:nvSpPr>
          <p:cNvPr name="TextBox 87" id="87"/>
          <p:cNvSpPr txBox="true"/>
          <p:nvPr/>
        </p:nvSpPr>
        <p:spPr>
          <a:xfrm rot="0">
            <a:off x="14186611" y="4905032"/>
            <a:ext cx="3886010"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Excellent</a:t>
            </a:r>
          </a:p>
        </p:txBody>
      </p:sp>
      <p:sp>
        <p:nvSpPr>
          <p:cNvPr name="TextBox 88" id="88"/>
          <p:cNvSpPr txBox="true"/>
          <p:nvPr/>
        </p:nvSpPr>
        <p:spPr>
          <a:xfrm rot="0">
            <a:off x="992991" y="5205031"/>
            <a:ext cx="16315868" cy="383210"/>
          </a:xfrm>
          <a:prstGeom prst="rect">
            <a:avLst/>
          </a:prstGeom>
        </p:spPr>
        <p:txBody>
          <a:bodyPr anchor="t" rtlCol="false" tIns="0" lIns="0" bIns="0" rIns="0">
            <a:spAutoFit/>
          </a:bodyPr>
          <a:lstStyle/>
          <a:p>
            <a:pPr algn="l">
              <a:lnSpc>
                <a:spcPts val="2716"/>
              </a:lnSpc>
            </a:pPr>
            <a:r>
              <a:rPr lang="en-US" sz="2176">
                <a:solidFill>
                  <a:srgbClr val="152D47"/>
                </a:solidFill>
                <a:latin typeface="Crimson Pro"/>
                <a:ea typeface="Crimson Pro"/>
                <a:cs typeface="Crimson Pro"/>
                <a:sym typeface="Crimson Pro"/>
              </a:rPr>
              <a:t>Conclusion</a:t>
            </a:r>
          </a:p>
        </p:txBody>
      </p:sp>
      <p:sp>
        <p:nvSpPr>
          <p:cNvPr name="TextBox 89" id="89"/>
          <p:cNvSpPr txBox="true"/>
          <p:nvPr/>
        </p:nvSpPr>
        <p:spPr>
          <a:xfrm rot="0">
            <a:off x="992991" y="5704122"/>
            <a:ext cx="16315868" cy="142123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The three PMOS high-side driver circuits demonstrate a progressive enhancement in functionality and capability.</a:t>
            </a:r>
          </a:p>
          <a:p>
            <a:pPr algn="l">
              <a:lnSpc>
                <a:spcPts val="1260"/>
              </a:lnSpc>
            </a:pPr>
            <a:r>
              <a:rPr lang="en-US" sz="1050" b="true">
                <a:solidFill>
                  <a:srgbClr val="4C4C4D"/>
                </a:solidFill>
                <a:latin typeface="Heebo Bold"/>
                <a:ea typeface="Heebo Bold"/>
                <a:cs typeface="Heebo Bold"/>
                <a:sym typeface="Heebo Bold"/>
              </a:rPr>
              <a:t>Circuit 1 (General PMOS–NMOS Driver)</a:t>
            </a:r>
            <a:r>
              <a:rPr lang="en-US" sz="1050">
                <a:solidFill>
                  <a:srgbClr val="4C4C4D"/>
                </a:solidFill>
                <a:latin typeface="Heebo"/>
                <a:ea typeface="Heebo"/>
                <a:cs typeface="Heebo"/>
                <a:sym typeface="Heebo"/>
              </a:rPr>
              <a:t> provides a simple and economical solution for basic high-side switching applications. It offers direct 3.3 V microcontroller interface with minimal component count and low cost, making it suitable for non-critical applications with moderate noise environments.</a:t>
            </a:r>
          </a:p>
          <a:p>
            <a:pPr algn="l">
              <a:lnSpc>
                <a:spcPts val="1260"/>
              </a:lnSpc>
            </a:pPr>
            <a:r>
              <a:rPr lang="en-US" sz="1050" b="true">
                <a:solidFill>
                  <a:srgbClr val="4C4C4D"/>
                </a:solidFill>
                <a:latin typeface="Heebo Bold"/>
                <a:ea typeface="Heebo Bold"/>
                <a:cs typeface="Heebo Bold"/>
                <a:sym typeface="Heebo Bold"/>
              </a:rPr>
              <a:t>Circuit 2 (Optocoupler-Based Driver)</a:t>
            </a:r>
            <a:r>
              <a:rPr lang="en-US" sz="1050">
                <a:solidFill>
                  <a:srgbClr val="4C4C4D"/>
                </a:solidFill>
                <a:latin typeface="Heebo"/>
                <a:ea typeface="Heebo"/>
                <a:cs typeface="Heebo"/>
                <a:sym typeface="Heebo"/>
              </a:rPr>
              <a:t> improves safety and reliability by introducing galvanic isolation between the low-voltage control circuit and the high-voltage power stage. The PC817 optocoupler provides excellent noise immunity and protects the microcontroller from switching transients and EMI, making it ideal for industrial environments with significant electrical noise.</a:t>
            </a:r>
          </a:p>
          <a:p>
            <a:pPr algn="l">
              <a:lnSpc>
                <a:spcPts val="1260"/>
              </a:lnSpc>
            </a:pPr>
            <a:r>
              <a:rPr lang="en-US" sz="1050" b="true">
                <a:solidFill>
                  <a:srgbClr val="4C4C4D"/>
                </a:solidFill>
                <a:latin typeface="Heebo Bold"/>
                <a:ea typeface="Heebo Bold"/>
                <a:cs typeface="Heebo Bold"/>
                <a:sym typeface="Heebo Bold"/>
              </a:rPr>
              <a:t>Circuit 3 (Transistor-Based Latching Driver)</a:t>
            </a:r>
            <a:r>
              <a:rPr lang="en-US" sz="1050">
                <a:solidFill>
                  <a:srgbClr val="4C4C4D"/>
                </a:solidFill>
                <a:latin typeface="Heebo"/>
                <a:ea typeface="Heebo"/>
                <a:cs typeface="Heebo"/>
                <a:sym typeface="Heebo"/>
              </a:rPr>
              <a:t> extends the design by adding SET–RESET memory functionality, allowing the PMOS to remain ON after a short SET pulse without requiring continuous controller intervention. This eliminates the need for continuous drive signals, significantly reducing controller workload and power consumption.</a:t>
            </a:r>
          </a:p>
        </p:txBody>
      </p:sp>
      <p:sp>
        <p:nvSpPr>
          <p:cNvPr name="TextBox 90" id="90"/>
          <p:cNvSpPr txBox="true"/>
          <p:nvPr/>
        </p:nvSpPr>
        <p:spPr>
          <a:xfrm rot="0">
            <a:off x="992991" y="7203129"/>
            <a:ext cx="16315868" cy="383210"/>
          </a:xfrm>
          <a:prstGeom prst="rect">
            <a:avLst/>
          </a:prstGeom>
        </p:spPr>
        <p:txBody>
          <a:bodyPr anchor="t" rtlCol="false" tIns="0" lIns="0" bIns="0" rIns="0">
            <a:spAutoFit/>
          </a:bodyPr>
          <a:lstStyle/>
          <a:p>
            <a:pPr algn="l">
              <a:lnSpc>
                <a:spcPts val="2716"/>
              </a:lnSpc>
            </a:pPr>
            <a:r>
              <a:rPr lang="en-US" sz="2176">
                <a:solidFill>
                  <a:srgbClr val="152D47"/>
                </a:solidFill>
                <a:latin typeface="Crimson Pro"/>
                <a:ea typeface="Crimson Pro"/>
                <a:cs typeface="Crimson Pro"/>
                <a:sym typeface="Crimson Pro"/>
              </a:rPr>
              <a:t>Design Verification Summary</a:t>
            </a:r>
          </a:p>
        </p:txBody>
      </p:sp>
      <p:sp>
        <p:nvSpPr>
          <p:cNvPr name="TextBox 91" id="91"/>
          <p:cNvSpPr txBox="true"/>
          <p:nvPr/>
        </p:nvSpPr>
        <p:spPr>
          <a:xfrm rot="0">
            <a:off x="992991" y="7702210"/>
            <a:ext cx="16315868" cy="940594"/>
          </a:xfrm>
          <a:prstGeom prst="rect">
            <a:avLst/>
          </a:prstGeom>
        </p:spPr>
        <p:txBody>
          <a:bodyPr anchor="t" rtlCol="false" tIns="0" lIns="0" bIns="0" rIns="0">
            <a:spAutoFit/>
          </a:bodyPr>
          <a:lstStyle/>
          <a:p>
            <a:pPr algn="l" marL="190321" indent="-95161" lvl="1">
              <a:lnSpc>
                <a:spcPts val="1260"/>
              </a:lnSpc>
              <a:buFont typeface="Arial"/>
              <a:buChar char="•"/>
            </a:pPr>
            <a:r>
              <a:rPr lang="en-US" sz="1050">
                <a:solidFill>
                  <a:srgbClr val="4C4C4D"/>
                </a:solidFill>
                <a:latin typeface="Heebo"/>
                <a:ea typeface="Heebo"/>
                <a:cs typeface="Heebo"/>
                <a:sym typeface="Heebo"/>
              </a:rPr>
              <a:t>Selected resistor values satisfy the PMOS OFF condition across the entire supply range</a:t>
            </a:r>
          </a:p>
          <a:p>
            <a:pPr algn="l" marL="190321" indent="-95161" lvl="1">
              <a:lnSpc>
                <a:spcPts val="1260"/>
              </a:lnSpc>
              <a:buFont typeface="Arial"/>
              <a:buChar char="•"/>
            </a:pPr>
            <a:r>
              <a:rPr lang="en-US" sz="1050">
                <a:solidFill>
                  <a:srgbClr val="4C4C4D"/>
                </a:solidFill>
                <a:latin typeface="Heebo"/>
                <a:ea typeface="Heebo"/>
                <a:cs typeface="Heebo"/>
                <a:sym typeface="Heebo"/>
              </a:rPr>
              <a:t>All transistors (Q1, Q2, Q3) achieve reliable saturation at both 5 V and 100 V supply voltages</a:t>
            </a:r>
          </a:p>
          <a:p>
            <a:pPr algn="l" marL="190321" indent="-95161" lvl="1">
              <a:lnSpc>
                <a:spcPts val="1260"/>
              </a:lnSpc>
              <a:buFont typeface="Arial"/>
              <a:buChar char="•"/>
            </a:pPr>
            <a:r>
              <a:rPr lang="en-US" sz="1050">
                <a:solidFill>
                  <a:srgbClr val="4C4C4D"/>
                </a:solidFill>
                <a:latin typeface="Heebo"/>
                <a:ea typeface="Heebo"/>
                <a:cs typeface="Heebo"/>
                <a:sym typeface="Heebo"/>
              </a:rPr>
              <a:t>All component power dissipations remain within safe limits</a:t>
            </a:r>
          </a:p>
          <a:p>
            <a:pPr algn="l" marL="190321" indent="-95161" lvl="1">
              <a:lnSpc>
                <a:spcPts val="1260"/>
              </a:lnSpc>
              <a:buFont typeface="Arial"/>
              <a:buChar char="•"/>
            </a:pPr>
            <a:r>
              <a:rPr lang="en-US" sz="1050">
                <a:solidFill>
                  <a:srgbClr val="4C4C4D"/>
                </a:solidFill>
                <a:latin typeface="Heebo"/>
                <a:ea typeface="Heebo"/>
                <a:cs typeface="Heebo"/>
                <a:sym typeface="Heebo"/>
              </a:rPr>
              <a:t>The Zener diode provides effective gate protection (14.8 mW at 100 V)</a:t>
            </a:r>
          </a:p>
          <a:p>
            <a:pPr algn="l" marL="190321" indent="-95161" lvl="1">
              <a:lnSpc>
                <a:spcPts val="1260"/>
              </a:lnSpc>
              <a:buFont typeface="Arial"/>
              <a:buChar char="•"/>
            </a:pPr>
            <a:r>
              <a:rPr lang="en-US" sz="1050">
                <a:solidFill>
                  <a:srgbClr val="4C4C4D"/>
                </a:solidFill>
                <a:latin typeface="Heebo"/>
                <a:ea typeface="Heebo"/>
                <a:cs typeface="Heebo"/>
                <a:sym typeface="Heebo"/>
              </a:rPr>
              <a:t>The circuit operates reliably from 5 V to 100 V supply range</a:t>
            </a:r>
          </a:p>
        </p:txBody>
      </p:sp>
      <p:sp>
        <p:nvSpPr>
          <p:cNvPr name="TextBox 92" id="92"/>
          <p:cNvSpPr txBox="true"/>
          <p:nvPr/>
        </p:nvSpPr>
        <p:spPr>
          <a:xfrm rot="0">
            <a:off x="992991" y="8720576"/>
            <a:ext cx="16315868" cy="383210"/>
          </a:xfrm>
          <a:prstGeom prst="rect">
            <a:avLst/>
          </a:prstGeom>
        </p:spPr>
        <p:txBody>
          <a:bodyPr anchor="t" rtlCol="false" tIns="0" lIns="0" bIns="0" rIns="0">
            <a:spAutoFit/>
          </a:bodyPr>
          <a:lstStyle/>
          <a:p>
            <a:pPr algn="l">
              <a:lnSpc>
                <a:spcPts val="2716"/>
              </a:lnSpc>
            </a:pPr>
            <a:r>
              <a:rPr lang="en-US" sz="2176">
                <a:solidFill>
                  <a:srgbClr val="152D47"/>
                </a:solidFill>
                <a:latin typeface="Crimson Pro"/>
                <a:ea typeface="Crimson Pro"/>
                <a:cs typeface="Crimson Pro"/>
                <a:sym typeface="Crimson Pro"/>
              </a:rPr>
              <a:t>Selection Criteria</a:t>
            </a:r>
          </a:p>
        </p:txBody>
      </p:sp>
      <p:sp>
        <p:nvSpPr>
          <p:cNvPr name="TextBox 93" id="93"/>
          <p:cNvSpPr txBox="true"/>
          <p:nvPr/>
        </p:nvSpPr>
        <p:spPr>
          <a:xfrm rot="0">
            <a:off x="992991" y="9219657"/>
            <a:ext cx="16315868" cy="550659"/>
          </a:xfrm>
          <a:prstGeom prst="rect">
            <a:avLst/>
          </a:prstGeom>
        </p:spPr>
        <p:txBody>
          <a:bodyPr anchor="t" rtlCol="false" tIns="0" lIns="0" bIns="0" rIns="0">
            <a:spAutoFit/>
          </a:bodyPr>
          <a:lstStyle/>
          <a:p>
            <a:pPr algn="l" marL="190321" indent="-95161" lvl="1">
              <a:lnSpc>
                <a:spcPts val="1260"/>
              </a:lnSpc>
              <a:buFont typeface="Arial"/>
              <a:buChar char="•"/>
            </a:pPr>
            <a:r>
              <a:rPr lang="en-US" b="true" sz="1050">
                <a:solidFill>
                  <a:srgbClr val="4C4C4D"/>
                </a:solidFill>
                <a:latin typeface="Heebo Bold"/>
                <a:ea typeface="Heebo Bold"/>
                <a:cs typeface="Heebo Bold"/>
                <a:sym typeface="Heebo Bold"/>
              </a:rPr>
              <a:t>Choose Circuit 1</a:t>
            </a:r>
            <a:r>
              <a:rPr lang="en-US" sz="1050">
                <a:solidFill>
                  <a:srgbClr val="4C4C4D"/>
                </a:solidFill>
                <a:latin typeface="Heebo"/>
                <a:ea typeface="Heebo"/>
                <a:cs typeface="Heebo"/>
                <a:sym typeface="Heebo"/>
              </a:rPr>
              <a:t> for cost-sensitive, non-critical applications with low EMI</a:t>
            </a:r>
          </a:p>
          <a:p>
            <a:pPr algn="l" marL="190321" indent="-95161" lvl="1">
              <a:lnSpc>
                <a:spcPts val="1260"/>
              </a:lnSpc>
              <a:buFont typeface="Arial"/>
              <a:buChar char="•"/>
            </a:pPr>
            <a:r>
              <a:rPr lang="en-US" b="true" sz="1050">
                <a:solidFill>
                  <a:srgbClr val="4C4C4D"/>
                </a:solidFill>
                <a:latin typeface="Heebo Bold"/>
                <a:ea typeface="Heebo Bold"/>
                <a:cs typeface="Heebo Bold"/>
                <a:sym typeface="Heebo Bold"/>
              </a:rPr>
              <a:t>Choose Circuit 2</a:t>
            </a:r>
            <a:r>
              <a:rPr lang="en-US" sz="1050">
                <a:solidFill>
                  <a:srgbClr val="4C4C4D"/>
                </a:solidFill>
                <a:latin typeface="Heebo"/>
                <a:ea typeface="Heebo"/>
                <a:cs typeface="Heebo"/>
                <a:sym typeface="Heebo"/>
              </a:rPr>
              <a:t> for industrial environments requiring galvanic isolation and high noise immunity</a:t>
            </a:r>
          </a:p>
          <a:p>
            <a:pPr algn="l" marL="190321" indent="-95161" lvl="1">
              <a:lnSpc>
                <a:spcPts val="1260"/>
              </a:lnSpc>
              <a:buFont typeface="Arial"/>
              <a:buChar char="•"/>
            </a:pPr>
            <a:r>
              <a:rPr lang="en-US" b="true" sz="1050">
                <a:solidFill>
                  <a:srgbClr val="4C4C4D"/>
                </a:solidFill>
                <a:latin typeface="Heebo Bold"/>
                <a:ea typeface="Heebo Bold"/>
                <a:cs typeface="Heebo Bold"/>
                <a:sym typeface="Heebo Bold"/>
              </a:rPr>
              <a:t>Choose Circuit 3</a:t>
            </a:r>
            <a:r>
              <a:rPr lang="en-US" sz="1050">
                <a:solidFill>
                  <a:srgbClr val="4C4C4D"/>
                </a:solidFill>
                <a:latin typeface="Heebo"/>
                <a:ea typeface="Heebo"/>
                <a:cs typeface="Heebo"/>
                <a:sym typeface="Heebo"/>
              </a:rPr>
              <a:t> for automation systems requiring memory-based switching and minimal controller workload</a:t>
            </a:r>
          </a:p>
        </p:txBody>
      </p:sp>
      <p:sp>
        <p:nvSpPr>
          <p:cNvPr name="TextBox 94" id="94"/>
          <p:cNvSpPr txBox="true"/>
          <p:nvPr/>
        </p:nvSpPr>
        <p:spPr>
          <a:xfrm rot="0">
            <a:off x="992991" y="9848088"/>
            <a:ext cx="16315868" cy="383210"/>
          </a:xfrm>
          <a:prstGeom prst="rect">
            <a:avLst/>
          </a:prstGeom>
        </p:spPr>
        <p:txBody>
          <a:bodyPr anchor="t" rtlCol="false" tIns="0" lIns="0" bIns="0" rIns="0">
            <a:spAutoFit/>
          </a:bodyPr>
          <a:lstStyle/>
          <a:p>
            <a:pPr algn="l">
              <a:lnSpc>
                <a:spcPts val="2716"/>
              </a:lnSpc>
            </a:pPr>
            <a:r>
              <a:rPr lang="en-US" sz="2176">
                <a:solidFill>
                  <a:srgbClr val="152D47"/>
                </a:solidFill>
                <a:latin typeface="Crimson Pro"/>
                <a:ea typeface="Crimson Pro"/>
                <a:cs typeface="Crimson Pro"/>
                <a:sym typeface="Crimson Pro"/>
              </a:rPr>
              <a:t>Final Recommendation</a:t>
            </a:r>
          </a:p>
        </p:txBody>
      </p:sp>
      <p:sp>
        <p:nvSpPr>
          <p:cNvPr name="TextBox 95" id="95"/>
          <p:cNvSpPr txBox="true"/>
          <p:nvPr/>
        </p:nvSpPr>
        <p:spPr>
          <a:xfrm rot="0">
            <a:off x="992991" y="10347169"/>
            <a:ext cx="16315868" cy="33096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The transistor-based latching driver (Circuit 3) is the most suitable solution for modern industrial automation and intelligent power switching applications. It combines the benefits of all three designs: simple implementation, reliable operation, memory-based control, and excellent performance across the entire 5–100 V supply range. This makes it the preferred choice for mission-critical applications in industrial control, renewable energy systems, electric vehicle charging, and safety-critical switching scenarios.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0F0F1"/>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6" id="6"/>
          <p:cNvGrpSpPr/>
          <p:nvPr/>
        </p:nvGrpSpPr>
        <p:grpSpPr>
          <a:xfrm rot="0">
            <a:off x="16628307" y="9846183"/>
            <a:ext cx="1609020" cy="384353"/>
            <a:chOff x="0" y="0"/>
            <a:chExt cx="2145360" cy="512470"/>
          </a:xfrm>
        </p:grpSpPr>
        <p:sp>
          <p:nvSpPr>
            <p:cNvPr name="Freeform 7" id="7" descr="preencoded.png">
              <a:hlinkClick r:id="rId3" tooltip="https://gamma.app/?utm_source=made-with-gamma"/>
            </p:cNvPr>
            <p:cNvSpPr/>
            <p:nvPr/>
          </p:nvSpPr>
          <p:spPr>
            <a:xfrm flipH="false" flipV="false" rot="0">
              <a:off x="0" y="0"/>
              <a:ext cx="2145411" cy="512445"/>
            </a:xfrm>
            <a:custGeom>
              <a:avLst/>
              <a:gdLst/>
              <a:ahLst/>
              <a:cxnLst/>
              <a:rect r="r" b="b" t="t" l="l"/>
              <a:pathLst>
                <a:path h="512445" w="2145411">
                  <a:moveTo>
                    <a:pt x="0" y="0"/>
                  </a:moveTo>
                  <a:lnTo>
                    <a:pt x="2145411" y="0"/>
                  </a:lnTo>
                  <a:lnTo>
                    <a:pt x="2145411" y="512445"/>
                  </a:lnTo>
                  <a:lnTo>
                    <a:pt x="0" y="512445"/>
                  </a:lnTo>
                  <a:lnTo>
                    <a:pt x="0" y="0"/>
                  </a:lnTo>
                  <a:close/>
                </a:path>
              </a:pathLst>
            </a:custGeom>
            <a:blipFill>
              <a:blip r:embed="rId4"/>
              <a:stretch>
                <a:fillRect l="0" t="0" r="2" b="-4"/>
              </a:stretch>
            </a:blipFill>
          </p:spPr>
        </p:sp>
      </p:grpSp>
      <p:sp>
        <p:nvSpPr>
          <p:cNvPr name="TextBox 8" id="8"/>
          <p:cNvSpPr txBox="true"/>
          <p:nvPr/>
        </p:nvSpPr>
        <p:spPr>
          <a:xfrm rot="0">
            <a:off x="992991" y="845429"/>
            <a:ext cx="16315868" cy="596503"/>
          </a:xfrm>
          <a:prstGeom prst="rect">
            <a:avLst/>
          </a:prstGeom>
        </p:spPr>
        <p:txBody>
          <a:bodyPr anchor="t" rtlCol="false" tIns="0" lIns="0" bIns="0" rIns="0">
            <a:spAutoFit/>
          </a:bodyPr>
          <a:lstStyle/>
          <a:p>
            <a:pPr algn="l">
              <a:lnSpc>
                <a:spcPts val="4402"/>
              </a:lnSpc>
            </a:pPr>
            <a:r>
              <a:rPr lang="en-US" sz="3527">
                <a:solidFill>
                  <a:srgbClr val="152D47"/>
                </a:solidFill>
                <a:latin typeface="Crimson Pro"/>
                <a:ea typeface="Crimson Pro"/>
                <a:cs typeface="Crimson Pro"/>
                <a:sym typeface="Crimson Pro"/>
              </a:rPr>
              <a:t>Electronic Switch Matrix Overview &amp; Objectives</a:t>
            </a:r>
          </a:p>
        </p:txBody>
      </p:sp>
      <p:sp>
        <p:nvSpPr>
          <p:cNvPr name="TextBox 9" id="9"/>
          <p:cNvSpPr txBox="true"/>
          <p:nvPr/>
        </p:nvSpPr>
        <p:spPr>
          <a:xfrm rot="0">
            <a:off x="992991" y="1469355"/>
            <a:ext cx="16315868" cy="473478"/>
          </a:xfrm>
          <a:prstGeom prst="rect">
            <a:avLst/>
          </a:prstGeom>
        </p:spPr>
        <p:txBody>
          <a:bodyPr anchor="t" rtlCol="false" tIns="0" lIns="0" bIns="0" rIns="0">
            <a:spAutoFit/>
          </a:bodyPr>
          <a:lstStyle/>
          <a:p>
            <a:pPr algn="l">
              <a:lnSpc>
                <a:spcPts val="3559"/>
              </a:lnSpc>
            </a:pPr>
            <a:r>
              <a:rPr lang="en-US" sz="2852">
                <a:solidFill>
                  <a:srgbClr val="152D47"/>
                </a:solidFill>
                <a:latin typeface="Crimson Pro"/>
                <a:ea typeface="Crimson Pro"/>
                <a:cs typeface="Crimson Pro"/>
                <a:sym typeface="Crimson Pro"/>
              </a:rPr>
              <a:t>Problem vs Solution</a:t>
            </a:r>
          </a:p>
        </p:txBody>
      </p:sp>
      <p:sp>
        <p:nvSpPr>
          <p:cNvPr name="TextBox 10" id="10"/>
          <p:cNvSpPr txBox="true"/>
          <p:nvPr/>
        </p:nvSpPr>
        <p:spPr>
          <a:xfrm rot="0">
            <a:off x="992991" y="2205142"/>
            <a:ext cx="7936306" cy="369360"/>
          </a:xfrm>
          <a:prstGeom prst="rect">
            <a:avLst/>
          </a:prstGeom>
        </p:spPr>
        <p:txBody>
          <a:bodyPr anchor="t" rtlCol="false" tIns="0" lIns="0" bIns="0" rIns="0">
            <a:spAutoFit/>
          </a:bodyPr>
          <a:lstStyle/>
          <a:p>
            <a:pPr algn="l">
              <a:lnSpc>
                <a:spcPts val="2622"/>
              </a:lnSpc>
            </a:pPr>
            <a:r>
              <a:rPr lang="en-US" sz="2101">
                <a:solidFill>
                  <a:srgbClr val="152D47"/>
                </a:solidFill>
                <a:latin typeface="Crimson Pro"/>
                <a:ea typeface="Crimson Pro"/>
                <a:cs typeface="Crimson Pro"/>
                <a:sym typeface="Crimson Pro"/>
              </a:rPr>
              <a:t>Problem: Relay Based</a:t>
            </a:r>
          </a:p>
        </p:txBody>
      </p:sp>
      <p:sp>
        <p:nvSpPr>
          <p:cNvPr name="TextBox 11" id="11"/>
          <p:cNvSpPr txBox="true"/>
          <p:nvPr/>
        </p:nvSpPr>
        <p:spPr>
          <a:xfrm rot="0">
            <a:off x="992991" y="2671782"/>
            <a:ext cx="7936306" cy="1133008"/>
          </a:xfrm>
          <a:prstGeom prst="rect">
            <a:avLst/>
          </a:prstGeom>
        </p:spPr>
        <p:txBody>
          <a:bodyPr anchor="t" rtlCol="false" tIns="0" lIns="0" bIns="0" rIns="0">
            <a:spAutoFit/>
          </a:bodyPr>
          <a:lstStyle/>
          <a:p>
            <a:pPr algn="l" marL="258293" indent="-129146" lvl="1">
              <a:lnSpc>
                <a:spcPts val="1865"/>
              </a:lnSpc>
              <a:buFont typeface="Arial"/>
              <a:buChar char="•"/>
            </a:pPr>
            <a:r>
              <a:rPr lang="en-US" sz="1426">
                <a:solidFill>
                  <a:srgbClr val="000000"/>
                </a:solidFill>
                <a:latin typeface="Heebo"/>
                <a:ea typeface="Heebo"/>
                <a:cs typeface="Heebo"/>
                <a:sym typeface="Heebo"/>
              </a:rPr>
              <a:t>❌</a:t>
            </a:r>
            <a:r>
              <a:rPr lang="en-US" sz="1426">
                <a:solidFill>
                  <a:srgbClr val="4C4C4D"/>
                </a:solidFill>
                <a:latin typeface="Heebo"/>
                <a:ea typeface="Heebo"/>
                <a:cs typeface="Heebo"/>
                <a:sym typeface="Heebo"/>
              </a:rPr>
              <a:t> Large Wiring</a:t>
            </a:r>
          </a:p>
          <a:p>
            <a:pPr algn="l" marL="258293" indent="-129146" lvl="1">
              <a:lnSpc>
                <a:spcPts val="1865"/>
              </a:lnSpc>
              <a:buFont typeface="Arial"/>
              <a:buChar char="•"/>
            </a:pPr>
            <a:r>
              <a:rPr lang="en-US" sz="1426">
                <a:solidFill>
                  <a:srgbClr val="000000"/>
                </a:solidFill>
                <a:latin typeface="Heebo"/>
                <a:ea typeface="Heebo"/>
                <a:cs typeface="Heebo"/>
                <a:sym typeface="Heebo"/>
              </a:rPr>
              <a:t>❌</a:t>
            </a:r>
            <a:r>
              <a:rPr lang="en-US" sz="1426">
                <a:solidFill>
                  <a:srgbClr val="4C4C4D"/>
                </a:solidFill>
                <a:latin typeface="Heebo"/>
                <a:ea typeface="Heebo"/>
                <a:cs typeface="Heebo"/>
                <a:sym typeface="Heebo"/>
              </a:rPr>
              <a:t> Manual Operation</a:t>
            </a:r>
          </a:p>
          <a:p>
            <a:pPr algn="l" marL="258293" indent="-129146" lvl="1">
              <a:lnSpc>
                <a:spcPts val="1865"/>
              </a:lnSpc>
              <a:buFont typeface="Arial"/>
              <a:buChar char="•"/>
            </a:pPr>
            <a:r>
              <a:rPr lang="en-US" sz="1426">
                <a:solidFill>
                  <a:srgbClr val="000000"/>
                </a:solidFill>
                <a:latin typeface="Heebo"/>
                <a:ea typeface="Heebo"/>
                <a:cs typeface="Heebo"/>
                <a:sym typeface="Heebo"/>
              </a:rPr>
              <a:t>❌</a:t>
            </a:r>
            <a:r>
              <a:rPr lang="en-US" sz="1426">
                <a:solidFill>
                  <a:srgbClr val="4C4C4D"/>
                </a:solidFill>
                <a:latin typeface="Heebo"/>
                <a:ea typeface="Heebo"/>
                <a:cs typeface="Heebo"/>
                <a:sym typeface="Heebo"/>
              </a:rPr>
              <a:t> Slow Switching</a:t>
            </a:r>
          </a:p>
          <a:p>
            <a:pPr algn="l" marL="258293" indent="-129146" lvl="1">
              <a:lnSpc>
                <a:spcPts val="1865"/>
              </a:lnSpc>
              <a:buFont typeface="Arial"/>
              <a:buChar char="•"/>
            </a:pPr>
            <a:r>
              <a:rPr lang="en-US" sz="1426">
                <a:solidFill>
                  <a:srgbClr val="000000"/>
                </a:solidFill>
                <a:latin typeface="Heebo"/>
                <a:ea typeface="Heebo"/>
                <a:cs typeface="Heebo"/>
                <a:sym typeface="Heebo"/>
              </a:rPr>
              <a:t>❌</a:t>
            </a:r>
            <a:r>
              <a:rPr lang="en-US" sz="1426">
                <a:solidFill>
                  <a:srgbClr val="4C4C4D"/>
                </a:solidFill>
                <a:latin typeface="Heebo"/>
                <a:ea typeface="Heebo"/>
                <a:cs typeface="Heebo"/>
                <a:sym typeface="Heebo"/>
              </a:rPr>
              <a:t> Limited Expansion</a:t>
            </a:r>
          </a:p>
        </p:txBody>
      </p:sp>
      <p:sp>
        <p:nvSpPr>
          <p:cNvPr name="TextBox 12" id="12"/>
          <p:cNvSpPr txBox="true"/>
          <p:nvPr/>
        </p:nvSpPr>
        <p:spPr>
          <a:xfrm rot="0">
            <a:off x="9382077" y="2205142"/>
            <a:ext cx="7936306" cy="369360"/>
          </a:xfrm>
          <a:prstGeom prst="rect">
            <a:avLst/>
          </a:prstGeom>
        </p:spPr>
        <p:txBody>
          <a:bodyPr anchor="t" rtlCol="false" tIns="0" lIns="0" bIns="0" rIns="0">
            <a:spAutoFit/>
          </a:bodyPr>
          <a:lstStyle/>
          <a:p>
            <a:pPr algn="l">
              <a:lnSpc>
                <a:spcPts val="2622"/>
              </a:lnSpc>
            </a:pPr>
            <a:r>
              <a:rPr lang="en-US" sz="2101">
                <a:solidFill>
                  <a:srgbClr val="152D47"/>
                </a:solidFill>
                <a:latin typeface="Crimson Pro"/>
                <a:ea typeface="Crimson Pro"/>
                <a:cs typeface="Crimson Pro"/>
                <a:sym typeface="Crimson Pro"/>
              </a:rPr>
              <a:t>Solution: Ethernet Based</a:t>
            </a:r>
          </a:p>
        </p:txBody>
      </p:sp>
      <p:sp>
        <p:nvSpPr>
          <p:cNvPr name="TextBox 13" id="13"/>
          <p:cNvSpPr txBox="true"/>
          <p:nvPr/>
        </p:nvSpPr>
        <p:spPr>
          <a:xfrm rot="0">
            <a:off x="9382077" y="2671782"/>
            <a:ext cx="7936306" cy="1133008"/>
          </a:xfrm>
          <a:prstGeom prst="rect">
            <a:avLst/>
          </a:prstGeom>
        </p:spPr>
        <p:txBody>
          <a:bodyPr anchor="t" rtlCol="false" tIns="0" lIns="0" bIns="0" rIns="0">
            <a:spAutoFit/>
          </a:bodyPr>
          <a:lstStyle/>
          <a:p>
            <a:pPr algn="l" marL="258293" indent="-129146" lvl="1">
              <a:lnSpc>
                <a:spcPts val="1865"/>
              </a:lnSpc>
              <a:buFont typeface="Arial"/>
              <a:buChar char="•"/>
            </a:pPr>
            <a:r>
              <a:rPr lang="en-US" sz="1426">
                <a:solidFill>
                  <a:srgbClr val="000000"/>
                </a:solidFill>
                <a:latin typeface="Heebo"/>
                <a:ea typeface="Heebo"/>
                <a:cs typeface="Heebo"/>
                <a:sym typeface="Heebo"/>
              </a:rPr>
              <a:t>✅</a:t>
            </a:r>
            <a:r>
              <a:rPr lang="en-US" sz="1426">
                <a:solidFill>
                  <a:srgbClr val="4C4C4D"/>
                </a:solidFill>
                <a:latin typeface="Heebo"/>
                <a:ea typeface="Heebo"/>
                <a:cs typeface="Heebo"/>
                <a:sym typeface="Heebo"/>
              </a:rPr>
              <a:t> Remote Control</a:t>
            </a:r>
          </a:p>
          <a:p>
            <a:pPr algn="l" marL="258293" indent="-129146" lvl="1">
              <a:lnSpc>
                <a:spcPts val="1865"/>
              </a:lnSpc>
              <a:buFont typeface="Arial"/>
              <a:buChar char="•"/>
            </a:pPr>
            <a:r>
              <a:rPr lang="en-US" sz="1426">
                <a:solidFill>
                  <a:srgbClr val="000000"/>
                </a:solidFill>
                <a:latin typeface="Heebo"/>
                <a:ea typeface="Heebo"/>
                <a:cs typeface="Heebo"/>
                <a:sym typeface="Heebo"/>
              </a:rPr>
              <a:t>✅</a:t>
            </a:r>
            <a:r>
              <a:rPr lang="en-US" sz="1426">
                <a:solidFill>
                  <a:srgbClr val="4C4C4D"/>
                </a:solidFill>
                <a:latin typeface="Heebo"/>
                <a:ea typeface="Heebo"/>
                <a:cs typeface="Heebo"/>
                <a:sym typeface="Heebo"/>
              </a:rPr>
              <a:t> GUI Based</a:t>
            </a:r>
          </a:p>
          <a:p>
            <a:pPr algn="l" marL="258293" indent="-129146" lvl="1">
              <a:lnSpc>
                <a:spcPts val="1865"/>
              </a:lnSpc>
              <a:buFont typeface="Arial"/>
              <a:buChar char="•"/>
            </a:pPr>
            <a:r>
              <a:rPr lang="en-US" sz="1426">
                <a:solidFill>
                  <a:srgbClr val="000000"/>
                </a:solidFill>
                <a:latin typeface="Heebo"/>
                <a:ea typeface="Heebo"/>
                <a:cs typeface="Heebo"/>
                <a:sym typeface="Heebo"/>
              </a:rPr>
              <a:t>✅</a:t>
            </a:r>
            <a:r>
              <a:rPr lang="en-US" sz="1426">
                <a:solidFill>
                  <a:srgbClr val="4C4C4D"/>
                </a:solidFill>
                <a:latin typeface="Heebo"/>
                <a:ea typeface="Heebo"/>
                <a:cs typeface="Heebo"/>
                <a:sym typeface="Heebo"/>
              </a:rPr>
              <a:t> Fast Switching</a:t>
            </a:r>
          </a:p>
          <a:p>
            <a:pPr algn="l" marL="258293" indent="-129146" lvl="1">
              <a:lnSpc>
                <a:spcPts val="1865"/>
              </a:lnSpc>
              <a:buFont typeface="Arial"/>
              <a:buChar char="•"/>
            </a:pPr>
            <a:r>
              <a:rPr lang="en-US" sz="1426">
                <a:solidFill>
                  <a:srgbClr val="000000"/>
                </a:solidFill>
                <a:latin typeface="Heebo"/>
                <a:ea typeface="Heebo"/>
                <a:cs typeface="Heebo"/>
                <a:sym typeface="Heebo"/>
              </a:rPr>
              <a:t>✅</a:t>
            </a:r>
            <a:r>
              <a:rPr lang="en-US" sz="1426">
                <a:solidFill>
                  <a:srgbClr val="4C4C4D"/>
                </a:solidFill>
                <a:latin typeface="Heebo"/>
                <a:ea typeface="Heebo"/>
                <a:cs typeface="Heebo"/>
                <a:sym typeface="Heebo"/>
              </a:rPr>
              <a:t> Scalable Architecture</a:t>
            </a:r>
          </a:p>
        </p:txBody>
      </p:sp>
      <p:sp>
        <p:nvSpPr>
          <p:cNvPr name="TextBox 14" id="14"/>
          <p:cNvSpPr txBox="true"/>
          <p:nvPr/>
        </p:nvSpPr>
        <p:spPr>
          <a:xfrm rot="0">
            <a:off x="992991" y="4000957"/>
            <a:ext cx="16315868" cy="473478"/>
          </a:xfrm>
          <a:prstGeom prst="rect">
            <a:avLst/>
          </a:prstGeom>
        </p:spPr>
        <p:txBody>
          <a:bodyPr anchor="t" rtlCol="false" tIns="0" lIns="0" bIns="0" rIns="0">
            <a:spAutoFit/>
          </a:bodyPr>
          <a:lstStyle/>
          <a:p>
            <a:pPr algn="l">
              <a:lnSpc>
                <a:spcPts val="3559"/>
              </a:lnSpc>
            </a:pPr>
            <a:r>
              <a:rPr lang="en-US" sz="2852">
                <a:solidFill>
                  <a:srgbClr val="152D47"/>
                </a:solidFill>
                <a:latin typeface="Crimson Pro"/>
                <a:ea typeface="Crimson Pro"/>
                <a:cs typeface="Crimson Pro"/>
                <a:sym typeface="Crimson Pro"/>
              </a:rPr>
              <a:t>Key Objectives</a:t>
            </a:r>
          </a:p>
        </p:txBody>
      </p:sp>
      <p:sp>
        <p:nvSpPr>
          <p:cNvPr name="Freeform 15" id="15" descr="preencoded.png"/>
          <p:cNvSpPr/>
          <p:nvPr/>
        </p:nvSpPr>
        <p:spPr>
          <a:xfrm flipH="false" flipV="false" rot="0">
            <a:off x="992991" y="4671641"/>
            <a:ext cx="181708" cy="181708"/>
          </a:xfrm>
          <a:custGeom>
            <a:avLst/>
            <a:gdLst/>
            <a:ahLst/>
            <a:cxnLst/>
            <a:rect r="r" b="b" t="t" l="l"/>
            <a:pathLst>
              <a:path h="181708" w="181708">
                <a:moveTo>
                  <a:pt x="0" y="0"/>
                </a:moveTo>
                <a:lnTo>
                  <a:pt x="181708" y="0"/>
                </a:lnTo>
                <a:lnTo>
                  <a:pt x="181708" y="181708"/>
                </a:lnTo>
                <a:lnTo>
                  <a:pt x="0" y="181708"/>
                </a:lnTo>
                <a:lnTo>
                  <a:pt x="0" y="0"/>
                </a:lnTo>
                <a:close/>
              </a:path>
            </a:pathLst>
          </a:custGeom>
          <a:blipFill>
            <a:blip r:embed="rId5">
              <a:extLst>
                <a:ext uri="{96DAC541-7B7A-43D3-8B79-37D633B846F1}">
                  <asvg:svgBlip xmlns:asvg="http://schemas.microsoft.com/office/drawing/2016/SVG/main" r:embed="rId6"/>
                </a:ext>
              </a:extLst>
            </a:blip>
            <a:stretch>
              <a:fillRect l="-2500" t="0" r="-2500" b="0"/>
            </a:stretch>
          </a:blipFill>
        </p:spPr>
      </p:sp>
      <p:grpSp>
        <p:nvGrpSpPr>
          <p:cNvPr name="Group 16" id="16"/>
          <p:cNvGrpSpPr/>
          <p:nvPr/>
        </p:nvGrpSpPr>
        <p:grpSpPr>
          <a:xfrm rot="0">
            <a:off x="992991" y="4938855"/>
            <a:ext cx="8099698" cy="19069"/>
            <a:chOff x="0" y="0"/>
            <a:chExt cx="10799597" cy="25425"/>
          </a:xfrm>
        </p:grpSpPr>
        <p:sp>
          <p:nvSpPr>
            <p:cNvPr name="Freeform 17" id="17"/>
            <p:cNvSpPr/>
            <p:nvPr/>
          </p:nvSpPr>
          <p:spPr>
            <a:xfrm flipH="false" flipV="false" rot="0">
              <a:off x="0" y="0"/>
              <a:ext cx="10799572" cy="25400"/>
            </a:xfrm>
            <a:custGeom>
              <a:avLst/>
              <a:gdLst/>
              <a:ahLst/>
              <a:cxnLst/>
              <a:rect r="r" b="b" t="t" l="l"/>
              <a:pathLst>
                <a:path h="25400" w="10799572">
                  <a:moveTo>
                    <a:pt x="0" y="0"/>
                  </a:moveTo>
                  <a:lnTo>
                    <a:pt x="10799572" y="0"/>
                  </a:lnTo>
                  <a:lnTo>
                    <a:pt x="10799572" y="25400"/>
                  </a:lnTo>
                  <a:lnTo>
                    <a:pt x="0" y="25400"/>
                  </a:lnTo>
                  <a:close/>
                </a:path>
              </a:pathLst>
            </a:custGeom>
            <a:solidFill>
              <a:srgbClr val="2150FE"/>
            </a:solidFill>
          </p:spPr>
        </p:sp>
      </p:grpSp>
      <p:sp>
        <p:nvSpPr>
          <p:cNvPr name="TextBox 18" id="18"/>
          <p:cNvSpPr txBox="true"/>
          <p:nvPr/>
        </p:nvSpPr>
        <p:spPr>
          <a:xfrm rot="0">
            <a:off x="992991" y="5048783"/>
            <a:ext cx="8099698" cy="257508"/>
          </a:xfrm>
          <a:prstGeom prst="rect">
            <a:avLst/>
          </a:prstGeom>
        </p:spPr>
        <p:txBody>
          <a:bodyPr anchor="t" rtlCol="false" tIns="0" lIns="0" bIns="0" rIns="0">
            <a:spAutoFit/>
          </a:bodyPr>
          <a:lstStyle/>
          <a:p>
            <a:pPr algn="l">
              <a:lnSpc>
                <a:spcPts val="1865"/>
              </a:lnSpc>
            </a:pPr>
            <a:r>
              <a:rPr lang="en-US" sz="1426">
                <a:solidFill>
                  <a:srgbClr val="4C4C4D"/>
                </a:solidFill>
                <a:latin typeface="Heebo"/>
                <a:ea typeface="Heebo"/>
                <a:cs typeface="Heebo"/>
                <a:sym typeface="Heebo"/>
              </a:rPr>
              <a:t>Remote Control via Industrial PC</a:t>
            </a:r>
          </a:p>
        </p:txBody>
      </p:sp>
      <p:sp>
        <p:nvSpPr>
          <p:cNvPr name="Freeform 19" id="19" descr="preencoded.png"/>
          <p:cNvSpPr/>
          <p:nvPr/>
        </p:nvSpPr>
        <p:spPr>
          <a:xfrm flipH="false" flipV="false" rot="0">
            <a:off x="9209008" y="4671641"/>
            <a:ext cx="181708" cy="181708"/>
          </a:xfrm>
          <a:custGeom>
            <a:avLst/>
            <a:gdLst/>
            <a:ahLst/>
            <a:cxnLst/>
            <a:rect r="r" b="b" t="t" l="l"/>
            <a:pathLst>
              <a:path h="181708" w="181708">
                <a:moveTo>
                  <a:pt x="0" y="0"/>
                </a:moveTo>
                <a:lnTo>
                  <a:pt x="181709" y="0"/>
                </a:lnTo>
                <a:lnTo>
                  <a:pt x="181709" y="181708"/>
                </a:lnTo>
                <a:lnTo>
                  <a:pt x="0" y="181708"/>
                </a:lnTo>
                <a:lnTo>
                  <a:pt x="0" y="0"/>
                </a:lnTo>
                <a:close/>
              </a:path>
            </a:pathLst>
          </a:custGeom>
          <a:blipFill>
            <a:blip r:embed="rId7">
              <a:extLst>
                <a:ext uri="{96DAC541-7B7A-43D3-8B79-37D633B846F1}">
                  <asvg:svgBlip xmlns:asvg="http://schemas.microsoft.com/office/drawing/2016/SVG/main" r:embed="rId8"/>
                </a:ext>
              </a:extLst>
            </a:blip>
            <a:stretch>
              <a:fillRect l="-1" t="0" r="1" b="0"/>
            </a:stretch>
          </a:blipFill>
        </p:spPr>
      </p:sp>
      <p:grpSp>
        <p:nvGrpSpPr>
          <p:cNvPr name="Group 20" id="20"/>
          <p:cNvGrpSpPr/>
          <p:nvPr/>
        </p:nvGrpSpPr>
        <p:grpSpPr>
          <a:xfrm rot="0">
            <a:off x="9209008" y="4938855"/>
            <a:ext cx="8099841" cy="19069"/>
            <a:chOff x="0" y="0"/>
            <a:chExt cx="10799788" cy="25425"/>
          </a:xfrm>
        </p:grpSpPr>
        <p:sp>
          <p:nvSpPr>
            <p:cNvPr name="Freeform 21" id="21"/>
            <p:cNvSpPr/>
            <p:nvPr/>
          </p:nvSpPr>
          <p:spPr>
            <a:xfrm flipH="false" flipV="false" rot="0">
              <a:off x="0" y="0"/>
              <a:ext cx="10799826" cy="25400"/>
            </a:xfrm>
            <a:custGeom>
              <a:avLst/>
              <a:gdLst/>
              <a:ahLst/>
              <a:cxnLst/>
              <a:rect r="r" b="b" t="t" l="l"/>
              <a:pathLst>
                <a:path h="25400" w="10799826">
                  <a:moveTo>
                    <a:pt x="0" y="0"/>
                  </a:moveTo>
                  <a:lnTo>
                    <a:pt x="10799826" y="0"/>
                  </a:lnTo>
                  <a:lnTo>
                    <a:pt x="10799826" y="25400"/>
                  </a:lnTo>
                  <a:lnTo>
                    <a:pt x="0" y="25400"/>
                  </a:lnTo>
                  <a:close/>
                </a:path>
              </a:pathLst>
            </a:custGeom>
            <a:solidFill>
              <a:srgbClr val="2150FE"/>
            </a:solidFill>
          </p:spPr>
        </p:sp>
      </p:grpSp>
      <p:sp>
        <p:nvSpPr>
          <p:cNvPr name="TextBox 22" id="22"/>
          <p:cNvSpPr txBox="true"/>
          <p:nvPr/>
        </p:nvSpPr>
        <p:spPr>
          <a:xfrm rot="0">
            <a:off x="9209008" y="5048783"/>
            <a:ext cx="8099841" cy="257508"/>
          </a:xfrm>
          <a:prstGeom prst="rect">
            <a:avLst/>
          </a:prstGeom>
        </p:spPr>
        <p:txBody>
          <a:bodyPr anchor="t" rtlCol="false" tIns="0" lIns="0" bIns="0" rIns="0">
            <a:spAutoFit/>
          </a:bodyPr>
          <a:lstStyle/>
          <a:p>
            <a:pPr algn="l">
              <a:lnSpc>
                <a:spcPts val="1865"/>
              </a:lnSpc>
            </a:pPr>
            <a:r>
              <a:rPr lang="en-US" sz="1426">
                <a:solidFill>
                  <a:srgbClr val="4C4C4D"/>
                </a:solidFill>
                <a:latin typeface="Heebo"/>
                <a:ea typeface="Heebo"/>
                <a:cs typeface="Heebo"/>
                <a:sym typeface="Heebo"/>
              </a:rPr>
              <a:t>Ethernet Communication Protocol</a:t>
            </a:r>
          </a:p>
        </p:txBody>
      </p:sp>
      <p:sp>
        <p:nvSpPr>
          <p:cNvPr name="Freeform 23" id="23" descr="preencoded.png"/>
          <p:cNvSpPr/>
          <p:nvPr/>
        </p:nvSpPr>
        <p:spPr>
          <a:xfrm flipH="false" flipV="false" rot="0">
            <a:off x="992991" y="5581545"/>
            <a:ext cx="181708" cy="181708"/>
          </a:xfrm>
          <a:custGeom>
            <a:avLst/>
            <a:gdLst/>
            <a:ahLst/>
            <a:cxnLst/>
            <a:rect r="r" b="b" t="t" l="l"/>
            <a:pathLst>
              <a:path h="181708" w="181708">
                <a:moveTo>
                  <a:pt x="0" y="0"/>
                </a:moveTo>
                <a:lnTo>
                  <a:pt x="181708" y="0"/>
                </a:lnTo>
                <a:lnTo>
                  <a:pt x="181708" y="181709"/>
                </a:lnTo>
                <a:lnTo>
                  <a:pt x="0" y="181709"/>
                </a:lnTo>
                <a:lnTo>
                  <a:pt x="0" y="0"/>
                </a:lnTo>
                <a:close/>
              </a:path>
            </a:pathLst>
          </a:custGeom>
          <a:blipFill>
            <a:blip r:embed="rId9">
              <a:extLst>
                <a:ext uri="{96DAC541-7B7A-43D3-8B79-37D633B846F1}">
                  <asvg:svgBlip xmlns:asvg="http://schemas.microsoft.com/office/drawing/2016/SVG/main" r:embed="rId10"/>
                </a:ext>
              </a:extLst>
            </a:blip>
            <a:stretch>
              <a:fillRect l="0" t="-29999" r="0" b="-29999"/>
            </a:stretch>
          </a:blipFill>
        </p:spPr>
      </p:sp>
      <p:grpSp>
        <p:nvGrpSpPr>
          <p:cNvPr name="Group 24" id="24"/>
          <p:cNvGrpSpPr/>
          <p:nvPr/>
        </p:nvGrpSpPr>
        <p:grpSpPr>
          <a:xfrm rot="0">
            <a:off x="992991" y="5848750"/>
            <a:ext cx="8099698" cy="19069"/>
            <a:chOff x="0" y="0"/>
            <a:chExt cx="10799597" cy="25425"/>
          </a:xfrm>
        </p:grpSpPr>
        <p:sp>
          <p:nvSpPr>
            <p:cNvPr name="Freeform 25" id="25"/>
            <p:cNvSpPr/>
            <p:nvPr/>
          </p:nvSpPr>
          <p:spPr>
            <a:xfrm flipH="false" flipV="false" rot="0">
              <a:off x="0" y="0"/>
              <a:ext cx="10799572" cy="25400"/>
            </a:xfrm>
            <a:custGeom>
              <a:avLst/>
              <a:gdLst/>
              <a:ahLst/>
              <a:cxnLst/>
              <a:rect r="r" b="b" t="t" l="l"/>
              <a:pathLst>
                <a:path h="25400" w="10799572">
                  <a:moveTo>
                    <a:pt x="0" y="0"/>
                  </a:moveTo>
                  <a:lnTo>
                    <a:pt x="10799572" y="0"/>
                  </a:lnTo>
                  <a:lnTo>
                    <a:pt x="10799572" y="25400"/>
                  </a:lnTo>
                  <a:lnTo>
                    <a:pt x="0" y="25400"/>
                  </a:lnTo>
                  <a:close/>
                </a:path>
              </a:pathLst>
            </a:custGeom>
            <a:solidFill>
              <a:srgbClr val="2150FE"/>
            </a:solidFill>
          </p:spPr>
        </p:sp>
      </p:grpSp>
      <p:sp>
        <p:nvSpPr>
          <p:cNvPr name="TextBox 26" id="26"/>
          <p:cNvSpPr txBox="true"/>
          <p:nvPr/>
        </p:nvSpPr>
        <p:spPr>
          <a:xfrm rot="0">
            <a:off x="992991" y="5958688"/>
            <a:ext cx="8099698" cy="257508"/>
          </a:xfrm>
          <a:prstGeom prst="rect">
            <a:avLst/>
          </a:prstGeom>
        </p:spPr>
        <p:txBody>
          <a:bodyPr anchor="t" rtlCol="false" tIns="0" lIns="0" bIns="0" rIns="0">
            <a:spAutoFit/>
          </a:bodyPr>
          <a:lstStyle/>
          <a:p>
            <a:pPr algn="l">
              <a:lnSpc>
                <a:spcPts val="1865"/>
              </a:lnSpc>
            </a:pPr>
            <a:r>
              <a:rPr lang="en-US" sz="1426">
                <a:solidFill>
                  <a:srgbClr val="4C4C4D"/>
                </a:solidFill>
                <a:latin typeface="Heebo"/>
                <a:ea typeface="Heebo"/>
                <a:cs typeface="Heebo"/>
                <a:sym typeface="Heebo"/>
              </a:rPr>
              <a:t>MOSFET High-Side Switching</a:t>
            </a:r>
          </a:p>
        </p:txBody>
      </p:sp>
      <p:sp>
        <p:nvSpPr>
          <p:cNvPr name="Freeform 27" id="27" descr="preencoded.png"/>
          <p:cNvSpPr/>
          <p:nvPr/>
        </p:nvSpPr>
        <p:spPr>
          <a:xfrm flipH="false" flipV="false" rot="0">
            <a:off x="9209008" y="5581545"/>
            <a:ext cx="181708" cy="181708"/>
          </a:xfrm>
          <a:custGeom>
            <a:avLst/>
            <a:gdLst/>
            <a:ahLst/>
            <a:cxnLst/>
            <a:rect r="r" b="b" t="t" l="l"/>
            <a:pathLst>
              <a:path h="181708" w="181708">
                <a:moveTo>
                  <a:pt x="0" y="0"/>
                </a:moveTo>
                <a:lnTo>
                  <a:pt x="181709" y="0"/>
                </a:lnTo>
                <a:lnTo>
                  <a:pt x="181709" y="181709"/>
                </a:lnTo>
                <a:lnTo>
                  <a:pt x="0" y="181709"/>
                </a:lnTo>
                <a:lnTo>
                  <a:pt x="0" y="0"/>
                </a:lnTo>
                <a:close/>
              </a:path>
            </a:pathLst>
          </a:custGeom>
          <a:blipFill>
            <a:blip r:embed="rId11">
              <a:extLst>
                <a:ext uri="{96DAC541-7B7A-43D3-8B79-37D633B846F1}">
                  <asvg:svgBlip xmlns:asvg="http://schemas.microsoft.com/office/drawing/2016/SVG/main" r:embed="rId12"/>
                </a:ext>
              </a:extLst>
            </a:blip>
            <a:stretch>
              <a:fillRect l="-1" t="0" r="1" b="0"/>
            </a:stretch>
          </a:blipFill>
        </p:spPr>
      </p:sp>
      <p:grpSp>
        <p:nvGrpSpPr>
          <p:cNvPr name="Group 28" id="28"/>
          <p:cNvGrpSpPr/>
          <p:nvPr/>
        </p:nvGrpSpPr>
        <p:grpSpPr>
          <a:xfrm rot="0">
            <a:off x="9209008" y="5848750"/>
            <a:ext cx="8099841" cy="19069"/>
            <a:chOff x="0" y="0"/>
            <a:chExt cx="10799788" cy="25425"/>
          </a:xfrm>
        </p:grpSpPr>
        <p:sp>
          <p:nvSpPr>
            <p:cNvPr name="Freeform 29" id="29"/>
            <p:cNvSpPr/>
            <p:nvPr/>
          </p:nvSpPr>
          <p:spPr>
            <a:xfrm flipH="false" flipV="false" rot="0">
              <a:off x="0" y="0"/>
              <a:ext cx="10799826" cy="25400"/>
            </a:xfrm>
            <a:custGeom>
              <a:avLst/>
              <a:gdLst/>
              <a:ahLst/>
              <a:cxnLst/>
              <a:rect r="r" b="b" t="t" l="l"/>
              <a:pathLst>
                <a:path h="25400" w="10799826">
                  <a:moveTo>
                    <a:pt x="0" y="0"/>
                  </a:moveTo>
                  <a:lnTo>
                    <a:pt x="10799826" y="0"/>
                  </a:lnTo>
                  <a:lnTo>
                    <a:pt x="10799826" y="25400"/>
                  </a:lnTo>
                  <a:lnTo>
                    <a:pt x="0" y="25400"/>
                  </a:lnTo>
                  <a:close/>
                </a:path>
              </a:pathLst>
            </a:custGeom>
            <a:solidFill>
              <a:srgbClr val="2150FE"/>
            </a:solidFill>
          </p:spPr>
        </p:sp>
      </p:grpSp>
      <p:sp>
        <p:nvSpPr>
          <p:cNvPr name="TextBox 30" id="30"/>
          <p:cNvSpPr txBox="true"/>
          <p:nvPr/>
        </p:nvSpPr>
        <p:spPr>
          <a:xfrm rot="0">
            <a:off x="9209008" y="5958688"/>
            <a:ext cx="8099841" cy="257508"/>
          </a:xfrm>
          <a:prstGeom prst="rect">
            <a:avLst/>
          </a:prstGeom>
        </p:spPr>
        <p:txBody>
          <a:bodyPr anchor="t" rtlCol="false" tIns="0" lIns="0" bIns="0" rIns="0">
            <a:spAutoFit/>
          </a:bodyPr>
          <a:lstStyle/>
          <a:p>
            <a:pPr algn="l">
              <a:lnSpc>
                <a:spcPts val="1865"/>
              </a:lnSpc>
            </a:pPr>
            <a:r>
              <a:rPr lang="en-US" sz="1426">
                <a:solidFill>
                  <a:srgbClr val="4C4C4D"/>
                </a:solidFill>
                <a:latin typeface="Heebo"/>
                <a:ea typeface="Heebo"/>
                <a:cs typeface="Heebo"/>
                <a:sym typeface="Heebo"/>
              </a:rPr>
              <a:t>SPI GPIO Expansion (MCP23S17)</a:t>
            </a:r>
          </a:p>
        </p:txBody>
      </p:sp>
      <p:sp>
        <p:nvSpPr>
          <p:cNvPr name="Freeform 31" id="31" descr="preencoded.png"/>
          <p:cNvSpPr/>
          <p:nvPr/>
        </p:nvSpPr>
        <p:spPr>
          <a:xfrm flipH="false" flipV="false" rot="0">
            <a:off x="992991" y="6491449"/>
            <a:ext cx="181708" cy="181708"/>
          </a:xfrm>
          <a:custGeom>
            <a:avLst/>
            <a:gdLst/>
            <a:ahLst/>
            <a:cxnLst/>
            <a:rect r="r" b="b" t="t" l="l"/>
            <a:pathLst>
              <a:path h="181708" w="181708">
                <a:moveTo>
                  <a:pt x="0" y="0"/>
                </a:moveTo>
                <a:lnTo>
                  <a:pt x="181708" y="0"/>
                </a:lnTo>
                <a:lnTo>
                  <a:pt x="181708" y="181709"/>
                </a:lnTo>
                <a:lnTo>
                  <a:pt x="0" y="181709"/>
                </a:lnTo>
                <a:lnTo>
                  <a:pt x="0" y="0"/>
                </a:lnTo>
                <a:close/>
              </a:path>
            </a:pathLst>
          </a:custGeom>
          <a:blipFill>
            <a:blip r:embed="rId13">
              <a:extLst>
                <a:ext uri="{96DAC541-7B7A-43D3-8B79-37D633B846F1}">
                  <asvg:svgBlip xmlns:asvg="http://schemas.microsoft.com/office/drawing/2016/SVG/main" r:embed="rId14"/>
                </a:ext>
              </a:extLst>
            </a:blip>
            <a:stretch>
              <a:fillRect l="-20003" t="0" r="-19997" b="0"/>
            </a:stretch>
          </a:blipFill>
        </p:spPr>
      </p:sp>
      <p:grpSp>
        <p:nvGrpSpPr>
          <p:cNvPr name="Group 32" id="32"/>
          <p:cNvGrpSpPr/>
          <p:nvPr/>
        </p:nvGrpSpPr>
        <p:grpSpPr>
          <a:xfrm rot="0">
            <a:off x="992991" y="6758654"/>
            <a:ext cx="8099698" cy="19069"/>
            <a:chOff x="0" y="0"/>
            <a:chExt cx="10799597" cy="25425"/>
          </a:xfrm>
        </p:grpSpPr>
        <p:sp>
          <p:nvSpPr>
            <p:cNvPr name="Freeform 33" id="33"/>
            <p:cNvSpPr/>
            <p:nvPr/>
          </p:nvSpPr>
          <p:spPr>
            <a:xfrm flipH="false" flipV="false" rot="0">
              <a:off x="0" y="0"/>
              <a:ext cx="10799572" cy="25400"/>
            </a:xfrm>
            <a:custGeom>
              <a:avLst/>
              <a:gdLst/>
              <a:ahLst/>
              <a:cxnLst/>
              <a:rect r="r" b="b" t="t" l="l"/>
              <a:pathLst>
                <a:path h="25400" w="10799572">
                  <a:moveTo>
                    <a:pt x="0" y="0"/>
                  </a:moveTo>
                  <a:lnTo>
                    <a:pt x="10799572" y="0"/>
                  </a:lnTo>
                  <a:lnTo>
                    <a:pt x="10799572" y="25400"/>
                  </a:lnTo>
                  <a:lnTo>
                    <a:pt x="0" y="25400"/>
                  </a:lnTo>
                  <a:close/>
                </a:path>
              </a:pathLst>
            </a:custGeom>
            <a:solidFill>
              <a:srgbClr val="2150FE"/>
            </a:solidFill>
          </p:spPr>
        </p:sp>
      </p:grpSp>
      <p:sp>
        <p:nvSpPr>
          <p:cNvPr name="TextBox 34" id="34"/>
          <p:cNvSpPr txBox="true"/>
          <p:nvPr/>
        </p:nvSpPr>
        <p:spPr>
          <a:xfrm rot="0">
            <a:off x="992991" y="6868592"/>
            <a:ext cx="8099698" cy="257508"/>
          </a:xfrm>
          <a:prstGeom prst="rect">
            <a:avLst/>
          </a:prstGeom>
        </p:spPr>
        <p:txBody>
          <a:bodyPr anchor="t" rtlCol="false" tIns="0" lIns="0" bIns="0" rIns="0">
            <a:spAutoFit/>
          </a:bodyPr>
          <a:lstStyle/>
          <a:p>
            <a:pPr algn="l">
              <a:lnSpc>
                <a:spcPts val="1865"/>
              </a:lnSpc>
            </a:pPr>
            <a:r>
              <a:rPr lang="en-US" sz="1426">
                <a:solidFill>
                  <a:srgbClr val="4C4C4D"/>
                </a:solidFill>
                <a:latin typeface="Heebo"/>
                <a:ea typeface="Heebo"/>
                <a:cs typeface="Heebo"/>
                <a:sym typeface="Heebo"/>
              </a:rPr>
              <a:t>Reliable Operation &amp; Verification</a:t>
            </a:r>
          </a:p>
        </p:txBody>
      </p:sp>
      <p:sp>
        <p:nvSpPr>
          <p:cNvPr name="Freeform 35" id="35" descr="preencoded.png"/>
          <p:cNvSpPr/>
          <p:nvPr/>
        </p:nvSpPr>
        <p:spPr>
          <a:xfrm flipH="false" flipV="false" rot="0">
            <a:off x="9209008" y="6491449"/>
            <a:ext cx="181708" cy="181708"/>
          </a:xfrm>
          <a:custGeom>
            <a:avLst/>
            <a:gdLst/>
            <a:ahLst/>
            <a:cxnLst/>
            <a:rect r="r" b="b" t="t" l="l"/>
            <a:pathLst>
              <a:path h="181708" w="181708">
                <a:moveTo>
                  <a:pt x="0" y="0"/>
                </a:moveTo>
                <a:lnTo>
                  <a:pt x="181709" y="0"/>
                </a:lnTo>
                <a:lnTo>
                  <a:pt x="181709" y="181709"/>
                </a:lnTo>
                <a:lnTo>
                  <a:pt x="0" y="181709"/>
                </a:lnTo>
                <a:lnTo>
                  <a:pt x="0" y="0"/>
                </a:lnTo>
                <a:close/>
              </a:path>
            </a:pathLst>
          </a:custGeom>
          <a:blipFill>
            <a:blip r:embed="rId15">
              <a:extLst>
                <a:ext uri="{96DAC541-7B7A-43D3-8B79-37D633B846F1}">
                  <asvg:svgBlip xmlns:asvg="http://schemas.microsoft.com/office/drawing/2016/SVG/main" r:embed="rId16"/>
                </a:ext>
              </a:extLst>
            </a:blip>
            <a:stretch>
              <a:fillRect l="-5000" t="0" r="-5000" b="0"/>
            </a:stretch>
          </a:blipFill>
        </p:spPr>
      </p:sp>
      <p:grpSp>
        <p:nvGrpSpPr>
          <p:cNvPr name="Group 36" id="36"/>
          <p:cNvGrpSpPr/>
          <p:nvPr/>
        </p:nvGrpSpPr>
        <p:grpSpPr>
          <a:xfrm rot="0">
            <a:off x="9209008" y="6758654"/>
            <a:ext cx="8099841" cy="19069"/>
            <a:chOff x="0" y="0"/>
            <a:chExt cx="10799788" cy="25425"/>
          </a:xfrm>
        </p:grpSpPr>
        <p:sp>
          <p:nvSpPr>
            <p:cNvPr name="Freeform 37" id="37"/>
            <p:cNvSpPr/>
            <p:nvPr/>
          </p:nvSpPr>
          <p:spPr>
            <a:xfrm flipH="false" flipV="false" rot="0">
              <a:off x="0" y="0"/>
              <a:ext cx="10799826" cy="25400"/>
            </a:xfrm>
            <a:custGeom>
              <a:avLst/>
              <a:gdLst/>
              <a:ahLst/>
              <a:cxnLst/>
              <a:rect r="r" b="b" t="t" l="l"/>
              <a:pathLst>
                <a:path h="25400" w="10799826">
                  <a:moveTo>
                    <a:pt x="0" y="0"/>
                  </a:moveTo>
                  <a:lnTo>
                    <a:pt x="10799826" y="0"/>
                  </a:lnTo>
                  <a:lnTo>
                    <a:pt x="10799826" y="25400"/>
                  </a:lnTo>
                  <a:lnTo>
                    <a:pt x="0" y="25400"/>
                  </a:lnTo>
                  <a:close/>
                </a:path>
              </a:pathLst>
            </a:custGeom>
            <a:solidFill>
              <a:srgbClr val="2150FE"/>
            </a:solidFill>
          </p:spPr>
        </p:sp>
      </p:grpSp>
      <p:sp>
        <p:nvSpPr>
          <p:cNvPr name="TextBox 38" id="38"/>
          <p:cNvSpPr txBox="true"/>
          <p:nvPr/>
        </p:nvSpPr>
        <p:spPr>
          <a:xfrm rot="0">
            <a:off x="9209008" y="6868592"/>
            <a:ext cx="8099841" cy="257508"/>
          </a:xfrm>
          <a:prstGeom prst="rect">
            <a:avLst/>
          </a:prstGeom>
        </p:spPr>
        <p:txBody>
          <a:bodyPr anchor="t" rtlCol="false" tIns="0" lIns="0" bIns="0" rIns="0">
            <a:spAutoFit/>
          </a:bodyPr>
          <a:lstStyle/>
          <a:p>
            <a:pPr algn="l">
              <a:lnSpc>
                <a:spcPts val="1865"/>
              </a:lnSpc>
            </a:pPr>
            <a:r>
              <a:rPr lang="en-US" sz="1426">
                <a:solidFill>
                  <a:srgbClr val="4C4C4D"/>
                </a:solidFill>
                <a:latin typeface="Heebo"/>
                <a:ea typeface="Heebo"/>
                <a:cs typeface="Heebo"/>
                <a:sym typeface="Heebo"/>
              </a:rPr>
              <a:t>Scalable Multi-Channel System</a:t>
            </a:r>
          </a:p>
        </p:txBody>
      </p:sp>
      <p:sp>
        <p:nvSpPr>
          <p:cNvPr name="TextBox 39" id="39"/>
          <p:cNvSpPr txBox="true"/>
          <p:nvPr/>
        </p:nvSpPr>
        <p:spPr>
          <a:xfrm rot="0">
            <a:off x="992991" y="7417899"/>
            <a:ext cx="16315868" cy="473478"/>
          </a:xfrm>
          <a:prstGeom prst="rect">
            <a:avLst/>
          </a:prstGeom>
        </p:spPr>
        <p:txBody>
          <a:bodyPr anchor="t" rtlCol="false" tIns="0" lIns="0" bIns="0" rIns="0">
            <a:spAutoFit/>
          </a:bodyPr>
          <a:lstStyle/>
          <a:p>
            <a:pPr algn="l">
              <a:lnSpc>
                <a:spcPts val="3559"/>
              </a:lnSpc>
            </a:pPr>
            <a:r>
              <a:rPr lang="en-US" sz="2852">
                <a:solidFill>
                  <a:srgbClr val="152D47"/>
                </a:solidFill>
                <a:latin typeface="Crimson Pro"/>
                <a:ea typeface="Crimson Pro"/>
                <a:cs typeface="Crimson Pro"/>
                <a:sym typeface="Crimson Pro"/>
              </a:rPr>
              <a:t>System Highlights</a:t>
            </a:r>
          </a:p>
        </p:txBody>
      </p:sp>
      <p:sp>
        <p:nvSpPr>
          <p:cNvPr name="TextBox 40" id="40"/>
          <p:cNvSpPr txBox="true"/>
          <p:nvPr/>
        </p:nvSpPr>
        <p:spPr>
          <a:xfrm rot="0">
            <a:off x="992991" y="8046891"/>
            <a:ext cx="16315868" cy="1374000"/>
          </a:xfrm>
          <a:prstGeom prst="rect">
            <a:avLst/>
          </a:prstGeom>
        </p:spPr>
        <p:txBody>
          <a:bodyPr anchor="t" rtlCol="false" tIns="0" lIns="0" bIns="0" rIns="0">
            <a:spAutoFit/>
          </a:bodyPr>
          <a:lstStyle/>
          <a:p>
            <a:pPr algn="l" marL="258293" indent="-129146" lvl="1">
              <a:lnSpc>
                <a:spcPts val="1865"/>
              </a:lnSpc>
              <a:buFont typeface="Arial"/>
              <a:buChar char="•"/>
            </a:pPr>
            <a:r>
              <a:rPr lang="en-US" sz="1426">
                <a:solidFill>
                  <a:srgbClr val="4C4C4D"/>
                </a:solidFill>
                <a:latin typeface="Heebo"/>
                <a:ea typeface="Heebo"/>
                <a:cs typeface="Heebo"/>
                <a:sym typeface="Heebo"/>
              </a:rPr>
              <a:t>Real-time control of crew module loads</a:t>
            </a:r>
          </a:p>
          <a:p>
            <a:pPr algn="l" marL="258293" indent="-129146" lvl="1">
              <a:lnSpc>
                <a:spcPts val="1865"/>
              </a:lnSpc>
              <a:buFont typeface="Arial"/>
              <a:buChar char="•"/>
            </a:pPr>
            <a:r>
              <a:rPr lang="en-US" sz="1426">
                <a:solidFill>
                  <a:srgbClr val="4C4C4D"/>
                </a:solidFill>
                <a:latin typeface="Heebo"/>
                <a:ea typeface="Heebo"/>
                <a:cs typeface="Heebo"/>
                <a:sym typeface="Heebo"/>
              </a:rPr>
              <a:t>Galvanic isolation for safety</a:t>
            </a:r>
          </a:p>
          <a:p>
            <a:pPr algn="l" marL="258293" indent="-129146" lvl="1">
              <a:lnSpc>
                <a:spcPts val="1865"/>
              </a:lnSpc>
              <a:buFont typeface="Arial"/>
              <a:buChar char="•"/>
            </a:pPr>
            <a:r>
              <a:rPr lang="en-US" sz="1426">
                <a:solidFill>
                  <a:srgbClr val="4C4C4D"/>
                </a:solidFill>
                <a:latin typeface="Heebo"/>
                <a:ea typeface="Heebo"/>
                <a:cs typeface="Heebo"/>
                <a:sym typeface="Heebo"/>
              </a:rPr>
              <a:t>CRC and checksum verification</a:t>
            </a:r>
          </a:p>
          <a:p>
            <a:pPr algn="l" marL="258293" indent="-129146" lvl="1">
              <a:lnSpc>
                <a:spcPts val="1865"/>
              </a:lnSpc>
              <a:buFont typeface="Arial"/>
              <a:buChar char="•"/>
            </a:pPr>
            <a:r>
              <a:rPr lang="en-US" sz="1426">
                <a:solidFill>
                  <a:srgbClr val="4C4C4D"/>
                </a:solidFill>
                <a:latin typeface="Heebo"/>
                <a:ea typeface="Heebo"/>
                <a:cs typeface="Heebo"/>
                <a:sym typeface="Heebo"/>
              </a:rPr>
              <a:t>Modular architecture for expansion</a:t>
            </a:r>
          </a:p>
          <a:p>
            <a:pPr algn="l" marL="258293" indent="-129146" lvl="1">
              <a:lnSpc>
                <a:spcPts val="1865"/>
              </a:lnSpc>
              <a:buFont typeface="Arial"/>
              <a:buChar char="•"/>
            </a:pPr>
            <a:r>
              <a:rPr lang="en-US" sz="1426">
                <a:solidFill>
                  <a:srgbClr val="4C4C4D"/>
                </a:solidFill>
                <a:latin typeface="Heebo"/>
                <a:ea typeface="Heebo"/>
                <a:cs typeface="Heebo"/>
                <a:sym typeface="Heebo"/>
              </a:rPr>
              <a:t>Industrial-grade reliability</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0F0F1"/>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6" id="6"/>
          <p:cNvGrpSpPr/>
          <p:nvPr/>
        </p:nvGrpSpPr>
        <p:grpSpPr>
          <a:xfrm rot="0">
            <a:off x="16628307" y="9846183"/>
            <a:ext cx="1609020" cy="384353"/>
            <a:chOff x="0" y="0"/>
            <a:chExt cx="2145360" cy="512470"/>
          </a:xfrm>
        </p:grpSpPr>
        <p:sp>
          <p:nvSpPr>
            <p:cNvPr name="Freeform 7" id="7" descr="preencoded.png">
              <a:hlinkClick r:id="rId3" tooltip="https://gamma.app/?utm_source=made-with-gamma"/>
            </p:cNvPr>
            <p:cNvSpPr/>
            <p:nvPr/>
          </p:nvSpPr>
          <p:spPr>
            <a:xfrm flipH="false" flipV="false" rot="0">
              <a:off x="0" y="0"/>
              <a:ext cx="2145411" cy="512445"/>
            </a:xfrm>
            <a:custGeom>
              <a:avLst/>
              <a:gdLst/>
              <a:ahLst/>
              <a:cxnLst/>
              <a:rect r="r" b="b" t="t" l="l"/>
              <a:pathLst>
                <a:path h="512445" w="2145411">
                  <a:moveTo>
                    <a:pt x="0" y="0"/>
                  </a:moveTo>
                  <a:lnTo>
                    <a:pt x="2145411" y="0"/>
                  </a:lnTo>
                  <a:lnTo>
                    <a:pt x="2145411" y="512445"/>
                  </a:lnTo>
                  <a:lnTo>
                    <a:pt x="0" y="512445"/>
                  </a:lnTo>
                  <a:lnTo>
                    <a:pt x="0" y="0"/>
                  </a:lnTo>
                  <a:close/>
                </a:path>
              </a:pathLst>
            </a:custGeom>
            <a:blipFill>
              <a:blip r:embed="rId4"/>
              <a:stretch>
                <a:fillRect l="0" t="0" r="2" b="-4"/>
              </a:stretch>
            </a:blipFill>
          </p:spPr>
        </p:sp>
      </p:grpSp>
      <p:sp>
        <p:nvSpPr>
          <p:cNvPr name="TextBox 8" id="8"/>
          <p:cNvSpPr txBox="true"/>
          <p:nvPr/>
        </p:nvSpPr>
        <p:spPr>
          <a:xfrm rot="0">
            <a:off x="992991" y="751742"/>
            <a:ext cx="16315868" cy="471830"/>
          </a:xfrm>
          <a:prstGeom prst="rect">
            <a:avLst/>
          </a:prstGeom>
        </p:spPr>
        <p:txBody>
          <a:bodyPr anchor="t" rtlCol="false" tIns="0" lIns="0" bIns="0" rIns="0">
            <a:spAutoFit/>
          </a:bodyPr>
          <a:lstStyle/>
          <a:p>
            <a:pPr algn="l">
              <a:lnSpc>
                <a:spcPts val="3465"/>
              </a:lnSpc>
            </a:pPr>
            <a:r>
              <a:rPr lang="en-US" sz="2777">
                <a:solidFill>
                  <a:srgbClr val="152D47"/>
                </a:solidFill>
                <a:latin typeface="Crimson Pro"/>
                <a:ea typeface="Crimson Pro"/>
                <a:cs typeface="Crimson Pro"/>
                <a:sym typeface="Crimson Pro"/>
              </a:rPr>
              <a:t>Overall System Architecture</a:t>
            </a:r>
          </a:p>
        </p:txBody>
      </p:sp>
      <p:sp>
        <p:nvSpPr>
          <p:cNvPr name="TextBox 9" id="9"/>
          <p:cNvSpPr txBox="true"/>
          <p:nvPr/>
        </p:nvSpPr>
        <p:spPr>
          <a:xfrm rot="0">
            <a:off x="992991" y="1374896"/>
            <a:ext cx="1723095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This diagram illustrates the hierarchical structure and data flow within the Electronic Switch Matrix system, from the user interface down to the controlled loads.</a:t>
            </a:r>
          </a:p>
        </p:txBody>
      </p:sp>
      <p:grpSp>
        <p:nvGrpSpPr>
          <p:cNvPr name="Group 10" id="10"/>
          <p:cNvGrpSpPr/>
          <p:nvPr/>
        </p:nvGrpSpPr>
        <p:grpSpPr>
          <a:xfrm rot="0">
            <a:off x="992991" y="1615307"/>
            <a:ext cx="14641468" cy="8236039"/>
            <a:chOff x="0" y="0"/>
            <a:chExt cx="19521957" cy="10981385"/>
          </a:xfrm>
        </p:grpSpPr>
        <p:sp>
          <p:nvSpPr>
            <p:cNvPr name="Freeform 11" id="11" descr="preencoded.png"/>
            <p:cNvSpPr/>
            <p:nvPr/>
          </p:nvSpPr>
          <p:spPr>
            <a:xfrm flipH="false" flipV="false" rot="0">
              <a:off x="0" y="0"/>
              <a:ext cx="19521932" cy="10981436"/>
            </a:xfrm>
            <a:custGeom>
              <a:avLst/>
              <a:gdLst/>
              <a:ahLst/>
              <a:cxnLst/>
              <a:rect r="r" b="b" t="t" l="l"/>
              <a:pathLst>
                <a:path h="10981436" w="19521932">
                  <a:moveTo>
                    <a:pt x="0" y="0"/>
                  </a:moveTo>
                  <a:lnTo>
                    <a:pt x="19521932" y="0"/>
                  </a:lnTo>
                  <a:lnTo>
                    <a:pt x="19521932" y="10981436"/>
                  </a:lnTo>
                  <a:lnTo>
                    <a:pt x="0" y="10981436"/>
                  </a:lnTo>
                  <a:lnTo>
                    <a:pt x="0" y="0"/>
                  </a:lnTo>
                  <a:close/>
                </a:path>
              </a:pathLst>
            </a:custGeom>
            <a:blipFill>
              <a:blip r:embed="rId5"/>
              <a:stretch>
                <a:fillRect l="-1" t="0" r="-1" b="0"/>
              </a:stretch>
            </a:blipFill>
          </p:spPr>
        </p:sp>
      </p:grpSp>
      <p:sp>
        <p:nvSpPr>
          <p:cNvPr name="TextBox 12" id="12"/>
          <p:cNvSpPr txBox="true"/>
          <p:nvPr/>
        </p:nvSpPr>
        <p:spPr>
          <a:xfrm rot="0">
            <a:off x="992991" y="9929108"/>
            <a:ext cx="16315868" cy="383210"/>
          </a:xfrm>
          <a:prstGeom prst="rect">
            <a:avLst/>
          </a:prstGeom>
        </p:spPr>
        <p:txBody>
          <a:bodyPr anchor="t" rtlCol="false" tIns="0" lIns="0" bIns="0" rIns="0">
            <a:spAutoFit/>
          </a:bodyPr>
          <a:lstStyle/>
          <a:p>
            <a:pPr algn="l">
              <a:lnSpc>
                <a:spcPts val="2716"/>
              </a:lnSpc>
            </a:pPr>
            <a:r>
              <a:rPr lang="en-US" sz="2176">
                <a:solidFill>
                  <a:srgbClr val="152D47"/>
                </a:solidFill>
                <a:latin typeface="Crimson Pro"/>
                <a:ea typeface="Crimson Pro"/>
                <a:cs typeface="Crimson Pro"/>
                <a:sym typeface="Crimson Pro"/>
              </a:rPr>
              <a:t>Key Components Description</a:t>
            </a:r>
          </a:p>
        </p:txBody>
      </p:sp>
      <p:grpSp>
        <p:nvGrpSpPr>
          <p:cNvPr name="Group 13" id="13"/>
          <p:cNvGrpSpPr/>
          <p:nvPr/>
        </p:nvGrpSpPr>
        <p:grpSpPr>
          <a:xfrm rot="0">
            <a:off x="988219" y="10413902"/>
            <a:ext cx="16325393" cy="2746981"/>
            <a:chOff x="0" y="0"/>
            <a:chExt cx="21767190" cy="3662642"/>
          </a:xfrm>
        </p:grpSpPr>
        <p:sp>
          <p:nvSpPr>
            <p:cNvPr name="Freeform 14" id="14"/>
            <p:cNvSpPr/>
            <p:nvPr/>
          </p:nvSpPr>
          <p:spPr>
            <a:xfrm flipH="false" flipV="false" rot="0">
              <a:off x="0" y="0"/>
              <a:ext cx="21767164" cy="3662680"/>
            </a:xfrm>
            <a:custGeom>
              <a:avLst/>
              <a:gdLst/>
              <a:ahLst/>
              <a:cxnLst/>
              <a:rect r="r" b="b" t="t" l="l"/>
              <a:pathLst>
                <a:path h="3662680" w="21767164">
                  <a:moveTo>
                    <a:pt x="0" y="28448"/>
                  </a:moveTo>
                  <a:cubicBezTo>
                    <a:pt x="0" y="12700"/>
                    <a:pt x="12700" y="0"/>
                    <a:pt x="28448" y="0"/>
                  </a:cubicBezTo>
                  <a:lnTo>
                    <a:pt x="21738717" y="0"/>
                  </a:lnTo>
                  <a:cubicBezTo>
                    <a:pt x="21754464" y="0"/>
                    <a:pt x="21767164" y="12700"/>
                    <a:pt x="21767164" y="28448"/>
                  </a:cubicBezTo>
                  <a:lnTo>
                    <a:pt x="21767164" y="3634232"/>
                  </a:lnTo>
                  <a:cubicBezTo>
                    <a:pt x="21767164" y="3649980"/>
                    <a:pt x="21754464" y="3662680"/>
                    <a:pt x="21738717" y="3662680"/>
                  </a:cubicBezTo>
                  <a:lnTo>
                    <a:pt x="28448" y="3662680"/>
                  </a:lnTo>
                  <a:cubicBezTo>
                    <a:pt x="12700" y="3662680"/>
                    <a:pt x="0" y="3649980"/>
                    <a:pt x="0" y="3634232"/>
                  </a:cubicBezTo>
                  <a:close/>
                </a:path>
              </a:pathLst>
            </a:custGeom>
            <a:blipFill>
              <a:blip r:embed="rId6">
                <a:alphaModFix amt="0"/>
              </a:blip>
              <a:stretch>
                <a:fillRect l="0" t="-65799" r="0" b="-65798"/>
              </a:stretch>
            </a:blipFill>
            <a:ln w="9532" cap="sq">
              <a:solidFill>
                <a:srgbClr val="000000"/>
              </a:solidFill>
              <a:prstDash val="solid"/>
              <a:miter/>
            </a:ln>
          </p:spPr>
        </p:sp>
      </p:grpSp>
      <p:grpSp>
        <p:nvGrpSpPr>
          <p:cNvPr name="Group 15" id="15"/>
          <p:cNvGrpSpPr/>
          <p:nvPr/>
        </p:nvGrpSpPr>
        <p:grpSpPr>
          <a:xfrm rot="0">
            <a:off x="992991" y="11332740"/>
            <a:ext cx="16315868" cy="9535"/>
            <a:chOff x="0" y="0"/>
            <a:chExt cx="21754490" cy="12713"/>
          </a:xfrm>
        </p:grpSpPr>
        <p:sp>
          <p:nvSpPr>
            <p:cNvPr name="Freeform 16" id="16"/>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17" id="17"/>
          <p:cNvGrpSpPr/>
          <p:nvPr/>
        </p:nvGrpSpPr>
        <p:grpSpPr>
          <a:xfrm rot="0">
            <a:off x="992991" y="12242044"/>
            <a:ext cx="16315868" cy="9535"/>
            <a:chOff x="0" y="0"/>
            <a:chExt cx="21754490" cy="12713"/>
          </a:xfrm>
        </p:grpSpPr>
        <p:sp>
          <p:nvSpPr>
            <p:cNvPr name="Freeform 18" id="18"/>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19" id="19"/>
          <p:cNvGrpSpPr/>
          <p:nvPr/>
        </p:nvGrpSpPr>
        <p:grpSpPr>
          <a:xfrm rot="0">
            <a:off x="9150925" y="10418664"/>
            <a:ext cx="9535" cy="2737447"/>
            <a:chOff x="0" y="0"/>
            <a:chExt cx="12713" cy="3649929"/>
          </a:xfrm>
        </p:grpSpPr>
        <p:sp>
          <p:nvSpPr>
            <p:cNvPr name="Freeform 20" id="20"/>
            <p:cNvSpPr/>
            <p:nvPr/>
          </p:nvSpPr>
          <p:spPr>
            <a:xfrm flipH="false" flipV="false" rot="0">
              <a:off x="0" y="0"/>
              <a:ext cx="12700" cy="3649980"/>
            </a:xfrm>
            <a:custGeom>
              <a:avLst/>
              <a:gdLst/>
              <a:ahLst/>
              <a:cxnLst/>
              <a:rect r="r" b="b" t="t" l="l"/>
              <a:pathLst>
                <a:path h="3649980" w="12700">
                  <a:moveTo>
                    <a:pt x="0" y="0"/>
                  </a:moveTo>
                  <a:lnTo>
                    <a:pt x="12700" y="0"/>
                  </a:lnTo>
                  <a:lnTo>
                    <a:pt x="12700" y="3649980"/>
                  </a:lnTo>
                  <a:lnTo>
                    <a:pt x="0" y="3649980"/>
                  </a:lnTo>
                  <a:close/>
                </a:path>
              </a:pathLst>
            </a:custGeom>
            <a:solidFill>
              <a:srgbClr val="000000">
                <a:alpha val="392"/>
              </a:srgbClr>
            </a:solidFill>
          </p:spPr>
        </p:sp>
      </p:grpSp>
      <p:sp>
        <p:nvSpPr>
          <p:cNvPr name="TextBox 21" id="21"/>
          <p:cNvSpPr txBox="true"/>
          <p:nvPr/>
        </p:nvSpPr>
        <p:spPr>
          <a:xfrm rot="0">
            <a:off x="1144314" y="10470652"/>
            <a:ext cx="7860049" cy="231153"/>
          </a:xfrm>
          <a:prstGeom prst="rect">
            <a:avLst/>
          </a:prstGeom>
        </p:spPr>
        <p:txBody>
          <a:bodyPr anchor="t" rtlCol="false" tIns="0" lIns="0" bIns="0" rIns="0">
            <a:spAutoFit/>
          </a:bodyPr>
          <a:lstStyle/>
          <a:p>
            <a:pPr algn="l">
              <a:lnSpc>
                <a:spcPts val="1686"/>
              </a:lnSpc>
            </a:pPr>
            <a:r>
              <a:rPr lang="en-US" sz="1351">
                <a:solidFill>
                  <a:srgbClr val="152D47"/>
                </a:solidFill>
                <a:latin typeface="Crimson Pro"/>
                <a:ea typeface="Crimson Pro"/>
                <a:cs typeface="Crimson Pro"/>
                <a:sym typeface="Crimson Pro"/>
              </a:rPr>
              <a:t>Layer 1: User Interface</a:t>
            </a:r>
          </a:p>
        </p:txBody>
      </p:sp>
      <p:sp>
        <p:nvSpPr>
          <p:cNvPr name="TextBox 22" id="22"/>
          <p:cNvSpPr txBox="true"/>
          <p:nvPr/>
        </p:nvSpPr>
        <p:spPr>
          <a:xfrm rot="0">
            <a:off x="1144314" y="10753782"/>
            <a:ext cx="7860049" cy="543506"/>
          </a:xfrm>
          <a:prstGeom prst="rect">
            <a:avLst/>
          </a:prstGeom>
        </p:spPr>
        <p:txBody>
          <a:bodyPr anchor="t" rtlCol="false" tIns="0" lIns="0" bIns="0" rIns="0">
            <a:spAutoFit/>
          </a:bodyPr>
          <a:lstStyle/>
          <a:p>
            <a:pPr algn="l" marL="190321" indent="-95161" lvl="1">
              <a:lnSpc>
                <a:spcPts val="1260"/>
              </a:lnSpc>
              <a:buFont typeface="Arial"/>
              <a:buChar char="•"/>
            </a:pPr>
            <a:r>
              <a:rPr lang="en-US" sz="1050">
                <a:solidFill>
                  <a:srgbClr val="4C4C4D"/>
                </a:solidFill>
                <a:latin typeface="Heebo"/>
                <a:ea typeface="Heebo"/>
                <a:cs typeface="Heebo"/>
                <a:sym typeface="Heebo"/>
              </a:rPr>
              <a:t>Industrial PC with GUI</a:t>
            </a:r>
          </a:p>
          <a:p>
            <a:pPr algn="l" marL="190321" indent="-95161" lvl="1">
              <a:lnSpc>
                <a:spcPts val="1260"/>
              </a:lnSpc>
              <a:buFont typeface="Arial"/>
              <a:buChar char="•"/>
            </a:pPr>
            <a:r>
              <a:rPr lang="en-US" sz="1050">
                <a:solidFill>
                  <a:srgbClr val="4C4C4D"/>
                </a:solidFill>
                <a:latin typeface="Heebo"/>
                <a:ea typeface="Heebo"/>
                <a:cs typeface="Heebo"/>
                <a:sym typeface="Heebo"/>
              </a:rPr>
              <a:t>Real-time monitoring and control</a:t>
            </a:r>
          </a:p>
          <a:p>
            <a:pPr algn="l" marL="190321" indent="-95161" lvl="1">
              <a:lnSpc>
                <a:spcPts val="1260"/>
              </a:lnSpc>
              <a:buFont typeface="Arial"/>
              <a:buChar char="•"/>
            </a:pPr>
            <a:r>
              <a:rPr lang="en-US" sz="1050">
                <a:solidFill>
                  <a:srgbClr val="4C4C4D"/>
                </a:solidFill>
                <a:latin typeface="Heebo"/>
                <a:ea typeface="Heebo"/>
                <a:cs typeface="Heebo"/>
                <a:sym typeface="Heebo"/>
              </a:rPr>
              <a:t>Command generation</a:t>
            </a:r>
          </a:p>
        </p:txBody>
      </p:sp>
      <p:sp>
        <p:nvSpPr>
          <p:cNvPr name="TextBox 23" id="23"/>
          <p:cNvSpPr txBox="true"/>
          <p:nvPr/>
        </p:nvSpPr>
        <p:spPr>
          <a:xfrm rot="0">
            <a:off x="9297476" y="10470652"/>
            <a:ext cx="7860049" cy="231153"/>
          </a:xfrm>
          <a:prstGeom prst="rect">
            <a:avLst/>
          </a:prstGeom>
        </p:spPr>
        <p:txBody>
          <a:bodyPr anchor="t" rtlCol="false" tIns="0" lIns="0" bIns="0" rIns="0">
            <a:spAutoFit/>
          </a:bodyPr>
          <a:lstStyle/>
          <a:p>
            <a:pPr algn="l">
              <a:lnSpc>
                <a:spcPts val="1686"/>
              </a:lnSpc>
            </a:pPr>
            <a:r>
              <a:rPr lang="en-US" sz="1351">
                <a:solidFill>
                  <a:srgbClr val="152D47"/>
                </a:solidFill>
                <a:latin typeface="Crimson Pro"/>
                <a:ea typeface="Crimson Pro"/>
                <a:cs typeface="Crimson Pro"/>
                <a:sym typeface="Crimson Pro"/>
              </a:rPr>
              <a:t>Layer 2: Communication</a:t>
            </a:r>
          </a:p>
        </p:txBody>
      </p:sp>
      <p:sp>
        <p:nvSpPr>
          <p:cNvPr name="TextBox 24" id="24"/>
          <p:cNvSpPr txBox="true"/>
          <p:nvPr/>
        </p:nvSpPr>
        <p:spPr>
          <a:xfrm rot="0">
            <a:off x="9297476" y="10753782"/>
            <a:ext cx="7860049" cy="543506"/>
          </a:xfrm>
          <a:prstGeom prst="rect">
            <a:avLst/>
          </a:prstGeom>
        </p:spPr>
        <p:txBody>
          <a:bodyPr anchor="t" rtlCol="false" tIns="0" lIns="0" bIns="0" rIns="0">
            <a:spAutoFit/>
          </a:bodyPr>
          <a:lstStyle/>
          <a:p>
            <a:pPr algn="l" marL="190321" indent="-95161" lvl="1">
              <a:lnSpc>
                <a:spcPts val="1260"/>
              </a:lnSpc>
              <a:buFont typeface="Arial"/>
              <a:buChar char="•"/>
            </a:pPr>
            <a:r>
              <a:rPr lang="en-US" sz="1050">
                <a:solidFill>
                  <a:srgbClr val="4C4C4D"/>
                </a:solidFill>
                <a:latin typeface="Heebo"/>
                <a:ea typeface="Heebo"/>
                <a:cs typeface="Heebo"/>
                <a:sym typeface="Heebo"/>
              </a:rPr>
              <a:t>Ethernet Module</a:t>
            </a:r>
          </a:p>
          <a:p>
            <a:pPr algn="l" marL="190321" indent="-95161" lvl="1">
              <a:lnSpc>
                <a:spcPts val="1260"/>
              </a:lnSpc>
              <a:buFont typeface="Arial"/>
              <a:buChar char="•"/>
            </a:pPr>
            <a:r>
              <a:rPr lang="en-US" sz="1050">
                <a:solidFill>
                  <a:srgbClr val="4C4C4D"/>
                </a:solidFill>
                <a:latin typeface="Heebo"/>
                <a:ea typeface="Heebo"/>
                <a:cs typeface="Heebo"/>
                <a:sym typeface="Heebo"/>
              </a:rPr>
              <a:t>Protocol handling</a:t>
            </a:r>
          </a:p>
          <a:p>
            <a:pPr algn="l" marL="190321" indent="-95161" lvl="1">
              <a:lnSpc>
                <a:spcPts val="1260"/>
              </a:lnSpc>
              <a:buFont typeface="Arial"/>
              <a:buChar char="•"/>
            </a:pPr>
            <a:r>
              <a:rPr lang="en-US" sz="1050">
                <a:solidFill>
                  <a:srgbClr val="4C4C4D"/>
                </a:solidFill>
                <a:latin typeface="Heebo"/>
                <a:ea typeface="Heebo"/>
                <a:cs typeface="Heebo"/>
                <a:sym typeface="Heebo"/>
              </a:rPr>
              <a:t>CRC verification</a:t>
            </a:r>
          </a:p>
        </p:txBody>
      </p:sp>
      <p:sp>
        <p:nvSpPr>
          <p:cNvPr name="TextBox 25" id="25"/>
          <p:cNvSpPr txBox="true"/>
          <p:nvPr/>
        </p:nvSpPr>
        <p:spPr>
          <a:xfrm rot="0">
            <a:off x="1144314" y="11379965"/>
            <a:ext cx="7860049" cy="231153"/>
          </a:xfrm>
          <a:prstGeom prst="rect">
            <a:avLst/>
          </a:prstGeom>
        </p:spPr>
        <p:txBody>
          <a:bodyPr anchor="t" rtlCol="false" tIns="0" lIns="0" bIns="0" rIns="0">
            <a:spAutoFit/>
          </a:bodyPr>
          <a:lstStyle/>
          <a:p>
            <a:pPr algn="l">
              <a:lnSpc>
                <a:spcPts val="1686"/>
              </a:lnSpc>
            </a:pPr>
            <a:r>
              <a:rPr lang="en-US" sz="1351">
                <a:solidFill>
                  <a:srgbClr val="152D47"/>
                </a:solidFill>
                <a:latin typeface="Crimson Pro"/>
                <a:ea typeface="Crimson Pro"/>
                <a:cs typeface="Crimson Pro"/>
                <a:sym typeface="Crimson Pro"/>
              </a:rPr>
              <a:t>Layer 3: Control Logic</a:t>
            </a:r>
          </a:p>
        </p:txBody>
      </p:sp>
      <p:sp>
        <p:nvSpPr>
          <p:cNvPr name="TextBox 26" id="26"/>
          <p:cNvSpPr txBox="true"/>
          <p:nvPr/>
        </p:nvSpPr>
        <p:spPr>
          <a:xfrm rot="0">
            <a:off x="1144314" y="11663086"/>
            <a:ext cx="7860049" cy="543506"/>
          </a:xfrm>
          <a:prstGeom prst="rect">
            <a:avLst/>
          </a:prstGeom>
        </p:spPr>
        <p:txBody>
          <a:bodyPr anchor="t" rtlCol="false" tIns="0" lIns="0" bIns="0" rIns="0">
            <a:spAutoFit/>
          </a:bodyPr>
          <a:lstStyle/>
          <a:p>
            <a:pPr algn="l" marL="190321" indent="-95161" lvl="1">
              <a:lnSpc>
                <a:spcPts val="1260"/>
              </a:lnSpc>
              <a:buFont typeface="Arial"/>
              <a:buChar char="•"/>
            </a:pPr>
            <a:r>
              <a:rPr lang="en-US" sz="1050">
                <a:solidFill>
                  <a:srgbClr val="4C4C4D"/>
                </a:solidFill>
                <a:latin typeface="Heebo"/>
                <a:ea typeface="Heebo"/>
                <a:cs typeface="Heebo"/>
                <a:sym typeface="Heebo"/>
              </a:rPr>
              <a:t>Microcontroller (SPI Master)</a:t>
            </a:r>
          </a:p>
          <a:p>
            <a:pPr algn="l" marL="190321" indent="-95161" lvl="1">
              <a:lnSpc>
                <a:spcPts val="1260"/>
              </a:lnSpc>
              <a:buFont typeface="Arial"/>
              <a:buChar char="•"/>
            </a:pPr>
            <a:r>
              <a:rPr lang="en-US" sz="1050">
                <a:solidFill>
                  <a:srgbClr val="4C4C4D"/>
                </a:solidFill>
                <a:latin typeface="Heebo"/>
                <a:ea typeface="Heebo"/>
                <a:cs typeface="Heebo"/>
                <a:sym typeface="Heebo"/>
              </a:rPr>
              <a:t>Command processing</a:t>
            </a:r>
          </a:p>
          <a:p>
            <a:pPr algn="l" marL="190321" indent="-95161" lvl="1">
              <a:lnSpc>
                <a:spcPts val="1260"/>
              </a:lnSpc>
              <a:buFont typeface="Arial"/>
              <a:buChar char="•"/>
            </a:pPr>
            <a:r>
              <a:rPr lang="en-US" sz="1050">
                <a:solidFill>
                  <a:srgbClr val="4C4C4D"/>
                </a:solidFill>
                <a:latin typeface="Heebo"/>
                <a:ea typeface="Heebo"/>
                <a:cs typeface="Heebo"/>
                <a:sym typeface="Heebo"/>
              </a:rPr>
              <a:t>Device management</a:t>
            </a:r>
          </a:p>
        </p:txBody>
      </p:sp>
      <p:sp>
        <p:nvSpPr>
          <p:cNvPr name="TextBox 27" id="27"/>
          <p:cNvSpPr txBox="true"/>
          <p:nvPr/>
        </p:nvSpPr>
        <p:spPr>
          <a:xfrm rot="0">
            <a:off x="9297476" y="11379965"/>
            <a:ext cx="7860049" cy="231153"/>
          </a:xfrm>
          <a:prstGeom prst="rect">
            <a:avLst/>
          </a:prstGeom>
        </p:spPr>
        <p:txBody>
          <a:bodyPr anchor="t" rtlCol="false" tIns="0" lIns="0" bIns="0" rIns="0">
            <a:spAutoFit/>
          </a:bodyPr>
          <a:lstStyle/>
          <a:p>
            <a:pPr algn="l">
              <a:lnSpc>
                <a:spcPts val="1686"/>
              </a:lnSpc>
            </a:pPr>
            <a:r>
              <a:rPr lang="en-US" sz="1351">
                <a:solidFill>
                  <a:srgbClr val="152D47"/>
                </a:solidFill>
                <a:latin typeface="Crimson Pro"/>
                <a:ea typeface="Crimson Pro"/>
                <a:cs typeface="Crimson Pro"/>
                <a:sym typeface="Crimson Pro"/>
              </a:rPr>
              <a:t>Layer 4: GPIO Expansion</a:t>
            </a:r>
          </a:p>
        </p:txBody>
      </p:sp>
      <p:sp>
        <p:nvSpPr>
          <p:cNvPr name="TextBox 28" id="28"/>
          <p:cNvSpPr txBox="true"/>
          <p:nvPr/>
        </p:nvSpPr>
        <p:spPr>
          <a:xfrm rot="0">
            <a:off x="9297476" y="11663086"/>
            <a:ext cx="7860049" cy="543506"/>
          </a:xfrm>
          <a:prstGeom prst="rect">
            <a:avLst/>
          </a:prstGeom>
        </p:spPr>
        <p:txBody>
          <a:bodyPr anchor="t" rtlCol="false" tIns="0" lIns="0" bIns="0" rIns="0">
            <a:spAutoFit/>
          </a:bodyPr>
          <a:lstStyle/>
          <a:p>
            <a:pPr algn="l" marL="190321" indent="-95161" lvl="1">
              <a:lnSpc>
                <a:spcPts val="1260"/>
              </a:lnSpc>
              <a:buFont typeface="Arial"/>
              <a:buChar char="•"/>
            </a:pPr>
            <a:r>
              <a:rPr lang="en-US" sz="1050">
                <a:solidFill>
                  <a:srgbClr val="4C4C4D"/>
                </a:solidFill>
                <a:latin typeface="Heebo"/>
                <a:ea typeface="Heebo"/>
                <a:cs typeface="Heebo"/>
                <a:sym typeface="Heebo"/>
              </a:rPr>
              <a:t>MCP23S17 SPI GPIO Expanders</a:t>
            </a:r>
          </a:p>
          <a:p>
            <a:pPr algn="l" marL="190321" indent="-95161" lvl="1">
              <a:lnSpc>
                <a:spcPts val="1260"/>
              </a:lnSpc>
              <a:buFont typeface="Arial"/>
              <a:buChar char="•"/>
            </a:pPr>
            <a:r>
              <a:rPr lang="en-US" sz="1050">
                <a:solidFill>
                  <a:srgbClr val="4C4C4D"/>
                </a:solidFill>
                <a:latin typeface="Heebo"/>
                <a:ea typeface="Heebo"/>
                <a:cs typeface="Heebo"/>
                <a:sym typeface="Heebo"/>
              </a:rPr>
              <a:t>4 devices for 32 GPIO channels</a:t>
            </a:r>
          </a:p>
          <a:p>
            <a:pPr algn="l" marL="190321" indent="-95161" lvl="1">
              <a:lnSpc>
                <a:spcPts val="1260"/>
              </a:lnSpc>
              <a:buFont typeface="Arial"/>
              <a:buChar char="•"/>
            </a:pPr>
            <a:r>
              <a:rPr lang="en-US" sz="1050">
                <a:solidFill>
                  <a:srgbClr val="4C4C4D"/>
                </a:solidFill>
                <a:latin typeface="Heebo"/>
                <a:ea typeface="Heebo"/>
                <a:cs typeface="Heebo"/>
                <a:sym typeface="Heebo"/>
              </a:rPr>
              <a:t>Each device controls 8 channels</a:t>
            </a:r>
          </a:p>
        </p:txBody>
      </p:sp>
      <p:sp>
        <p:nvSpPr>
          <p:cNvPr name="TextBox 29" id="29"/>
          <p:cNvSpPr txBox="true"/>
          <p:nvPr/>
        </p:nvSpPr>
        <p:spPr>
          <a:xfrm rot="0">
            <a:off x="1144314" y="12289269"/>
            <a:ext cx="7860049" cy="231153"/>
          </a:xfrm>
          <a:prstGeom prst="rect">
            <a:avLst/>
          </a:prstGeom>
        </p:spPr>
        <p:txBody>
          <a:bodyPr anchor="t" rtlCol="false" tIns="0" lIns="0" bIns="0" rIns="0">
            <a:spAutoFit/>
          </a:bodyPr>
          <a:lstStyle/>
          <a:p>
            <a:pPr algn="l">
              <a:lnSpc>
                <a:spcPts val="1686"/>
              </a:lnSpc>
            </a:pPr>
            <a:r>
              <a:rPr lang="en-US" sz="1351">
                <a:solidFill>
                  <a:srgbClr val="152D47"/>
                </a:solidFill>
                <a:latin typeface="Crimson Pro"/>
                <a:ea typeface="Crimson Pro"/>
                <a:cs typeface="Crimson Pro"/>
                <a:sym typeface="Crimson Pro"/>
              </a:rPr>
              <a:t>Layer 5: Power Switching</a:t>
            </a:r>
          </a:p>
        </p:txBody>
      </p:sp>
      <p:sp>
        <p:nvSpPr>
          <p:cNvPr name="TextBox 30" id="30"/>
          <p:cNvSpPr txBox="true"/>
          <p:nvPr/>
        </p:nvSpPr>
        <p:spPr>
          <a:xfrm rot="0">
            <a:off x="1144314" y="12572400"/>
            <a:ext cx="7860049" cy="543506"/>
          </a:xfrm>
          <a:prstGeom prst="rect">
            <a:avLst/>
          </a:prstGeom>
        </p:spPr>
        <p:txBody>
          <a:bodyPr anchor="t" rtlCol="false" tIns="0" lIns="0" bIns="0" rIns="0">
            <a:spAutoFit/>
          </a:bodyPr>
          <a:lstStyle/>
          <a:p>
            <a:pPr algn="l" marL="190321" indent="-95161" lvl="1">
              <a:lnSpc>
                <a:spcPts val="1260"/>
              </a:lnSpc>
              <a:buFont typeface="Arial"/>
              <a:buChar char="•"/>
            </a:pPr>
            <a:r>
              <a:rPr lang="en-US" sz="1050">
                <a:solidFill>
                  <a:srgbClr val="4C4C4D"/>
                </a:solidFill>
                <a:latin typeface="Heebo"/>
                <a:ea typeface="Heebo"/>
                <a:cs typeface="Heebo"/>
                <a:sym typeface="Heebo"/>
              </a:rPr>
              <a:t>MOSFET High-Side Drivers</a:t>
            </a:r>
          </a:p>
          <a:p>
            <a:pPr algn="l" marL="190321" indent="-95161" lvl="1">
              <a:lnSpc>
                <a:spcPts val="1260"/>
              </a:lnSpc>
              <a:buFont typeface="Arial"/>
              <a:buChar char="•"/>
            </a:pPr>
            <a:r>
              <a:rPr lang="en-US" sz="1050">
                <a:solidFill>
                  <a:srgbClr val="4C4C4D"/>
                </a:solidFill>
                <a:latin typeface="Heebo"/>
                <a:ea typeface="Heebo"/>
                <a:cs typeface="Heebo"/>
                <a:sym typeface="Heebo"/>
              </a:rPr>
              <a:t>Galvanic isolation</a:t>
            </a:r>
          </a:p>
          <a:p>
            <a:pPr algn="l" marL="190321" indent="-95161" lvl="1">
              <a:lnSpc>
                <a:spcPts val="1260"/>
              </a:lnSpc>
              <a:buFont typeface="Arial"/>
              <a:buChar char="•"/>
            </a:pPr>
            <a:r>
              <a:rPr lang="en-US" sz="1050">
                <a:solidFill>
                  <a:srgbClr val="4C4C4D"/>
                </a:solidFill>
                <a:latin typeface="Heebo"/>
                <a:ea typeface="Heebo"/>
                <a:cs typeface="Heebo"/>
                <a:sym typeface="Heebo"/>
              </a:rPr>
              <a:t>100V load switching</a:t>
            </a:r>
          </a:p>
        </p:txBody>
      </p:sp>
      <p:sp>
        <p:nvSpPr>
          <p:cNvPr name="TextBox 31" id="31"/>
          <p:cNvSpPr txBox="true"/>
          <p:nvPr/>
        </p:nvSpPr>
        <p:spPr>
          <a:xfrm rot="0">
            <a:off x="9297476" y="12289269"/>
            <a:ext cx="7860049" cy="231153"/>
          </a:xfrm>
          <a:prstGeom prst="rect">
            <a:avLst/>
          </a:prstGeom>
        </p:spPr>
        <p:txBody>
          <a:bodyPr anchor="t" rtlCol="false" tIns="0" lIns="0" bIns="0" rIns="0">
            <a:spAutoFit/>
          </a:bodyPr>
          <a:lstStyle/>
          <a:p>
            <a:pPr algn="l">
              <a:lnSpc>
                <a:spcPts val="1686"/>
              </a:lnSpc>
            </a:pPr>
            <a:r>
              <a:rPr lang="en-US" sz="1351">
                <a:solidFill>
                  <a:srgbClr val="152D47"/>
                </a:solidFill>
                <a:latin typeface="Crimson Pro"/>
                <a:ea typeface="Crimson Pro"/>
                <a:cs typeface="Crimson Pro"/>
                <a:sym typeface="Crimson Pro"/>
              </a:rPr>
              <a:t>Layer 6: Load Control</a:t>
            </a:r>
          </a:p>
        </p:txBody>
      </p:sp>
      <p:sp>
        <p:nvSpPr>
          <p:cNvPr name="TextBox 32" id="32"/>
          <p:cNvSpPr txBox="true"/>
          <p:nvPr/>
        </p:nvSpPr>
        <p:spPr>
          <a:xfrm rot="0">
            <a:off x="9297476" y="12572400"/>
            <a:ext cx="7860049" cy="543506"/>
          </a:xfrm>
          <a:prstGeom prst="rect">
            <a:avLst/>
          </a:prstGeom>
        </p:spPr>
        <p:txBody>
          <a:bodyPr anchor="t" rtlCol="false" tIns="0" lIns="0" bIns="0" rIns="0">
            <a:spAutoFit/>
          </a:bodyPr>
          <a:lstStyle/>
          <a:p>
            <a:pPr algn="l" marL="190321" indent="-95161" lvl="1">
              <a:lnSpc>
                <a:spcPts val="1260"/>
              </a:lnSpc>
              <a:buFont typeface="Arial"/>
              <a:buChar char="•"/>
            </a:pPr>
            <a:r>
              <a:rPr lang="en-US" sz="1050">
                <a:solidFill>
                  <a:srgbClr val="4C4C4D"/>
                </a:solidFill>
                <a:latin typeface="Heebo"/>
                <a:ea typeface="Heebo"/>
                <a:cs typeface="Heebo"/>
                <a:sym typeface="Heebo"/>
              </a:rPr>
              <a:t>Crew module subsystems</a:t>
            </a:r>
          </a:p>
          <a:p>
            <a:pPr algn="l" marL="190321" indent="-95161" lvl="1">
              <a:lnSpc>
                <a:spcPts val="1260"/>
              </a:lnSpc>
              <a:buFont typeface="Arial"/>
              <a:buChar char="•"/>
            </a:pPr>
            <a:r>
              <a:rPr lang="en-US" sz="1050">
                <a:solidFill>
                  <a:srgbClr val="4C4C4D"/>
                </a:solidFill>
                <a:latin typeface="Heebo"/>
                <a:ea typeface="Heebo"/>
                <a:cs typeface="Heebo"/>
                <a:sym typeface="Heebo"/>
              </a:rPr>
              <a:t>Real-time switching</a:t>
            </a:r>
          </a:p>
          <a:p>
            <a:pPr algn="l" marL="190321" indent="-95161" lvl="1">
              <a:lnSpc>
                <a:spcPts val="1260"/>
              </a:lnSpc>
              <a:buFont typeface="Arial"/>
              <a:buChar char="•"/>
            </a:pPr>
            <a:r>
              <a:rPr lang="en-US" sz="1050">
                <a:solidFill>
                  <a:srgbClr val="4C4C4D"/>
                </a:solidFill>
                <a:latin typeface="Heebo"/>
                <a:ea typeface="Heebo"/>
                <a:cs typeface="Heebo"/>
                <a:sym typeface="Heebo"/>
              </a:rPr>
              <a:t>Reliable operation</a:t>
            </a:r>
          </a:p>
        </p:txBody>
      </p:sp>
      <p:sp>
        <p:nvSpPr>
          <p:cNvPr name="TextBox 33" id="33"/>
          <p:cNvSpPr txBox="true"/>
          <p:nvPr/>
        </p:nvSpPr>
        <p:spPr>
          <a:xfrm rot="0">
            <a:off x="992991" y="13233892"/>
            <a:ext cx="16315868" cy="383210"/>
          </a:xfrm>
          <a:prstGeom prst="rect">
            <a:avLst/>
          </a:prstGeom>
        </p:spPr>
        <p:txBody>
          <a:bodyPr anchor="t" rtlCol="false" tIns="0" lIns="0" bIns="0" rIns="0">
            <a:spAutoFit/>
          </a:bodyPr>
          <a:lstStyle/>
          <a:p>
            <a:pPr algn="l">
              <a:lnSpc>
                <a:spcPts val="2716"/>
              </a:lnSpc>
            </a:pPr>
            <a:r>
              <a:rPr lang="en-US" sz="2176">
                <a:solidFill>
                  <a:srgbClr val="152D47"/>
                </a:solidFill>
                <a:latin typeface="Crimson Pro"/>
                <a:ea typeface="Crimson Pro"/>
                <a:cs typeface="Crimson Pro"/>
                <a:sym typeface="Crimson Pro"/>
              </a:rPr>
              <a:t>System Characteristics</a:t>
            </a:r>
          </a:p>
        </p:txBody>
      </p:sp>
      <p:sp>
        <p:nvSpPr>
          <p:cNvPr name="TextBox 34" id="34"/>
          <p:cNvSpPr txBox="true"/>
          <p:nvPr/>
        </p:nvSpPr>
        <p:spPr>
          <a:xfrm rot="0">
            <a:off x="992991" y="13732974"/>
            <a:ext cx="16315868" cy="745627"/>
          </a:xfrm>
          <a:prstGeom prst="rect">
            <a:avLst/>
          </a:prstGeom>
        </p:spPr>
        <p:txBody>
          <a:bodyPr anchor="t" rtlCol="false" tIns="0" lIns="0" bIns="0" rIns="0">
            <a:spAutoFit/>
          </a:bodyPr>
          <a:lstStyle/>
          <a:p>
            <a:pPr algn="l" marL="190321" indent="-95161" lvl="1">
              <a:lnSpc>
                <a:spcPts val="1260"/>
              </a:lnSpc>
              <a:buFont typeface="Arial"/>
              <a:buChar char="•"/>
            </a:pPr>
            <a:r>
              <a:rPr lang="en-US" sz="1050">
                <a:solidFill>
                  <a:srgbClr val="4C4C4D"/>
                </a:solidFill>
                <a:latin typeface="Heebo"/>
                <a:ea typeface="Heebo"/>
                <a:cs typeface="Heebo"/>
                <a:sym typeface="Heebo"/>
              </a:rPr>
              <a:t>Modular and scalable architecture</a:t>
            </a:r>
          </a:p>
          <a:p>
            <a:pPr algn="l" marL="190321" indent="-95161" lvl="1">
              <a:lnSpc>
                <a:spcPts val="1260"/>
              </a:lnSpc>
              <a:buFont typeface="Arial"/>
              <a:buChar char="•"/>
            </a:pPr>
            <a:r>
              <a:rPr lang="en-US" sz="1050">
                <a:solidFill>
                  <a:srgbClr val="4C4C4D"/>
                </a:solidFill>
                <a:latin typeface="Heebo"/>
                <a:ea typeface="Heebo"/>
                <a:cs typeface="Heebo"/>
                <a:sym typeface="Heebo"/>
              </a:rPr>
              <a:t>Real-time communication</a:t>
            </a:r>
          </a:p>
          <a:p>
            <a:pPr algn="l" marL="190321" indent="-95161" lvl="1">
              <a:lnSpc>
                <a:spcPts val="1260"/>
              </a:lnSpc>
              <a:buFont typeface="Arial"/>
              <a:buChar char="•"/>
            </a:pPr>
            <a:r>
              <a:rPr lang="en-US" sz="1050">
                <a:solidFill>
                  <a:srgbClr val="4C4C4D"/>
                </a:solidFill>
                <a:latin typeface="Heebo"/>
                <a:ea typeface="Heebo"/>
                <a:cs typeface="Heebo"/>
                <a:sym typeface="Heebo"/>
              </a:rPr>
              <a:t>Redundancy capability</a:t>
            </a:r>
          </a:p>
          <a:p>
            <a:pPr algn="l" marL="190321" indent="-95161" lvl="1">
              <a:lnSpc>
                <a:spcPts val="1260"/>
              </a:lnSpc>
              <a:buFont typeface="Arial"/>
              <a:buChar char="•"/>
            </a:pPr>
            <a:r>
              <a:rPr lang="en-US" sz="1050">
                <a:solidFill>
                  <a:srgbClr val="4C4C4D"/>
                </a:solidFill>
                <a:latin typeface="Heebo"/>
                <a:ea typeface="Heebo"/>
                <a:cs typeface="Heebo"/>
                <a:sym typeface="Heebo"/>
              </a:rPr>
              <a:t>Industrial-grade reliability</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0F0F1"/>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6" id="6"/>
          <p:cNvGrpSpPr/>
          <p:nvPr/>
        </p:nvGrpSpPr>
        <p:grpSpPr>
          <a:xfrm rot="0">
            <a:off x="16628307" y="9846183"/>
            <a:ext cx="1609020" cy="384353"/>
            <a:chOff x="0" y="0"/>
            <a:chExt cx="2145360" cy="512470"/>
          </a:xfrm>
        </p:grpSpPr>
        <p:sp>
          <p:nvSpPr>
            <p:cNvPr name="Freeform 7" id="7" descr="preencoded.png">
              <a:hlinkClick r:id="rId3" tooltip="https://gamma.app/?utm_source=made-with-gamma"/>
            </p:cNvPr>
            <p:cNvSpPr/>
            <p:nvPr/>
          </p:nvSpPr>
          <p:spPr>
            <a:xfrm flipH="false" flipV="false" rot="0">
              <a:off x="0" y="0"/>
              <a:ext cx="2145411" cy="512445"/>
            </a:xfrm>
            <a:custGeom>
              <a:avLst/>
              <a:gdLst/>
              <a:ahLst/>
              <a:cxnLst/>
              <a:rect r="r" b="b" t="t" l="l"/>
              <a:pathLst>
                <a:path h="512445" w="2145411">
                  <a:moveTo>
                    <a:pt x="0" y="0"/>
                  </a:moveTo>
                  <a:lnTo>
                    <a:pt x="2145411" y="0"/>
                  </a:lnTo>
                  <a:lnTo>
                    <a:pt x="2145411" y="512445"/>
                  </a:lnTo>
                  <a:lnTo>
                    <a:pt x="0" y="512445"/>
                  </a:lnTo>
                  <a:lnTo>
                    <a:pt x="0" y="0"/>
                  </a:lnTo>
                  <a:close/>
                </a:path>
              </a:pathLst>
            </a:custGeom>
            <a:blipFill>
              <a:blip r:embed="rId4"/>
              <a:stretch>
                <a:fillRect l="0" t="0" r="2" b="-4"/>
              </a:stretch>
            </a:blipFill>
          </p:spPr>
        </p:sp>
      </p:grpSp>
      <p:sp>
        <p:nvSpPr>
          <p:cNvPr name="TextBox 8" id="8"/>
          <p:cNvSpPr txBox="true"/>
          <p:nvPr/>
        </p:nvSpPr>
        <p:spPr>
          <a:xfrm rot="0">
            <a:off x="992991" y="757704"/>
            <a:ext cx="16315868" cy="721319"/>
          </a:xfrm>
          <a:prstGeom prst="rect">
            <a:avLst/>
          </a:prstGeom>
        </p:spPr>
        <p:txBody>
          <a:bodyPr anchor="t" rtlCol="false" tIns="0" lIns="0" bIns="0" rIns="0">
            <a:spAutoFit/>
          </a:bodyPr>
          <a:lstStyle/>
          <a:p>
            <a:pPr algn="l">
              <a:lnSpc>
                <a:spcPts val="5433"/>
              </a:lnSpc>
            </a:pPr>
            <a:r>
              <a:rPr lang="en-US" sz="4353">
                <a:solidFill>
                  <a:srgbClr val="152D47"/>
                </a:solidFill>
                <a:latin typeface="Crimson Pro"/>
                <a:ea typeface="Crimson Pro"/>
                <a:cs typeface="Crimson Pro"/>
                <a:sym typeface="Crimson Pro"/>
              </a:rPr>
              <a:t>Complete System Design Flow &amp; Implementation</a:t>
            </a:r>
          </a:p>
        </p:txBody>
      </p:sp>
      <p:grpSp>
        <p:nvGrpSpPr>
          <p:cNvPr name="Group 9" id="9"/>
          <p:cNvGrpSpPr/>
          <p:nvPr/>
        </p:nvGrpSpPr>
        <p:grpSpPr>
          <a:xfrm rot="0">
            <a:off x="992991" y="1825314"/>
            <a:ext cx="12744412" cy="7172716"/>
            <a:chOff x="0" y="0"/>
            <a:chExt cx="16992549" cy="9563621"/>
          </a:xfrm>
        </p:grpSpPr>
        <p:sp>
          <p:nvSpPr>
            <p:cNvPr name="Freeform 10" id="10" descr="preencoded.png"/>
            <p:cNvSpPr/>
            <p:nvPr/>
          </p:nvSpPr>
          <p:spPr>
            <a:xfrm flipH="false" flipV="false" rot="0">
              <a:off x="0" y="0"/>
              <a:ext cx="16992600" cy="9563608"/>
            </a:xfrm>
            <a:custGeom>
              <a:avLst/>
              <a:gdLst/>
              <a:ahLst/>
              <a:cxnLst/>
              <a:rect r="r" b="b" t="t" l="l"/>
              <a:pathLst>
                <a:path h="9563608" w="16992600">
                  <a:moveTo>
                    <a:pt x="0" y="0"/>
                  </a:moveTo>
                  <a:lnTo>
                    <a:pt x="16992600" y="0"/>
                  </a:lnTo>
                  <a:lnTo>
                    <a:pt x="16992600" y="9563608"/>
                  </a:lnTo>
                  <a:lnTo>
                    <a:pt x="0" y="9563608"/>
                  </a:lnTo>
                  <a:lnTo>
                    <a:pt x="0" y="0"/>
                  </a:lnTo>
                  <a:close/>
                </a:path>
              </a:pathLst>
            </a:custGeom>
            <a:blipFill>
              <a:blip r:embed="rId5"/>
              <a:stretch>
                <a:fillRect l="0" t="-34" r="0" b="-34"/>
              </a:stretch>
            </a:blipFill>
          </p:spPr>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0F0F1"/>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6" id="6"/>
          <p:cNvGrpSpPr/>
          <p:nvPr/>
        </p:nvGrpSpPr>
        <p:grpSpPr>
          <a:xfrm rot="0">
            <a:off x="16628307" y="9846183"/>
            <a:ext cx="1609020" cy="384353"/>
            <a:chOff x="0" y="0"/>
            <a:chExt cx="2145360" cy="512470"/>
          </a:xfrm>
        </p:grpSpPr>
        <p:sp>
          <p:nvSpPr>
            <p:cNvPr name="Freeform 7" id="7" descr="preencoded.png">
              <a:hlinkClick r:id="rId3" tooltip="https://gamma.app/?utm_source=made-with-gamma"/>
            </p:cNvPr>
            <p:cNvSpPr/>
            <p:nvPr/>
          </p:nvSpPr>
          <p:spPr>
            <a:xfrm flipH="false" flipV="false" rot="0">
              <a:off x="0" y="0"/>
              <a:ext cx="2145411" cy="512445"/>
            </a:xfrm>
            <a:custGeom>
              <a:avLst/>
              <a:gdLst/>
              <a:ahLst/>
              <a:cxnLst/>
              <a:rect r="r" b="b" t="t" l="l"/>
              <a:pathLst>
                <a:path h="512445" w="2145411">
                  <a:moveTo>
                    <a:pt x="0" y="0"/>
                  </a:moveTo>
                  <a:lnTo>
                    <a:pt x="2145411" y="0"/>
                  </a:lnTo>
                  <a:lnTo>
                    <a:pt x="2145411" y="512445"/>
                  </a:lnTo>
                  <a:lnTo>
                    <a:pt x="0" y="512445"/>
                  </a:lnTo>
                  <a:lnTo>
                    <a:pt x="0" y="0"/>
                  </a:lnTo>
                  <a:close/>
                </a:path>
              </a:pathLst>
            </a:custGeom>
            <a:blipFill>
              <a:blip r:embed="rId4"/>
              <a:stretch>
                <a:fillRect l="0" t="0" r="2" b="-4"/>
              </a:stretch>
            </a:blipFill>
          </p:spPr>
        </p:sp>
      </p:grpSp>
      <p:sp>
        <p:nvSpPr>
          <p:cNvPr name="TextBox 8" id="8"/>
          <p:cNvSpPr txBox="true"/>
          <p:nvPr/>
        </p:nvSpPr>
        <p:spPr>
          <a:xfrm rot="0">
            <a:off x="992991" y="761267"/>
            <a:ext cx="16315868" cy="490014"/>
          </a:xfrm>
          <a:prstGeom prst="rect">
            <a:avLst/>
          </a:prstGeom>
        </p:spPr>
        <p:txBody>
          <a:bodyPr anchor="t" rtlCol="false" tIns="0" lIns="0" bIns="0" rIns="0">
            <a:spAutoFit/>
          </a:bodyPr>
          <a:lstStyle/>
          <a:p>
            <a:pPr algn="l">
              <a:lnSpc>
                <a:spcPts val="3653"/>
              </a:lnSpc>
            </a:pPr>
            <a:r>
              <a:rPr lang="en-US" sz="2927">
                <a:solidFill>
                  <a:srgbClr val="152D47"/>
                </a:solidFill>
                <a:latin typeface="Crimson Pro"/>
                <a:ea typeface="Crimson Pro"/>
                <a:cs typeface="Crimson Pro"/>
                <a:sym typeface="Crimson Pro"/>
              </a:rPr>
              <a:t>Communication Flow &amp; Protocol Frame</a:t>
            </a:r>
          </a:p>
        </p:txBody>
      </p:sp>
      <p:sp>
        <p:nvSpPr>
          <p:cNvPr name="TextBox 9" id="9"/>
          <p:cNvSpPr txBox="true"/>
          <p:nvPr/>
        </p:nvSpPr>
        <p:spPr>
          <a:xfrm rot="0">
            <a:off x="992991" y="1254728"/>
            <a:ext cx="16315868" cy="405403"/>
          </a:xfrm>
          <a:prstGeom prst="rect">
            <a:avLst/>
          </a:prstGeom>
        </p:spPr>
        <p:txBody>
          <a:bodyPr anchor="t" rtlCol="false" tIns="0" lIns="0" bIns="0" rIns="0">
            <a:spAutoFit/>
          </a:bodyPr>
          <a:lstStyle/>
          <a:p>
            <a:pPr algn="l">
              <a:lnSpc>
                <a:spcPts val="2903"/>
              </a:lnSpc>
            </a:pPr>
            <a:r>
              <a:rPr lang="en-US" sz="2326">
                <a:solidFill>
                  <a:srgbClr val="152D47"/>
                </a:solidFill>
                <a:latin typeface="Crimson Pro"/>
                <a:ea typeface="Crimson Pro"/>
                <a:cs typeface="Crimson Pro"/>
                <a:sym typeface="Crimson Pro"/>
              </a:rPr>
              <a:t>Communication Sequence</a:t>
            </a:r>
          </a:p>
        </p:txBody>
      </p:sp>
      <p:grpSp>
        <p:nvGrpSpPr>
          <p:cNvPr name="Group 10" id="10"/>
          <p:cNvGrpSpPr/>
          <p:nvPr/>
        </p:nvGrpSpPr>
        <p:grpSpPr>
          <a:xfrm rot="0">
            <a:off x="988219" y="1775422"/>
            <a:ext cx="16325393" cy="1873425"/>
            <a:chOff x="0" y="0"/>
            <a:chExt cx="21767190" cy="2497900"/>
          </a:xfrm>
        </p:grpSpPr>
        <p:sp>
          <p:nvSpPr>
            <p:cNvPr name="Freeform 11" id="11"/>
            <p:cNvSpPr/>
            <p:nvPr/>
          </p:nvSpPr>
          <p:spPr>
            <a:xfrm flipH="false" flipV="false" rot="0">
              <a:off x="0" y="0"/>
              <a:ext cx="21767292" cy="2497963"/>
            </a:xfrm>
            <a:custGeom>
              <a:avLst/>
              <a:gdLst/>
              <a:ahLst/>
              <a:cxnLst/>
              <a:rect r="r" b="b" t="t" l="l"/>
              <a:pathLst>
                <a:path h="2497963" w="21767292">
                  <a:moveTo>
                    <a:pt x="0" y="30353"/>
                  </a:moveTo>
                  <a:cubicBezTo>
                    <a:pt x="0" y="13589"/>
                    <a:pt x="13589" y="0"/>
                    <a:pt x="30353" y="0"/>
                  </a:cubicBezTo>
                  <a:lnTo>
                    <a:pt x="21736938" y="0"/>
                  </a:lnTo>
                  <a:cubicBezTo>
                    <a:pt x="21753702" y="0"/>
                    <a:pt x="21767292" y="13589"/>
                    <a:pt x="21767292" y="30353"/>
                  </a:cubicBezTo>
                  <a:lnTo>
                    <a:pt x="21767292" y="2467610"/>
                  </a:lnTo>
                  <a:cubicBezTo>
                    <a:pt x="21767292" y="2484374"/>
                    <a:pt x="21753702" y="2497963"/>
                    <a:pt x="21736938" y="2497963"/>
                  </a:cubicBezTo>
                  <a:lnTo>
                    <a:pt x="30353" y="2497963"/>
                  </a:lnTo>
                  <a:cubicBezTo>
                    <a:pt x="13589" y="2497963"/>
                    <a:pt x="0" y="2484374"/>
                    <a:pt x="0" y="2467610"/>
                  </a:cubicBezTo>
                  <a:close/>
                </a:path>
              </a:pathLst>
            </a:custGeom>
            <a:blipFill>
              <a:blip r:embed="rId5">
                <a:alphaModFix amt="0"/>
              </a:blip>
              <a:stretch>
                <a:fillRect l="0" t="-119793" r="0" b="-119790"/>
              </a:stretch>
            </a:blipFill>
            <a:ln w="9532" cap="sq">
              <a:solidFill>
                <a:srgbClr val="000000"/>
              </a:solidFill>
              <a:prstDash val="solid"/>
              <a:miter/>
            </a:ln>
          </p:spPr>
        </p:sp>
      </p:grpSp>
      <p:grpSp>
        <p:nvGrpSpPr>
          <p:cNvPr name="Group 12" id="12"/>
          <p:cNvGrpSpPr/>
          <p:nvPr/>
        </p:nvGrpSpPr>
        <p:grpSpPr>
          <a:xfrm rot="0">
            <a:off x="992991" y="2094014"/>
            <a:ext cx="16315868" cy="9535"/>
            <a:chOff x="0" y="0"/>
            <a:chExt cx="21754490" cy="12713"/>
          </a:xfrm>
        </p:grpSpPr>
        <p:sp>
          <p:nvSpPr>
            <p:cNvPr name="Freeform 13" id="13"/>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14" id="14"/>
          <p:cNvGrpSpPr/>
          <p:nvPr/>
        </p:nvGrpSpPr>
        <p:grpSpPr>
          <a:xfrm rot="0">
            <a:off x="992991" y="2403072"/>
            <a:ext cx="16315868" cy="9535"/>
            <a:chOff x="0" y="0"/>
            <a:chExt cx="21754490" cy="12713"/>
          </a:xfrm>
        </p:grpSpPr>
        <p:sp>
          <p:nvSpPr>
            <p:cNvPr name="Freeform 15" id="15"/>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16" id="16"/>
          <p:cNvGrpSpPr/>
          <p:nvPr/>
        </p:nvGrpSpPr>
        <p:grpSpPr>
          <a:xfrm rot="0">
            <a:off x="992991" y="2712129"/>
            <a:ext cx="16315868" cy="9535"/>
            <a:chOff x="0" y="0"/>
            <a:chExt cx="21754490" cy="12713"/>
          </a:xfrm>
        </p:grpSpPr>
        <p:sp>
          <p:nvSpPr>
            <p:cNvPr name="Freeform 17" id="17"/>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18" id="18"/>
          <p:cNvGrpSpPr/>
          <p:nvPr/>
        </p:nvGrpSpPr>
        <p:grpSpPr>
          <a:xfrm rot="0">
            <a:off x="992991" y="3021187"/>
            <a:ext cx="16315868" cy="9535"/>
            <a:chOff x="0" y="0"/>
            <a:chExt cx="21754490" cy="12713"/>
          </a:xfrm>
        </p:grpSpPr>
        <p:sp>
          <p:nvSpPr>
            <p:cNvPr name="Freeform 19" id="19"/>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20" id="20"/>
          <p:cNvGrpSpPr/>
          <p:nvPr/>
        </p:nvGrpSpPr>
        <p:grpSpPr>
          <a:xfrm rot="0">
            <a:off x="992991" y="3330254"/>
            <a:ext cx="16315868" cy="9535"/>
            <a:chOff x="0" y="0"/>
            <a:chExt cx="21754490" cy="12713"/>
          </a:xfrm>
        </p:grpSpPr>
        <p:sp>
          <p:nvSpPr>
            <p:cNvPr name="Freeform 21" id="21"/>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22" id="22"/>
          <p:cNvGrpSpPr/>
          <p:nvPr/>
        </p:nvGrpSpPr>
        <p:grpSpPr>
          <a:xfrm rot="0">
            <a:off x="9150925" y="1780184"/>
            <a:ext cx="9535" cy="1863890"/>
            <a:chOff x="0" y="0"/>
            <a:chExt cx="12713" cy="2485187"/>
          </a:xfrm>
        </p:grpSpPr>
        <p:sp>
          <p:nvSpPr>
            <p:cNvPr name="Freeform 23" id="23"/>
            <p:cNvSpPr/>
            <p:nvPr/>
          </p:nvSpPr>
          <p:spPr>
            <a:xfrm flipH="false" flipV="false" rot="0">
              <a:off x="0" y="0"/>
              <a:ext cx="12700" cy="2485136"/>
            </a:xfrm>
            <a:custGeom>
              <a:avLst/>
              <a:gdLst/>
              <a:ahLst/>
              <a:cxnLst/>
              <a:rect r="r" b="b" t="t" l="l"/>
              <a:pathLst>
                <a:path h="2485136" w="12700">
                  <a:moveTo>
                    <a:pt x="0" y="0"/>
                  </a:moveTo>
                  <a:lnTo>
                    <a:pt x="12700" y="0"/>
                  </a:lnTo>
                  <a:lnTo>
                    <a:pt x="12700" y="2485136"/>
                  </a:lnTo>
                  <a:lnTo>
                    <a:pt x="0" y="2485136"/>
                  </a:lnTo>
                  <a:close/>
                </a:path>
              </a:pathLst>
            </a:custGeom>
            <a:solidFill>
              <a:srgbClr val="000000">
                <a:alpha val="392"/>
              </a:srgbClr>
            </a:solidFill>
          </p:spPr>
        </p:sp>
      </p:grpSp>
      <p:sp>
        <p:nvSpPr>
          <p:cNvPr name="TextBox 24" id="24"/>
          <p:cNvSpPr txBox="true"/>
          <p:nvPr/>
        </p:nvSpPr>
        <p:spPr>
          <a:xfrm rot="0">
            <a:off x="1153249" y="1837687"/>
            <a:ext cx="8757266" cy="194072"/>
          </a:xfrm>
          <a:prstGeom prst="rect">
            <a:avLst/>
          </a:prstGeom>
        </p:spPr>
        <p:txBody>
          <a:bodyPr anchor="t" rtlCol="false" tIns="0" lIns="0" bIns="0" rIns="0">
            <a:spAutoFit/>
          </a:bodyPr>
          <a:lstStyle/>
          <a:p>
            <a:pPr algn="l">
              <a:lnSpc>
                <a:spcPts val="1378"/>
              </a:lnSpc>
            </a:pPr>
            <a:r>
              <a:rPr lang="en-US" sz="1125">
                <a:solidFill>
                  <a:srgbClr val="4C4C4D"/>
                </a:solidFill>
                <a:latin typeface="Heebo"/>
                <a:ea typeface="Heebo"/>
                <a:cs typeface="Heebo"/>
                <a:sym typeface="Heebo"/>
              </a:rPr>
              <a:t>① GUI Command Generation</a:t>
            </a:r>
          </a:p>
        </p:txBody>
      </p:sp>
      <p:sp>
        <p:nvSpPr>
          <p:cNvPr name="TextBox 25" id="25"/>
          <p:cNvSpPr txBox="true"/>
          <p:nvPr/>
        </p:nvSpPr>
        <p:spPr>
          <a:xfrm rot="0">
            <a:off x="9306411" y="1837687"/>
            <a:ext cx="8757266" cy="194072"/>
          </a:xfrm>
          <a:prstGeom prst="rect">
            <a:avLst/>
          </a:prstGeom>
        </p:spPr>
        <p:txBody>
          <a:bodyPr anchor="t" rtlCol="false" tIns="0" lIns="0" bIns="0" rIns="0">
            <a:spAutoFit/>
          </a:bodyPr>
          <a:lstStyle/>
          <a:p>
            <a:pPr algn="l">
              <a:lnSpc>
                <a:spcPts val="1378"/>
              </a:lnSpc>
            </a:pPr>
            <a:r>
              <a:rPr lang="en-US" sz="1125">
                <a:solidFill>
                  <a:srgbClr val="4C4C4D"/>
                </a:solidFill>
                <a:latin typeface="Heebo"/>
                <a:ea typeface="Heebo"/>
                <a:cs typeface="Heebo"/>
                <a:sym typeface="Heebo"/>
              </a:rPr>
              <a:t>② Ethernet Packet Creation</a:t>
            </a:r>
          </a:p>
        </p:txBody>
      </p:sp>
      <p:sp>
        <p:nvSpPr>
          <p:cNvPr name="TextBox 26" id="26"/>
          <p:cNvSpPr txBox="true"/>
          <p:nvPr/>
        </p:nvSpPr>
        <p:spPr>
          <a:xfrm rot="0">
            <a:off x="1153249" y="2146745"/>
            <a:ext cx="8757266" cy="194072"/>
          </a:xfrm>
          <a:prstGeom prst="rect">
            <a:avLst/>
          </a:prstGeom>
        </p:spPr>
        <p:txBody>
          <a:bodyPr anchor="t" rtlCol="false" tIns="0" lIns="0" bIns="0" rIns="0">
            <a:spAutoFit/>
          </a:bodyPr>
          <a:lstStyle/>
          <a:p>
            <a:pPr algn="l">
              <a:lnSpc>
                <a:spcPts val="1378"/>
              </a:lnSpc>
            </a:pPr>
            <a:r>
              <a:rPr lang="en-US" sz="1125">
                <a:solidFill>
                  <a:srgbClr val="4C4C4D"/>
                </a:solidFill>
                <a:latin typeface="Heebo"/>
                <a:ea typeface="Heebo"/>
                <a:cs typeface="Heebo"/>
                <a:sym typeface="Heebo"/>
              </a:rPr>
              <a:t>③ Ethernet Module Reception</a:t>
            </a:r>
          </a:p>
        </p:txBody>
      </p:sp>
      <p:sp>
        <p:nvSpPr>
          <p:cNvPr name="TextBox 27" id="27"/>
          <p:cNvSpPr txBox="true"/>
          <p:nvPr/>
        </p:nvSpPr>
        <p:spPr>
          <a:xfrm rot="0">
            <a:off x="9306411" y="2146745"/>
            <a:ext cx="8757266" cy="194072"/>
          </a:xfrm>
          <a:prstGeom prst="rect">
            <a:avLst/>
          </a:prstGeom>
        </p:spPr>
        <p:txBody>
          <a:bodyPr anchor="t" rtlCol="false" tIns="0" lIns="0" bIns="0" rIns="0">
            <a:spAutoFit/>
          </a:bodyPr>
          <a:lstStyle/>
          <a:p>
            <a:pPr algn="l">
              <a:lnSpc>
                <a:spcPts val="1378"/>
              </a:lnSpc>
            </a:pPr>
            <a:r>
              <a:rPr lang="en-US" sz="1125">
                <a:solidFill>
                  <a:srgbClr val="4C4C4D"/>
                </a:solidFill>
                <a:latin typeface="Heebo"/>
                <a:ea typeface="Heebo"/>
                <a:cs typeface="Heebo"/>
                <a:sym typeface="Heebo"/>
              </a:rPr>
              <a:t>④ CRC Verification</a:t>
            </a:r>
          </a:p>
        </p:txBody>
      </p:sp>
      <p:sp>
        <p:nvSpPr>
          <p:cNvPr name="TextBox 28" id="28"/>
          <p:cNvSpPr txBox="true"/>
          <p:nvPr/>
        </p:nvSpPr>
        <p:spPr>
          <a:xfrm rot="0">
            <a:off x="1153249" y="2455802"/>
            <a:ext cx="8757266" cy="194072"/>
          </a:xfrm>
          <a:prstGeom prst="rect">
            <a:avLst/>
          </a:prstGeom>
        </p:spPr>
        <p:txBody>
          <a:bodyPr anchor="t" rtlCol="false" tIns="0" lIns="0" bIns="0" rIns="0">
            <a:spAutoFit/>
          </a:bodyPr>
          <a:lstStyle/>
          <a:p>
            <a:pPr algn="l">
              <a:lnSpc>
                <a:spcPts val="1378"/>
              </a:lnSpc>
            </a:pPr>
            <a:r>
              <a:rPr lang="en-US" sz="1125">
                <a:solidFill>
                  <a:srgbClr val="4C4C4D"/>
                </a:solidFill>
                <a:latin typeface="Heebo"/>
                <a:ea typeface="Heebo"/>
                <a:cs typeface="Heebo"/>
                <a:sym typeface="Heebo"/>
              </a:rPr>
              <a:t>⑤ Microcontroller Processing</a:t>
            </a:r>
          </a:p>
        </p:txBody>
      </p:sp>
      <p:sp>
        <p:nvSpPr>
          <p:cNvPr name="TextBox 29" id="29"/>
          <p:cNvSpPr txBox="true"/>
          <p:nvPr/>
        </p:nvSpPr>
        <p:spPr>
          <a:xfrm rot="0">
            <a:off x="9306411" y="2455802"/>
            <a:ext cx="8757266" cy="194072"/>
          </a:xfrm>
          <a:prstGeom prst="rect">
            <a:avLst/>
          </a:prstGeom>
        </p:spPr>
        <p:txBody>
          <a:bodyPr anchor="t" rtlCol="false" tIns="0" lIns="0" bIns="0" rIns="0">
            <a:spAutoFit/>
          </a:bodyPr>
          <a:lstStyle/>
          <a:p>
            <a:pPr algn="l">
              <a:lnSpc>
                <a:spcPts val="1378"/>
              </a:lnSpc>
            </a:pPr>
            <a:r>
              <a:rPr lang="en-US" sz="1125">
                <a:solidFill>
                  <a:srgbClr val="4C4C4D"/>
                </a:solidFill>
                <a:latin typeface="Heebo"/>
                <a:ea typeface="Heebo"/>
                <a:cs typeface="Heebo"/>
                <a:sym typeface="Heebo"/>
              </a:rPr>
              <a:t>⑥ SPI Command Generation</a:t>
            </a:r>
          </a:p>
        </p:txBody>
      </p:sp>
      <p:sp>
        <p:nvSpPr>
          <p:cNvPr name="TextBox 30" id="30"/>
          <p:cNvSpPr txBox="true"/>
          <p:nvPr/>
        </p:nvSpPr>
        <p:spPr>
          <a:xfrm rot="0">
            <a:off x="1153249" y="2764860"/>
            <a:ext cx="8757266" cy="194072"/>
          </a:xfrm>
          <a:prstGeom prst="rect">
            <a:avLst/>
          </a:prstGeom>
        </p:spPr>
        <p:txBody>
          <a:bodyPr anchor="t" rtlCol="false" tIns="0" lIns="0" bIns="0" rIns="0">
            <a:spAutoFit/>
          </a:bodyPr>
          <a:lstStyle/>
          <a:p>
            <a:pPr algn="l">
              <a:lnSpc>
                <a:spcPts val="1378"/>
              </a:lnSpc>
            </a:pPr>
            <a:r>
              <a:rPr lang="en-US" sz="1125">
                <a:solidFill>
                  <a:srgbClr val="4C4C4D"/>
                </a:solidFill>
                <a:latin typeface="Heebo"/>
                <a:ea typeface="Heebo"/>
                <a:cs typeface="Heebo"/>
                <a:sym typeface="Heebo"/>
              </a:rPr>
              <a:t>⑦ MCP23S17 Reception</a:t>
            </a:r>
          </a:p>
        </p:txBody>
      </p:sp>
      <p:sp>
        <p:nvSpPr>
          <p:cNvPr name="TextBox 31" id="31"/>
          <p:cNvSpPr txBox="true"/>
          <p:nvPr/>
        </p:nvSpPr>
        <p:spPr>
          <a:xfrm rot="0">
            <a:off x="9306411" y="2764860"/>
            <a:ext cx="8757266" cy="194072"/>
          </a:xfrm>
          <a:prstGeom prst="rect">
            <a:avLst/>
          </a:prstGeom>
        </p:spPr>
        <p:txBody>
          <a:bodyPr anchor="t" rtlCol="false" tIns="0" lIns="0" bIns="0" rIns="0">
            <a:spAutoFit/>
          </a:bodyPr>
          <a:lstStyle/>
          <a:p>
            <a:pPr algn="l">
              <a:lnSpc>
                <a:spcPts val="1378"/>
              </a:lnSpc>
            </a:pPr>
            <a:r>
              <a:rPr lang="en-US" sz="1125">
                <a:solidFill>
                  <a:srgbClr val="4C4C4D"/>
                </a:solidFill>
                <a:latin typeface="Heebo"/>
                <a:ea typeface="Heebo"/>
                <a:cs typeface="Heebo"/>
                <a:sym typeface="Heebo"/>
              </a:rPr>
              <a:t>⑧ GPIO Output Update</a:t>
            </a:r>
          </a:p>
        </p:txBody>
      </p:sp>
      <p:sp>
        <p:nvSpPr>
          <p:cNvPr name="TextBox 32" id="32"/>
          <p:cNvSpPr txBox="true"/>
          <p:nvPr/>
        </p:nvSpPr>
        <p:spPr>
          <a:xfrm rot="0">
            <a:off x="1153249" y="3073927"/>
            <a:ext cx="8757266" cy="194072"/>
          </a:xfrm>
          <a:prstGeom prst="rect">
            <a:avLst/>
          </a:prstGeom>
        </p:spPr>
        <p:txBody>
          <a:bodyPr anchor="t" rtlCol="false" tIns="0" lIns="0" bIns="0" rIns="0">
            <a:spAutoFit/>
          </a:bodyPr>
          <a:lstStyle/>
          <a:p>
            <a:pPr algn="l">
              <a:lnSpc>
                <a:spcPts val="1378"/>
              </a:lnSpc>
            </a:pPr>
            <a:r>
              <a:rPr lang="en-US" sz="1125">
                <a:solidFill>
                  <a:srgbClr val="4C4C4D"/>
                </a:solidFill>
                <a:latin typeface="Heebo"/>
                <a:ea typeface="Heebo"/>
                <a:cs typeface="Heebo"/>
                <a:sym typeface="Heebo"/>
              </a:rPr>
              <a:t>⑨ MOSFET Activation</a:t>
            </a:r>
          </a:p>
        </p:txBody>
      </p:sp>
      <p:sp>
        <p:nvSpPr>
          <p:cNvPr name="TextBox 33" id="33"/>
          <p:cNvSpPr txBox="true"/>
          <p:nvPr/>
        </p:nvSpPr>
        <p:spPr>
          <a:xfrm rot="0">
            <a:off x="9306411" y="3073927"/>
            <a:ext cx="8757266" cy="194072"/>
          </a:xfrm>
          <a:prstGeom prst="rect">
            <a:avLst/>
          </a:prstGeom>
        </p:spPr>
        <p:txBody>
          <a:bodyPr anchor="t" rtlCol="false" tIns="0" lIns="0" bIns="0" rIns="0">
            <a:spAutoFit/>
          </a:bodyPr>
          <a:lstStyle/>
          <a:p>
            <a:pPr algn="l">
              <a:lnSpc>
                <a:spcPts val="1378"/>
              </a:lnSpc>
            </a:pPr>
            <a:r>
              <a:rPr lang="en-US" sz="1125">
                <a:solidFill>
                  <a:srgbClr val="4C4C4D"/>
                </a:solidFill>
                <a:latin typeface="Heebo"/>
                <a:ea typeface="Heebo"/>
                <a:cs typeface="Heebo"/>
                <a:sym typeface="Heebo"/>
              </a:rPr>
              <a:t>⑩ Load Switching</a:t>
            </a:r>
          </a:p>
        </p:txBody>
      </p:sp>
      <p:sp>
        <p:nvSpPr>
          <p:cNvPr name="TextBox 34" id="34"/>
          <p:cNvSpPr txBox="true"/>
          <p:nvPr/>
        </p:nvSpPr>
        <p:spPr>
          <a:xfrm rot="0">
            <a:off x="1153249" y="3382985"/>
            <a:ext cx="8757266" cy="194072"/>
          </a:xfrm>
          <a:prstGeom prst="rect">
            <a:avLst/>
          </a:prstGeom>
        </p:spPr>
        <p:txBody>
          <a:bodyPr anchor="t" rtlCol="false" tIns="0" lIns="0" bIns="0" rIns="0">
            <a:spAutoFit/>
          </a:bodyPr>
          <a:lstStyle/>
          <a:p>
            <a:pPr algn="l">
              <a:lnSpc>
                <a:spcPts val="1378"/>
              </a:lnSpc>
            </a:pPr>
            <a:r>
              <a:rPr lang="en-US" sz="1125">
                <a:solidFill>
                  <a:srgbClr val="4C4C4D"/>
                </a:solidFill>
                <a:latin typeface="Heebo"/>
                <a:ea typeface="Heebo"/>
                <a:cs typeface="Heebo"/>
                <a:sym typeface="Heebo"/>
              </a:rPr>
              <a:t>⑪ Status Read Back</a:t>
            </a:r>
          </a:p>
        </p:txBody>
      </p:sp>
      <p:sp>
        <p:nvSpPr>
          <p:cNvPr name="TextBox 35" id="35"/>
          <p:cNvSpPr txBox="true"/>
          <p:nvPr/>
        </p:nvSpPr>
        <p:spPr>
          <a:xfrm rot="0">
            <a:off x="9306411" y="3382985"/>
            <a:ext cx="8757266" cy="194072"/>
          </a:xfrm>
          <a:prstGeom prst="rect">
            <a:avLst/>
          </a:prstGeom>
        </p:spPr>
        <p:txBody>
          <a:bodyPr anchor="t" rtlCol="false" tIns="0" lIns="0" bIns="0" rIns="0">
            <a:spAutoFit/>
          </a:bodyPr>
          <a:lstStyle/>
          <a:p>
            <a:pPr algn="l">
              <a:lnSpc>
                <a:spcPts val="1378"/>
              </a:lnSpc>
            </a:pPr>
            <a:r>
              <a:rPr lang="en-US" sz="1125">
                <a:solidFill>
                  <a:srgbClr val="4C4C4D"/>
                </a:solidFill>
                <a:latin typeface="Heebo"/>
                <a:ea typeface="Heebo"/>
                <a:cs typeface="Heebo"/>
                <a:sym typeface="Heebo"/>
              </a:rPr>
              <a:t>⑫ ACK Generation</a:t>
            </a:r>
          </a:p>
        </p:txBody>
      </p:sp>
      <p:sp>
        <p:nvSpPr>
          <p:cNvPr name="TextBox 36" id="36"/>
          <p:cNvSpPr txBox="true"/>
          <p:nvPr/>
        </p:nvSpPr>
        <p:spPr>
          <a:xfrm rot="0">
            <a:off x="992991" y="3735553"/>
            <a:ext cx="16315868" cy="405403"/>
          </a:xfrm>
          <a:prstGeom prst="rect">
            <a:avLst/>
          </a:prstGeom>
        </p:spPr>
        <p:txBody>
          <a:bodyPr anchor="t" rtlCol="false" tIns="0" lIns="0" bIns="0" rIns="0">
            <a:spAutoFit/>
          </a:bodyPr>
          <a:lstStyle/>
          <a:p>
            <a:pPr algn="l">
              <a:lnSpc>
                <a:spcPts val="2903"/>
              </a:lnSpc>
            </a:pPr>
            <a:r>
              <a:rPr lang="en-US" sz="2326">
                <a:solidFill>
                  <a:srgbClr val="152D47"/>
                </a:solidFill>
                <a:latin typeface="Crimson Pro"/>
                <a:ea typeface="Crimson Pro"/>
                <a:cs typeface="Crimson Pro"/>
                <a:sym typeface="Crimson Pro"/>
              </a:rPr>
              <a:t>Application Frame Format</a:t>
            </a:r>
          </a:p>
        </p:txBody>
      </p:sp>
      <p:sp>
        <p:nvSpPr>
          <p:cNvPr name="TextBox 37" id="37"/>
          <p:cNvSpPr txBox="true"/>
          <p:nvPr/>
        </p:nvSpPr>
        <p:spPr>
          <a:xfrm rot="0">
            <a:off x="992991" y="4251474"/>
            <a:ext cx="17230954" cy="194072"/>
          </a:xfrm>
          <a:prstGeom prst="rect">
            <a:avLst/>
          </a:prstGeom>
        </p:spPr>
        <p:txBody>
          <a:bodyPr anchor="t" rtlCol="false" tIns="0" lIns="0" bIns="0" rIns="0">
            <a:spAutoFit/>
          </a:bodyPr>
          <a:lstStyle/>
          <a:p>
            <a:pPr algn="l">
              <a:lnSpc>
                <a:spcPts val="1378"/>
              </a:lnSpc>
            </a:pPr>
            <a:r>
              <a:rPr lang="en-US" sz="1125">
                <a:solidFill>
                  <a:srgbClr val="4C4C4D"/>
                </a:solidFill>
                <a:latin typeface="Heebo"/>
                <a:ea typeface="Heebo"/>
                <a:cs typeface="Heebo"/>
                <a:sym typeface="Heebo"/>
              </a:rPr>
              <a:t>Frame Structure:</a:t>
            </a:r>
          </a:p>
        </p:txBody>
      </p:sp>
      <p:grpSp>
        <p:nvGrpSpPr>
          <p:cNvPr name="Group 38" id="38"/>
          <p:cNvGrpSpPr/>
          <p:nvPr/>
        </p:nvGrpSpPr>
        <p:grpSpPr>
          <a:xfrm rot="0">
            <a:off x="988219" y="4530738"/>
            <a:ext cx="16325393" cy="2491540"/>
            <a:chOff x="0" y="0"/>
            <a:chExt cx="21767190" cy="3322053"/>
          </a:xfrm>
        </p:grpSpPr>
        <p:sp>
          <p:nvSpPr>
            <p:cNvPr name="Freeform 39" id="39"/>
            <p:cNvSpPr/>
            <p:nvPr/>
          </p:nvSpPr>
          <p:spPr>
            <a:xfrm flipH="false" flipV="false" rot="0">
              <a:off x="0" y="0"/>
              <a:ext cx="21767164" cy="3322066"/>
            </a:xfrm>
            <a:custGeom>
              <a:avLst/>
              <a:gdLst/>
              <a:ahLst/>
              <a:cxnLst/>
              <a:rect r="r" b="b" t="t" l="l"/>
              <a:pathLst>
                <a:path h="3322066" w="21767164">
                  <a:moveTo>
                    <a:pt x="0" y="30226"/>
                  </a:moveTo>
                  <a:cubicBezTo>
                    <a:pt x="0" y="13589"/>
                    <a:pt x="13589" y="0"/>
                    <a:pt x="30226" y="0"/>
                  </a:cubicBezTo>
                  <a:lnTo>
                    <a:pt x="21736938" y="0"/>
                  </a:lnTo>
                  <a:cubicBezTo>
                    <a:pt x="21753702" y="0"/>
                    <a:pt x="21767164" y="13589"/>
                    <a:pt x="21767164" y="30226"/>
                  </a:cubicBezTo>
                  <a:lnTo>
                    <a:pt x="21767164" y="3291840"/>
                  </a:lnTo>
                  <a:cubicBezTo>
                    <a:pt x="21767164" y="3308604"/>
                    <a:pt x="21753576" y="3322066"/>
                    <a:pt x="21736938" y="3322066"/>
                  </a:cubicBezTo>
                  <a:lnTo>
                    <a:pt x="30226" y="3322066"/>
                  </a:lnTo>
                  <a:cubicBezTo>
                    <a:pt x="13462" y="3322066"/>
                    <a:pt x="0" y="3308477"/>
                    <a:pt x="0" y="3291840"/>
                  </a:cubicBezTo>
                  <a:close/>
                </a:path>
              </a:pathLst>
            </a:custGeom>
            <a:blipFill>
              <a:blip r:embed="rId5">
                <a:alphaModFix amt="0"/>
              </a:blip>
              <a:stretch>
                <a:fillRect l="0" t="-77672" r="0" b="-77671"/>
              </a:stretch>
            </a:blipFill>
            <a:ln w="9532" cap="sq">
              <a:solidFill>
                <a:srgbClr val="000000"/>
              </a:solidFill>
              <a:prstDash val="solid"/>
              <a:miter/>
            </a:ln>
          </p:spPr>
        </p:sp>
      </p:grpSp>
      <p:grpSp>
        <p:nvGrpSpPr>
          <p:cNvPr name="Group 40" id="40"/>
          <p:cNvGrpSpPr/>
          <p:nvPr/>
        </p:nvGrpSpPr>
        <p:grpSpPr>
          <a:xfrm rot="0">
            <a:off x="992991" y="4849330"/>
            <a:ext cx="16315868" cy="9535"/>
            <a:chOff x="0" y="0"/>
            <a:chExt cx="21754490" cy="12713"/>
          </a:xfrm>
        </p:grpSpPr>
        <p:sp>
          <p:nvSpPr>
            <p:cNvPr name="Freeform 41" id="41"/>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42" id="42"/>
          <p:cNvGrpSpPr/>
          <p:nvPr/>
        </p:nvGrpSpPr>
        <p:grpSpPr>
          <a:xfrm rot="0">
            <a:off x="992991" y="5158397"/>
            <a:ext cx="16315868" cy="9535"/>
            <a:chOff x="0" y="0"/>
            <a:chExt cx="21754490" cy="12713"/>
          </a:xfrm>
        </p:grpSpPr>
        <p:sp>
          <p:nvSpPr>
            <p:cNvPr name="Freeform 43" id="43"/>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44" id="44"/>
          <p:cNvGrpSpPr/>
          <p:nvPr/>
        </p:nvGrpSpPr>
        <p:grpSpPr>
          <a:xfrm rot="0">
            <a:off x="992991" y="5467455"/>
            <a:ext cx="16315868" cy="9535"/>
            <a:chOff x="0" y="0"/>
            <a:chExt cx="21754490" cy="12713"/>
          </a:xfrm>
        </p:grpSpPr>
        <p:sp>
          <p:nvSpPr>
            <p:cNvPr name="Freeform 45" id="45"/>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46" id="46"/>
          <p:cNvGrpSpPr/>
          <p:nvPr/>
        </p:nvGrpSpPr>
        <p:grpSpPr>
          <a:xfrm rot="0">
            <a:off x="992991" y="5776512"/>
            <a:ext cx="16315868" cy="9535"/>
            <a:chOff x="0" y="0"/>
            <a:chExt cx="21754490" cy="12713"/>
          </a:xfrm>
        </p:grpSpPr>
        <p:sp>
          <p:nvSpPr>
            <p:cNvPr name="Freeform 47" id="47"/>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48" id="48"/>
          <p:cNvGrpSpPr/>
          <p:nvPr/>
        </p:nvGrpSpPr>
        <p:grpSpPr>
          <a:xfrm rot="0">
            <a:off x="992991" y="6085570"/>
            <a:ext cx="16315868" cy="9535"/>
            <a:chOff x="0" y="0"/>
            <a:chExt cx="21754490" cy="12713"/>
          </a:xfrm>
        </p:grpSpPr>
        <p:sp>
          <p:nvSpPr>
            <p:cNvPr name="Freeform 49" id="49"/>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50" id="50"/>
          <p:cNvGrpSpPr/>
          <p:nvPr/>
        </p:nvGrpSpPr>
        <p:grpSpPr>
          <a:xfrm rot="0">
            <a:off x="992991" y="6394637"/>
            <a:ext cx="16315868" cy="9535"/>
            <a:chOff x="0" y="0"/>
            <a:chExt cx="21754490" cy="12713"/>
          </a:xfrm>
        </p:grpSpPr>
        <p:sp>
          <p:nvSpPr>
            <p:cNvPr name="Freeform 51" id="51"/>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52" id="52"/>
          <p:cNvGrpSpPr/>
          <p:nvPr/>
        </p:nvGrpSpPr>
        <p:grpSpPr>
          <a:xfrm rot="0">
            <a:off x="992991" y="6703695"/>
            <a:ext cx="16315868" cy="9535"/>
            <a:chOff x="0" y="0"/>
            <a:chExt cx="21754490" cy="12713"/>
          </a:xfrm>
        </p:grpSpPr>
        <p:sp>
          <p:nvSpPr>
            <p:cNvPr name="Freeform 53" id="53"/>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54" id="54"/>
          <p:cNvGrpSpPr/>
          <p:nvPr/>
        </p:nvGrpSpPr>
        <p:grpSpPr>
          <a:xfrm rot="0">
            <a:off x="9150925" y="4535510"/>
            <a:ext cx="9535" cy="2482015"/>
            <a:chOff x="0" y="0"/>
            <a:chExt cx="12713" cy="3309353"/>
          </a:xfrm>
        </p:grpSpPr>
        <p:sp>
          <p:nvSpPr>
            <p:cNvPr name="Freeform 55" id="55"/>
            <p:cNvSpPr/>
            <p:nvPr/>
          </p:nvSpPr>
          <p:spPr>
            <a:xfrm flipH="false" flipV="false" rot="0">
              <a:off x="0" y="0"/>
              <a:ext cx="12700" cy="3309366"/>
            </a:xfrm>
            <a:custGeom>
              <a:avLst/>
              <a:gdLst/>
              <a:ahLst/>
              <a:cxnLst/>
              <a:rect r="r" b="b" t="t" l="l"/>
              <a:pathLst>
                <a:path h="3309366" w="12700">
                  <a:moveTo>
                    <a:pt x="0" y="0"/>
                  </a:moveTo>
                  <a:lnTo>
                    <a:pt x="12700" y="0"/>
                  </a:lnTo>
                  <a:lnTo>
                    <a:pt x="12700" y="3309366"/>
                  </a:lnTo>
                  <a:lnTo>
                    <a:pt x="0" y="3309366"/>
                  </a:lnTo>
                  <a:close/>
                </a:path>
              </a:pathLst>
            </a:custGeom>
            <a:solidFill>
              <a:srgbClr val="000000">
                <a:alpha val="392"/>
              </a:srgbClr>
            </a:solidFill>
          </p:spPr>
        </p:sp>
      </p:grpSp>
      <p:sp>
        <p:nvSpPr>
          <p:cNvPr name="TextBox 56" id="56"/>
          <p:cNvSpPr txBox="true"/>
          <p:nvPr/>
        </p:nvSpPr>
        <p:spPr>
          <a:xfrm rot="0">
            <a:off x="1153249" y="4593012"/>
            <a:ext cx="8757266" cy="194072"/>
          </a:xfrm>
          <a:prstGeom prst="rect">
            <a:avLst/>
          </a:prstGeom>
        </p:spPr>
        <p:txBody>
          <a:bodyPr anchor="t" rtlCol="false" tIns="0" lIns="0" bIns="0" rIns="0">
            <a:spAutoFit/>
          </a:bodyPr>
          <a:lstStyle/>
          <a:p>
            <a:pPr algn="l">
              <a:lnSpc>
                <a:spcPts val="1378"/>
              </a:lnSpc>
            </a:pPr>
            <a:r>
              <a:rPr lang="en-US" sz="1125">
                <a:solidFill>
                  <a:srgbClr val="4C4C4D"/>
                </a:solidFill>
                <a:latin typeface="Heebo"/>
                <a:ea typeface="Heebo"/>
                <a:cs typeface="Heebo"/>
                <a:sym typeface="Heebo"/>
              </a:rPr>
              <a:t>Field</a:t>
            </a:r>
          </a:p>
        </p:txBody>
      </p:sp>
      <p:sp>
        <p:nvSpPr>
          <p:cNvPr name="TextBox 57" id="57"/>
          <p:cNvSpPr txBox="true"/>
          <p:nvPr/>
        </p:nvSpPr>
        <p:spPr>
          <a:xfrm rot="0">
            <a:off x="9306411" y="4593012"/>
            <a:ext cx="8757266" cy="194072"/>
          </a:xfrm>
          <a:prstGeom prst="rect">
            <a:avLst/>
          </a:prstGeom>
        </p:spPr>
        <p:txBody>
          <a:bodyPr anchor="t" rtlCol="false" tIns="0" lIns="0" bIns="0" rIns="0">
            <a:spAutoFit/>
          </a:bodyPr>
          <a:lstStyle/>
          <a:p>
            <a:pPr algn="l">
              <a:lnSpc>
                <a:spcPts val="1378"/>
              </a:lnSpc>
            </a:pPr>
            <a:r>
              <a:rPr lang="en-US" sz="1125">
                <a:solidFill>
                  <a:srgbClr val="4C4C4D"/>
                </a:solidFill>
                <a:latin typeface="Heebo"/>
                <a:ea typeface="Heebo"/>
                <a:cs typeface="Heebo"/>
                <a:sym typeface="Heebo"/>
              </a:rPr>
              <a:t>Value</a:t>
            </a:r>
          </a:p>
        </p:txBody>
      </p:sp>
      <p:sp>
        <p:nvSpPr>
          <p:cNvPr name="TextBox 58" id="58"/>
          <p:cNvSpPr txBox="true"/>
          <p:nvPr/>
        </p:nvSpPr>
        <p:spPr>
          <a:xfrm rot="0">
            <a:off x="1153249" y="4902070"/>
            <a:ext cx="8757266" cy="194072"/>
          </a:xfrm>
          <a:prstGeom prst="rect">
            <a:avLst/>
          </a:prstGeom>
        </p:spPr>
        <p:txBody>
          <a:bodyPr anchor="t" rtlCol="false" tIns="0" lIns="0" bIns="0" rIns="0">
            <a:spAutoFit/>
          </a:bodyPr>
          <a:lstStyle/>
          <a:p>
            <a:pPr algn="l">
              <a:lnSpc>
                <a:spcPts val="1378"/>
              </a:lnSpc>
            </a:pPr>
            <a:r>
              <a:rPr lang="en-US" sz="1125">
                <a:solidFill>
                  <a:srgbClr val="4C4C4D"/>
                </a:solidFill>
                <a:latin typeface="Heebo"/>
                <a:ea typeface="Heebo"/>
                <a:cs typeface="Heebo"/>
                <a:sym typeface="Heebo"/>
              </a:rPr>
              <a:t>SOF (Start of Frame)</a:t>
            </a:r>
          </a:p>
        </p:txBody>
      </p:sp>
      <p:sp>
        <p:nvSpPr>
          <p:cNvPr name="TextBox 59" id="59"/>
          <p:cNvSpPr txBox="true"/>
          <p:nvPr/>
        </p:nvSpPr>
        <p:spPr>
          <a:xfrm rot="0">
            <a:off x="9306411" y="4902070"/>
            <a:ext cx="8757266" cy="194072"/>
          </a:xfrm>
          <a:prstGeom prst="rect">
            <a:avLst/>
          </a:prstGeom>
        </p:spPr>
        <p:txBody>
          <a:bodyPr anchor="t" rtlCol="false" tIns="0" lIns="0" bIns="0" rIns="0">
            <a:spAutoFit/>
          </a:bodyPr>
          <a:lstStyle/>
          <a:p>
            <a:pPr algn="l">
              <a:lnSpc>
                <a:spcPts val="1378"/>
              </a:lnSpc>
            </a:pPr>
            <a:r>
              <a:rPr lang="en-US" sz="1125">
                <a:solidFill>
                  <a:srgbClr val="4C4C4D"/>
                </a:solidFill>
                <a:latin typeface="Heebo"/>
                <a:ea typeface="Heebo"/>
                <a:cs typeface="Heebo"/>
                <a:sym typeface="Heebo"/>
              </a:rPr>
              <a:t>AA</a:t>
            </a:r>
          </a:p>
        </p:txBody>
      </p:sp>
      <p:sp>
        <p:nvSpPr>
          <p:cNvPr name="TextBox 60" id="60"/>
          <p:cNvSpPr txBox="true"/>
          <p:nvPr/>
        </p:nvSpPr>
        <p:spPr>
          <a:xfrm rot="0">
            <a:off x="1153249" y="5211128"/>
            <a:ext cx="8757266" cy="194072"/>
          </a:xfrm>
          <a:prstGeom prst="rect">
            <a:avLst/>
          </a:prstGeom>
        </p:spPr>
        <p:txBody>
          <a:bodyPr anchor="t" rtlCol="false" tIns="0" lIns="0" bIns="0" rIns="0">
            <a:spAutoFit/>
          </a:bodyPr>
          <a:lstStyle/>
          <a:p>
            <a:pPr algn="l">
              <a:lnSpc>
                <a:spcPts val="1378"/>
              </a:lnSpc>
            </a:pPr>
            <a:r>
              <a:rPr lang="en-US" sz="1125">
                <a:solidFill>
                  <a:srgbClr val="4C4C4D"/>
                </a:solidFill>
                <a:latin typeface="Heebo"/>
                <a:ea typeface="Heebo"/>
                <a:cs typeface="Heebo"/>
                <a:sym typeface="Heebo"/>
              </a:rPr>
              <a:t>Command</a:t>
            </a:r>
          </a:p>
        </p:txBody>
      </p:sp>
      <p:sp>
        <p:nvSpPr>
          <p:cNvPr name="TextBox 61" id="61"/>
          <p:cNvSpPr txBox="true"/>
          <p:nvPr/>
        </p:nvSpPr>
        <p:spPr>
          <a:xfrm rot="0">
            <a:off x="9306411" y="5211128"/>
            <a:ext cx="8757266" cy="194072"/>
          </a:xfrm>
          <a:prstGeom prst="rect">
            <a:avLst/>
          </a:prstGeom>
        </p:spPr>
        <p:txBody>
          <a:bodyPr anchor="t" rtlCol="false" tIns="0" lIns="0" bIns="0" rIns="0">
            <a:spAutoFit/>
          </a:bodyPr>
          <a:lstStyle/>
          <a:p>
            <a:pPr algn="l">
              <a:lnSpc>
                <a:spcPts val="1378"/>
              </a:lnSpc>
            </a:pPr>
            <a:r>
              <a:rPr lang="en-US" sz="1125">
                <a:solidFill>
                  <a:srgbClr val="4C4C4D"/>
                </a:solidFill>
                <a:latin typeface="Heebo"/>
                <a:ea typeface="Heebo"/>
                <a:cs typeface="Heebo"/>
                <a:sym typeface="Heebo"/>
              </a:rPr>
              <a:t>01 (ON) / 00 (OFF)</a:t>
            </a:r>
          </a:p>
        </p:txBody>
      </p:sp>
      <p:sp>
        <p:nvSpPr>
          <p:cNvPr name="TextBox 62" id="62"/>
          <p:cNvSpPr txBox="true"/>
          <p:nvPr/>
        </p:nvSpPr>
        <p:spPr>
          <a:xfrm rot="0">
            <a:off x="1153249" y="5520185"/>
            <a:ext cx="8757266" cy="194072"/>
          </a:xfrm>
          <a:prstGeom prst="rect">
            <a:avLst/>
          </a:prstGeom>
        </p:spPr>
        <p:txBody>
          <a:bodyPr anchor="t" rtlCol="false" tIns="0" lIns="0" bIns="0" rIns="0">
            <a:spAutoFit/>
          </a:bodyPr>
          <a:lstStyle/>
          <a:p>
            <a:pPr algn="l">
              <a:lnSpc>
                <a:spcPts val="1378"/>
              </a:lnSpc>
            </a:pPr>
            <a:r>
              <a:rPr lang="en-US" sz="1125">
                <a:solidFill>
                  <a:srgbClr val="4C4C4D"/>
                </a:solidFill>
                <a:latin typeface="Heebo"/>
                <a:ea typeface="Heebo"/>
                <a:cs typeface="Heebo"/>
                <a:sym typeface="Heebo"/>
              </a:rPr>
              <a:t>Device ID</a:t>
            </a:r>
          </a:p>
        </p:txBody>
      </p:sp>
      <p:sp>
        <p:nvSpPr>
          <p:cNvPr name="TextBox 63" id="63"/>
          <p:cNvSpPr txBox="true"/>
          <p:nvPr/>
        </p:nvSpPr>
        <p:spPr>
          <a:xfrm rot="0">
            <a:off x="9306411" y="5520185"/>
            <a:ext cx="8757266" cy="194072"/>
          </a:xfrm>
          <a:prstGeom prst="rect">
            <a:avLst/>
          </a:prstGeom>
        </p:spPr>
        <p:txBody>
          <a:bodyPr anchor="t" rtlCol="false" tIns="0" lIns="0" bIns="0" rIns="0">
            <a:spAutoFit/>
          </a:bodyPr>
          <a:lstStyle/>
          <a:p>
            <a:pPr algn="l">
              <a:lnSpc>
                <a:spcPts val="1378"/>
              </a:lnSpc>
            </a:pPr>
            <a:r>
              <a:rPr lang="en-US" sz="1125">
                <a:solidFill>
                  <a:srgbClr val="4C4C4D"/>
                </a:solidFill>
                <a:latin typeface="Heebo"/>
                <a:ea typeface="Heebo"/>
                <a:cs typeface="Heebo"/>
                <a:sym typeface="Heebo"/>
              </a:rPr>
              <a:t>00-03</a:t>
            </a:r>
          </a:p>
        </p:txBody>
      </p:sp>
      <p:sp>
        <p:nvSpPr>
          <p:cNvPr name="TextBox 64" id="64"/>
          <p:cNvSpPr txBox="true"/>
          <p:nvPr/>
        </p:nvSpPr>
        <p:spPr>
          <a:xfrm rot="0">
            <a:off x="1153249" y="5829243"/>
            <a:ext cx="8757266" cy="194072"/>
          </a:xfrm>
          <a:prstGeom prst="rect">
            <a:avLst/>
          </a:prstGeom>
        </p:spPr>
        <p:txBody>
          <a:bodyPr anchor="t" rtlCol="false" tIns="0" lIns="0" bIns="0" rIns="0">
            <a:spAutoFit/>
          </a:bodyPr>
          <a:lstStyle/>
          <a:p>
            <a:pPr algn="l">
              <a:lnSpc>
                <a:spcPts val="1378"/>
              </a:lnSpc>
            </a:pPr>
            <a:r>
              <a:rPr lang="en-US" sz="1125">
                <a:solidFill>
                  <a:srgbClr val="4C4C4D"/>
                </a:solidFill>
                <a:latin typeface="Heebo"/>
                <a:ea typeface="Heebo"/>
                <a:cs typeface="Heebo"/>
                <a:sym typeface="Heebo"/>
              </a:rPr>
              <a:t>Channel</a:t>
            </a:r>
          </a:p>
        </p:txBody>
      </p:sp>
      <p:sp>
        <p:nvSpPr>
          <p:cNvPr name="TextBox 65" id="65"/>
          <p:cNvSpPr txBox="true"/>
          <p:nvPr/>
        </p:nvSpPr>
        <p:spPr>
          <a:xfrm rot="0">
            <a:off x="9306411" y="5829243"/>
            <a:ext cx="8757266" cy="194072"/>
          </a:xfrm>
          <a:prstGeom prst="rect">
            <a:avLst/>
          </a:prstGeom>
        </p:spPr>
        <p:txBody>
          <a:bodyPr anchor="t" rtlCol="false" tIns="0" lIns="0" bIns="0" rIns="0">
            <a:spAutoFit/>
          </a:bodyPr>
          <a:lstStyle/>
          <a:p>
            <a:pPr algn="l">
              <a:lnSpc>
                <a:spcPts val="1378"/>
              </a:lnSpc>
            </a:pPr>
            <a:r>
              <a:rPr lang="en-US" sz="1125">
                <a:solidFill>
                  <a:srgbClr val="4C4C4D"/>
                </a:solidFill>
                <a:latin typeface="Heebo"/>
                <a:ea typeface="Heebo"/>
                <a:cs typeface="Heebo"/>
                <a:sym typeface="Heebo"/>
              </a:rPr>
              <a:t>00-07</a:t>
            </a:r>
          </a:p>
        </p:txBody>
      </p:sp>
      <p:sp>
        <p:nvSpPr>
          <p:cNvPr name="TextBox 66" id="66"/>
          <p:cNvSpPr txBox="true"/>
          <p:nvPr/>
        </p:nvSpPr>
        <p:spPr>
          <a:xfrm rot="0">
            <a:off x="1153249" y="6138310"/>
            <a:ext cx="8757266" cy="194072"/>
          </a:xfrm>
          <a:prstGeom prst="rect">
            <a:avLst/>
          </a:prstGeom>
        </p:spPr>
        <p:txBody>
          <a:bodyPr anchor="t" rtlCol="false" tIns="0" lIns="0" bIns="0" rIns="0">
            <a:spAutoFit/>
          </a:bodyPr>
          <a:lstStyle/>
          <a:p>
            <a:pPr algn="l">
              <a:lnSpc>
                <a:spcPts val="1378"/>
              </a:lnSpc>
            </a:pPr>
            <a:r>
              <a:rPr lang="en-US" sz="1125">
                <a:solidFill>
                  <a:srgbClr val="4C4C4D"/>
                </a:solidFill>
                <a:latin typeface="Heebo"/>
                <a:ea typeface="Heebo"/>
                <a:cs typeface="Heebo"/>
                <a:sym typeface="Heebo"/>
              </a:rPr>
              <a:t>Data</a:t>
            </a:r>
          </a:p>
        </p:txBody>
      </p:sp>
      <p:sp>
        <p:nvSpPr>
          <p:cNvPr name="TextBox 67" id="67"/>
          <p:cNvSpPr txBox="true"/>
          <p:nvPr/>
        </p:nvSpPr>
        <p:spPr>
          <a:xfrm rot="0">
            <a:off x="9306411" y="6138310"/>
            <a:ext cx="8757266" cy="194072"/>
          </a:xfrm>
          <a:prstGeom prst="rect">
            <a:avLst/>
          </a:prstGeom>
        </p:spPr>
        <p:txBody>
          <a:bodyPr anchor="t" rtlCol="false" tIns="0" lIns="0" bIns="0" rIns="0">
            <a:spAutoFit/>
          </a:bodyPr>
          <a:lstStyle/>
          <a:p>
            <a:pPr algn="l">
              <a:lnSpc>
                <a:spcPts val="1378"/>
              </a:lnSpc>
            </a:pPr>
            <a:r>
              <a:rPr lang="en-US" sz="1125">
                <a:solidFill>
                  <a:srgbClr val="4C4C4D"/>
                </a:solidFill>
                <a:latin typeface="Heebo"/>
                <a:ea typeface="Heebo"/>
                <a:cs typeface="Heebo"/>
                <a:sym typeface="Heebo"/>
              </a:rPr>
              <a:t>ON/OFF</a:t>
            </a:r>
          </a:p>
        </p:txBody>
      </p:sp>
      <p:sp>
        <p:nvSpPr>
          <p:cNvPr name="TextBox 68" id="68"/>
          <p:cNvSpPr txBox="true"/>
          <p:nvPr/>
        </p:nvSpPr>
        <p:spPr>
          <a:xfrm rot="0">
            <a:off x="1153249" y="6447368"/>
            <a:ext cx="8757266" cy="194072"/>
          </a:xfrm>
          <a:prstGeom prst="rect">
            <a:avLst/>
          </a:prstGeom>
        </p:spPr>
        <p:txBody>
          <a:bodyPr anchor="t" rtlCol="false" tIns="0" lIns="0" bIns="0" rIns="0">
            <a:spAutoFit/>
          </a:bodyPr>
          <a:lstStyle/>
          <a:p>
            <a:pPr algn="l">
              <a:lnSpc>
                <a:spcPts val="1378"/>
              </a:lnSpc>
            </a:pPr>
            <a:r>
              <a:rPr lang="en-US" sz="1125">
                <a:solidFill>
                  <a:srgbClr val="4C4C4D"/>
                </a:solidFill>
                <a:latin typeface="Heebo"/>
                <a:ea typeface="Heebo"/>
                <a:cs typeface="Heebo"/>
                <a:sym typeface="Heebo"/>
              </a:rPr>
              <a:t>Checksum</a:t>
            </a:r>
          </a:p>
        </p:txBody>
      </p:sp>
      <p:sp>
        <p:nvSpPr>
          <p:cNvPr name="TextBox 69" id="69"/>
          <p:cNvSpPr txBox="true"/>
          <p:nvPr/>
        </p:nvSpPr>
        <p:spPr>
          <a:xfrm rot="0">
            <a:off x="9306411" y="6447368"/>
            <a:ext cx="8757266" cy="194072"/>
          </a:xfrm>
          <a:prstGeom prst="rect">
            <a:avLst/>
          </a:prstGeom>
        </p:spPr>
        <p:txBody>
          <a:bodyPr anchor="t" rtlCol="false" tIns="0" lIns="0" bIns="0" rIns="0">
            <a:spAutoFit/>
          </a:bodyPr>
          <a:lstStyle/>
          <a:p>
            <a:pPr algn="l">
              <a:lnSpc>
                <a:spcPts val="1378"/>
              </a:lnSpc>
            </a:pPr>
            <a:r>
              <a:rPr lang="en-US" sz="1125">
                <a:solidFill>
                  <a:srgbClr val="4C4C4D"/>
                </a:solidFill>
                <a:latin typeface="Heebo"/>
                <a:ea typeface="Heebo"/>
                <a:cs typeface="Heebo"/>
                <a:sym typeface="Heebo"/>
              </a:rPr>
              <a:t>XX</a:t>
            </a:r>
          </a:p>
        </p:txBody>
      </p:sp>
      <p:sp>
        <p:nvSpPr>
          <p:cNvPr name="TextBox 70" id="70"/>
          <p:cNvSpPr txBox="true"/>
          <p:nvPr/>
        </p:nvSpPr>
        <p:spPr>
          <a:xfrm rot="0">
            <a:off x="1153249" y="6756425"/>
            <a:ext cx="8757266" cy="194072"/>
          </a:xfrm>
          <a:prstGeom prst="rect">
            <a:avLst/>
          </a:prstGeom>
        </p:spPr>
        <p:txBody>
          <a:bodyPr anchor="t" rtlCol="false" tIns="0" lIns="0" bIns="0" rIns="0">
            <a:spAutoFit/>
          </a:bodyPr>
          <a:lstStyle/>
          <a:p>
            <a:pPr algn="l">
              <a:lnSpc>
                <a:spcPts val="1378"/>
              </a:lnSpc>
            </a:pPr>
            <a:r>
              <a:rPr lang="en-US" sz="1125">
                <a:solidFill>
                  <a:srgbClr val="4C4C4D"/>
                </a:solidFill>
                <a:latin typeface="Heebo"/>
                <a:ea typeface="Heebo"/>
                <a:cs typeface="Heebo"/>
                <a:sym typeface="Heebo"/>
              </a:rPr>
              <a:t>EOF (End of Frame)</a:t>
            </a:r>
          </a:p>
        </p:txBody>
      </p:sp>
      <p:sp>
        <p:nvSpPr>
          <p:cNvPr name="TextBox 71" id="71"/>
          <p:cNvSpPr txBox="true"/>
          <p:nvPr/>
        </p:nvSpPr>
        <p:spPr>
          <a:xfrm rot="0">
            <a:off x="9306411" y="6756425"/>
            <a:ext cx="8757266" cy="194072"/>
          </a:xfrm>
          <a:prstGeom prst="rect">
            <a:avLst/>
          </a:prstGeom>
        </p:spPr>
        <p:txBody>
          <a:bodyPr anchor="t" rtlCol="false" tIns="0" lIns="0" bIns="0" rIns="0">
            <a:spAutoFit/>
          </a:bodyPr>
          <a:lstStyle/>
          <a:p>
            <a:pPr algn="l">
              <a:lnSpc>
                <a:spcPts val="1378"/>
              </a:lnSpc>
            </a:pPr>
            <a:r>
              <a:rPr lang="en-US" sz="1125">
                <a:solidFill>
                  <a:srgbClr val="4C4C4D"/>
                </a:solidFill>
                <a:latin typeface="Heebo"/>
                <a:ea typeface="Heebo"/>
                <a:cs typeface="Heebo"/>
                <a:sym typeface="Heebo"/>
              </a:rPr>
              <a:t>55</a:t>
            </a:r>
          </a:p>
        </p:txBody>
      </p:sp>
      <p:sp>
        <p:nvSpPr>
          <p:cNvPr name="TextBox 72" id="72"/>
          <p:cNvSpPr txBox="true"/>
          <p:nvPr/>
        </p:nvSpPr>
        <p:spPr>
          <a:xfrm rot="0">
            <a:off x="992991" y="7108993"/>
            <a:ext cx="16315868" cy="405403"/>
          </a:xfrm>
          <a:prstGeom prst="rect">
            <a:avLst/>
          </a:prstGeom>
        </p:spPr>
        <p:txBody>
          <a:bodyPr anchor="t" rtlCol="false" tIns="0" lIns="0" bIns="0" rIns="0">
            <a:spAutoFit/>
          </a:bodyPr>
          <a:lstStyle/>
          <a:p>
            <a:pPr algn="l">
              <a:lnSpc>
                <a:spcPts val="2903"/>
              </a:lnSpc>
            </a:pPr>
            <a:r>
              <a:rPr lang="en-US" sz="2326">
                <a:solidFill>
                  <a:srgbClr val="152D47"/>
                </a:solidFill>
                <a:latin typeface="Crimson Pro"/>
                <a:ea typeface="Crimson Pro"/>
                <a:cs typeface="Crimson Pro"/>
                <a:sym typeface="Crimson Pro"/>
              </a:rPr>
              <a:t>Frame Details</a:t>
            </a:r>
          </a:p>
        </p:txBody>
      </p:sp>
      <p:sp>
        <p:nvSpPr>
          <p:cNvPr name="TextBox 73" id="73"/>
          <p:cNvSpPr txBox="true"/>
          <p:nvPr/>
        </p:nvSpPr>
        <p:spPr>
          <a:xfrm rot="0">
            <a:off x="992991" y="7704906"/>
            <a:ext cx="7974140" cy="245002"/>
          </a:xfrm>
          <a:prstGeom prst="rect">
            <a:avLst/>
          </a:prstGeom>
        </p:spPr>
        <p:txBody>
          <a:bodyPr anchor="t" rtlCol="false" tIns="0" lIns="0" bIns="0" rIns="0">
            <a:spAutoFit/>
          </a:bodyPr>
          <a:lstStyle/>
          <a:p>
            <a:pPr algn="l">
              <a:lnSpc>
                <a:spcPts val="1779"/>
              </a:lnSpc>
            </a:pPr>
            <a:r>
              <a:rPr lang="en-US" sz="1426">
                <a:solidFill>
                  <a:srgbClr val="152D47"/>
                </a:solidFill>
                <a:latin typeface="Crimson Pro"/>
                <a:ea typeface="Crimson Pro"/>
                <a:cs typeface="Crimson Pro"/>
                <a:sym typeface="Crimson Pro"/>
              </a:rPr>
              <a:t>Frame Explanation</a:t>
            </a:r>
          </a:p>
        </p:txBody>
      </p:sp>
      <p:sp>
        <p:nvSpPr>
          <p:cNvPr name="TextBox 74" id="74"/>
          <p:cNvSpPr txBox="true"/>
          <p:nvPr/>
        </p:nvSpPr>
        <p:spPr>
          <a:xfrm rot="0">
            <a:off x="992991" y="8020374"/>
            <a:ext cx="7974140" cy="1469327"/>
          </a:xfrm>
          <a:prstGeom prst="rect">
            <a:avLst/>
          </a:prstGeom>
        </p:spPr>
        <p:txBody>
          <a:bodyPr anchor="t" rtlCol="false" tIns="0" lIns="0" bIns="0" rIns="0">
            <a:spAutoFit/>
          </a:bodyPr>
          <a:lstStyle/>
          <a:p>
            <a:pPr algn="l" marL="203915" indent="-101958" lvl="1">
              <a:lnSpc>
                <a:spcPts val="1378"/>
              </a:lnSpc>
              <a:buFont typeface="Arial"/>
              <a:buChar char="•"/>
            </a:pPr>
            <a:r>
              <a:rPr lang="en-US" sz="1125">
                <a:solidFill>
                  <a:srgbClr val="4C4C4D"/>
                </a:solidFill>
                <a:latin typeface="Heebo"/>
                <a:ea typeface="Heebo"/>
                <a:cs typeface="Heebo"/>
                <a:sym typeface="Heebo"/>
              </a:rPr>
              <a:t>SOF identifies frame start</a:t>
            </a:r>
          </a:p>
          <a:p>
            <a:pPr algn="l" marL="203915" indent="-101958" lvl="1">
              <a:lnSpc>
                <a:spcPts val="1378"/>
              </a:lnSpc>
              <a:buFont typeface="Arial"/>
              <a:buChar char="•"/>
            </a:pPr>
            <a:r>
              <a:rPr lang="en-US" sz="1125">
                <a:solidFill>
                  <a:srgbClr val="4C4C4D"/>
                </a:solidFill>
                <a:latin typeface="Heebo"/>
                <a:ea typeface="Heebo"/>
                <a:cs typeface="Heebo"/>
                <a:sym typeface="Heebo"/>
              </a:rPr>
              <a:t>Command specifies ON/OFF operation</a:t>
            </a:r>
          </a:p>
          <a:p>
            <a:pPr algn="l" marL="203915" indent="-101958" lvl="1">
              <a:lnSpc>
                <a:spcPts val="1378"/>
              </a:lnSpc>
              <a:buFont typeface="Arial"/>
              <a:buChar char="•"/>
            </a:pPr>
            <a:r>
              <a:rPr lang="en-US" sz="1125">
                <a:solidFill>
                  <a:srgbClr val="4C4C4D"/>
                </a:solidFill>
                <a:latin typeface="Heebo"/>
                <a:ea typeface="Heebo"/>
                <a:cs typeface="Heebo"/>
                <a:sym typeface="Heebo"/>
              </a:rPr>
              <a:t>Device ID selects MCP23S17 (0-3)</a:t>
            </a:r>
          </a:p>
          <a:p>
            <a:pPr algn="l" marL="203915" indent="-101958" lvl="1">
              <a:lnSpc>
                <a:spcPts val="1378"/>
              </a:lnSpc>
              <a:buFont typeface="Arial"/>
              <a:buChar char="•"/>
            </a:pPr>
            <a:r>
              <a:rPr lang="en-US" sz="1125">
                <a:solidFill>
                  <a:srgbClr val="4C4C4D"/>
                </a:solidFill>
                <a:latin typeface="Heebo"/>
                <a:ea typeface="Heebo"/>
                <a:cs typeface="Heebo"/>
                <a:sym typeface="Heebo"/>
              </a:rPr>
              <a:t>Channel selects GPIO pin (0-7)</a:t>
            </a:r>
          </a:p>
          <a:p>
            <a:pPr algn="l" marL="203915" indent="-101958" lvl="1">
              <a:lnSpc>
                <a:spcPts val="1378"/>
              </a:lnSpc>
              <a:buFont typeface="Arial"/>
              <a:buChar char="•"/>
            </a:pPr>
            <a:r>
              <a:rPr lang="en-US" sz="1125">
                <a:solidFill>
                  <a:srgbClr val="4C4C4D"/>
                </a:solidFill>
                <a:latin typeface="Heebo"/>
                <a:ea typeface="Heebo"/>
                <a:cs typeface="Heebo"/>
                <a:sym typeface="Heebo"/>
              </a:rPr>
              <a:t>Data contains the control value</a:t>
            </a:r>
          </a:p>
          <a:p>
            <a:pPr algn="l" marL="203915" indent="-101958" lvl="1">
              <a:lnSpc>
                <a:spcPts val="1378"/>
              </a:lnSpc>
              <a:buFont typeface="Arial"/>
              <a:buChar char="•"/>
            </a:pPr>
            <a:r>
              <a:rPr lang="en-US" sz="1125">
                <a:solidFill>
                  <a:srgbClr val="4C4C4D"/>
                </a:solidFill>
                <a:latin typeface="Heebo"/>
                <a:ea typeface="Heebo"/>
                <a:cs typeface="Heebo"/>
                <a:sym typeface="Heebo"/>
              </a:rPr>
              <a:t>Checksum ensures data integrity</a:t>
            </a:r>
          </a:p>
          <a:p>
            <a:pPr algn="l" marL="203915" indent="-101958" lvl="1">
              <a:lnSpc>
                <a:spcPts val="1378"/>
              </a:lnSpc>
              <a:buFont typeface="Arial"/>
              <a:buChar char="•"/>
            </a:pPr>
            <a:r>
              <a:rPr lang="en-US" sz="1125">
                <a:solidFill>
                  <a:srgbClr val="4C4C4D"/>
                </a:solidFill>
                <a:latin typeface="Heebo"/>
                <a:ea typeface="Heebo"/>
                <a:cs typeface="Heebo"/>
                <a:sym typeface="Heebo"/>
              </a:rPr>
              <a:t>EOF marks frame end</a:t>
            </a:r>
          </a:p>
        </p:txBody>
      </p:sp>
      <p:sp>
        <p:nvSpPr>
          <p:cNvPr name="TextBox 75" id="75"/>
          <p:cNvSpPr txBox="true"/>
          <p:nvPr/>
        </p:nvSpPr>
        <p:spPr>
          <a:xfrm rot="0">
            <a:off x="9344244" y="7704906"/>
            <a:ext cx="7974140" cy="245002"/>
          </a:xfrm>
          <a:prstGeom prst="rect">
            <a:avLst/>
          </a:prstGeom>
        </p:spPr>
        <p:txBody>
          <a:bodyPr anchor="t" rtlCol="false" tIns="0" lIns="0" bIns="0" rIns="0">
            <a:spAutoFit/>
          </a:bodyPr>
          <a:lstStyle/>
          <a:p>
            <a:pPr algn="l">
              <a:lnSpc>
                <a:spcPts val="1779"/>
              </a:lnSpc>
            </a:pPr>
            <a:r>
              <a:rPr lang="en-US" sz="1426">
                <a:solidFill>
                  <a:srgbClr val="152D47"/>
                </a:solidFill>
                <a:latin typeface="Crimson Pro"/>
                <a:ea typeface="Crimson Pro"/>
                <a:cs typeface="Crimson Pro"/>
                <a:sym typeface="Crimson Pro"/>
              </a:rPr>
              <a:t>Key Features</a:t>
            </a:r>
          </a:p>
        </p:txBody>
      </p:sp>
      <p:sp>
        <p:nvSpPr>
          <p:cNvPr name="TextBox 76" id="76"/>
          <p:cNvSpPr txBox="true"/>
          <p:nvPr/>
        </p:nvSpPr>
        <p:spPr>
          <a:xfrm rot="0">
            <a:off x="9344244" y="8020374"/>
            <a:ext cx="7974140" cy="1044245"/>
          </a:xfrm>
          <a:prstGeom prst="rect">
            <a:avLst/>
          </a:prstGeom>
        </p:spPr>
        <p:txBody>
          <a:bodyPr anchor="t" rtlCol="false" tIns="0" lIns="0" bIns="0" rIns="0">
            <a:spAutoFit/>
          </a:bodyPr>
          <a:lstStyle/>
          <a:p>
            <a:pPr algn="l" marL="203915" indent="-101958" lvl="1">
              <a:lnSpc>
                <a:spcPts val="1378"/>
              </a:lnSpc>
              <a:buFont typeface="Arial"/>
              <a:buChar char="•"/>
            </a:pPr>
            <a:r>
              <a:rPr lang="en-US" sz="1125">
                <a:solidFill>
                  <a:srgbClr val="4C4C4D"/>
                </a:solidFill>
                <a:latin typeface="Heebo"/>
                <a:ea typeface="Heebo"/>
                <a:cs typeface="Heebo"/>
                <a:sym typeface="Heebo"/>
              </a:rPr>
              <a:t>Simple and efficient protocol</a:t>
            </a:r>
          </a:p>
          <a:p>
            <a:pPr algn="l" marL="203915" indent="-101958" lvl="1">
              <a:lnSpc>
                <a:spcPts val="1378"/>
              </a:lnSpc>
              <a:buFont typeface="Arial"/>
              <a:buChar char="•"/>
            </a:pPr>
            <a:r>
              <a:rPr lang="en-US" sz="1125">
                <a:solidFill>
                  <a:srgbClr val="4C4C4D"/>
                </a:solidFill>
                <a:latin typeface="Heebo"/>
                <a:ea typeface="Heebo"/>
                <a:cs typeface="Heebo"/>
                <a:sym typeface="Heebo"/>
              </a:rPr>
              <a:t>CRC and checksum verification</a:t>
            </a:r>
          </a:p>
          <a:p>
            <a:pPr algn="l" marL="203915" indent="-101958" lvl="1">
              <a:lnSpc>
                <a:spcPts val="1378"/>
              </a:lnSpc>
              <a:buFont typeface="Arial"/>
              <a:buChar char="•"/>
            </a:pPr>
            <a:r>
              <a:rPr lang="en-US" sz="1125">
                <a:solidFill>
                  <a:srgbClr val="4C4C4D"/>
                </a:solidFill>
                <a:latin typeface="Heebo"/>
                <a:ea typeface="Heebo"/>
                <a:cs typeface="Heebo"/>
                <a:sym typeface="Heebo"/>
              </a:rPr>
              <a:t>Device and channel addressing</a:t>
            </a:r>
          </a:p>
          <a:p>
            <a:pPr algn="l" marL="203915" indent="-101958" lvl="1">
              <a:lnSpc>
                <a:spcPts val="1378"/>
              </a:lnSpc>
              <a:buFont typeface="Arial"/>
              <a:buChar char="•"/>
            </a:pPr>
            <a:r>
              <a:rPr lang="en-US" sz="1125">
                <a:solidFill>
                  <a:srgbClr val="4C4C4D"/>
                </a:solidFill>
                <a:latin typeface="Heebo"/>
                <a:ea typeface="Heebo"/>
                <a:cs typeface="Heebo"/>
                <a:sym typeface="Heebo"/>
              </a:rPr>
              <a:t>Real-time command execution</a:t>
            </a:r>
          </a:p>
          <a:p>
            <a:pPr algn="l" marL="203915" indent="-101958" lvl="1">
              <a:lnSpc>
                <a:spcPts val="1378"/>
              </a:lnSpc>
              <a:buFont typeface="Arial"/>
              <a:buChar char="•"/>
            </a:pPr>
            <a:r>
              <a:rPr lang="en-US" sz="1125">
                <a:solidFill>
                  <a:srgbClr val="4C4C4D"/>
                </a:solidFill>
                <a:latin typeface="Heebo"/>
                <a:ea typeface="Heebo"/>
                <a:cs typeface="Heebo"/>
                <a:sym typeface="Heebo"/>
              </a:rPr>
              <a:t>Status feedback capability</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0F0F1"/>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6" id="6"/>
          <p:cNvGrpSpPr/>
          <p:nvPr/>
        </p:nvGrpSpPr>
        <p:grpSpPr>
          <a:xfrm rot="0">
            <a:off x="16628307" y="9846183"/>
            <a:ext cx="1609020" cy="384353"/>
            <a:chOff x="0" y="0"/>
            <a:chExt cx="2145360" cy="512470"/>
          </a:xfrm>
        </p:grpSpPr>
        <p:sp>
          <p:nvSpPr>
            <p:cNvPr name="Freeform 7" id="7" descr="preencoded.png">
              <a:hlinkClick r:id="rId3" tooltip="https://gamma.app/?utm_source=made-with-gamma"/>
            </p:cNvPr>
            <p:cNvSpPr/>
            <p:nvPr/>
          </p:nvSpPr>
          <p:spPr>
            <a:xfrm flipH="false" flipV="false" rot="0">
              <a:off x="0" y="0"/>
              <a:ext cx="2145411" cy="512445"/>
            </a:xfrm>
            <a:custGeom>
              <a:avLst/>
              <a:gdLst/>
              <a:ahLst/>
              <a:cxnLst/>
              <a:rect r="r" b="b" t="t" l="l"/>
              <a:pathLst>
                <a:path h="512445" w="2145411">
                  <a:moveTo>
                    <a:pt x="0" y="0"/>
                  </a:moveTo>
                  <a:lnTo>
                    <a:pt x="2145411" y="0"/>
                  </a:lnTo>
                  <a:lnTo>
                    <a:pt x="2145411" y="512445"/>
                  </a:lnTo>
                  <a:lnTo>
                    <a:pt x="0" y="512445"/>
                  </a:lnTo>
                  <a:lnTo>
                    <a:pt x="0" y="0"/>
                  </a:lnTo>
                  <a:close/>
                </a:path>
              </a:pathLst>
            </a:custGeom>
            <a:blipFill>
              <a:blip r:embed="rId4"/>
              <a:stretch>
                <a:fillRect l="0" t="0" r="2" b="-4"/>
              </a:stretch>
            </a:blipFill>
          </p:spPr>
        </p:sp>
      </p:grpSp>
      <p:sp>
        <p:nvSpPr>
          <p:cNvPr name="TextBox 8" id="8"/>
          <p:cNvSpPr txBox="true"/>
          <p:nvPr/>
        </p:nvSpPr>
        <p:spPr>
          <a:xfrm rot="0">
            <a:off x="992991" y="771106"/>
            <a:ext cx="16315868" cy="665759"/>
          </a:xfrm>
          <a:prstGeom prst="rect">
            <a:avLst/>
          </a:prstGeom>
        </p:spPr>
        <p:txBody>
          <a:bodyPr anchor="t" rtlCol="false" tIns="0" lIns="0" bIns="0" rIns="0">
            <a:spAutoFit/>
          </a:bodyPr>
          <a:lstStyle/>
          <a:p>
            <a:pPr algn="l">
              <a:lnSpc>
                <a:spcPts val="4964"/>
              </a:lnSpc>
            </a:pPr>
            <a:r>
              <a:rPr lang="en-US" sz="3978">
                <a:solidFill>
                  <a:srgbClr val="152D47"/>
                </a:solidFill>
                <a:latin typeface="Crimson Pro"/>
                <a:ea typeface="Crimson Pro"/>
                <a:cs typeface="Crimson Pro"/>
                <a:sym typeface="Crimson Pro"/>
              </a:rPr>
              <a:t>Channel Activation &amp; SPI Transaction</a:t>
            </a:r>
          </a:p>
        </p:txBody>
      </p:sp>
      <p:sp>
        <p:nvSpPr>
          <p:cNvPr name="TextBox 9" id="9"/>
          <p:cNvSpPr txBox="true"/>
          <p:nvPr/>
        </p:nvSpPr>
        <p:spPr>
          <a:xfrm rot="0">
            <a:off x="992991" y="1466831"/>
            <a:ext cx="16315868" cy="538410"/>
          </a:xfrm>
          <a:prstGeom prst="rect">
            <a:avLst/>
          </a:prstGeom>
        </p:spPr>
        <p:txBody>
          <a:bodyPr anchor="t" rtlCol="false" tIns="0" lIns="0" bIns="0" rIns="0">
            <a:spAutoFit/>
          </a:bodyPr>
          <a:lstStyle/>
          <a:p>
            <a:pPr algn="l">
              <a:lnSpc>
                <a:spcPts val="3934"/>
              </a:lnSpc>
            </a:pPr>
            <a:r>
              <a:rPr lang="en-US" sz="3152">
                <a:solidFill>
                  <a:srgbClr val="152D47"/>
                </a:solidFill>
                <a:latin typeface="Crimson Pro"/>
                <a:ea typeface="Crimson Pro"/>
                <a:cs typeface="Crimson Pro"/>
                <a:sym typeface="Crimson Pro"/>
              </a:rPr>
              <a:t>Channel Activation Sequence</a:t>
            </a:r>
          </a:p>
        </p:txBody>
      </p:sp>
      <p:grpSp>
        <p:nvGrpSpPr>
          <p:cNvPr name="Group 10" id="10"/>
          <p:cNvGrpSpPr/>
          <p:nvPr/>
        </p:nvGrpSpPr>
        <p:grpSpPr>
          <a:xfrm rot="0">
            <a:off x="988219" y="2220316"/>
            <a:ext cx="16325393" cy="1549022"/>
            <a:chOff x="0" y="0"/>
            <a:chExt cx="21767190" cy="2065363"/>
          </a:xfrm>
        </p:grpSpPr>
        <p:sp>
          <p:nvSpPr>
            <p:cNvPr name="Freeform 11" id="11"/>
            <p:cNvSpPr/>
            <p:nvPr/>
          </p:nvSpPr>
          <p:spPr>
            <a:xfrm flipH="false" flipV="false" rot="0">
              <a:off x="0" y="0"/>
              <a:ext cx="21767164" cy="2065401"/>
            </a:xfrm>
            <a:custGeom>
              <a:avLst/>
              <a:gdLst/>
              <a:ahLst/>
              <a:cxnLst/>
              <a:rect r="r" b="b" t="t" l="l"/>
              <a:pathLst>
                <a:path h="2065401" w="21767164">
                  <a:moveTo>
                    <a:pt x="0" y="41021"/>
                  </a:moveTo>
                  <a:cubicBezTo>
                    <a:pt x="0" y="18415"/>
                    <a:pt x="18415" y="0"/>
                    <a:pt x="41021" y="0"/>
                  </a:cubicBezTo>
                  <a:lnTo>
                    <a:pt x="21726144" y="0"/>
                  </a:lnTo>
                  <a:cubicBezTo>
                    <a:pt x="21748750" y="0"/>
                    <a:pt x="21767164" y="18415"/>
                    <a:pt x="21767164" y="41021"/>
                  </a:cubicBezTo>
                  <a:lnTo>
                    <a:pt x="21767164" y="2024380"/>
                  </a:lnTo>
                  <a:cubicBezTo>
                    <a:pt x="21767164" y="2046986"/>
                    <a:pt x="21748750" y="2065401"/>
                    <a:pt x="21726144" y="2065401"/>
                  </a:cubicBezTo>
                  <a:lnTo>
                    <a:pt x="41021" y="2065401"/>
                  </a:lnTo>
                  <a:cubicBezTo>
                    <a:pt x="18415" y="2065401"/>
                    <a:pt x="0" y="2046986"/>
                    <a:pt x="0" y="2024380"/>
                  </a:cubicBezTo>
                  <a:close/>
                </a:path>
              </a:pathLst>
            </a:custGeom>
            <a:blipFill>
              <a:blip r:embed="rId5">
                <a:alphaModFix amt="0"/>
              </a:blip>
              <a:stretch>
                <a:fillRect l="0" t="-155353" r="0" b="-155351"/>
              </a:stretch>
            </a:blipFill>
            <a:ln w="9532" cap="sq">
              <a:solidFill>
                <a:srgbClr val="000000"/>
              </a:solidFill>
              <a:prstDash val="solid"/>
              <a:miter/>
            </a:ln>
          </p:spPr>
        </p:sp>
      </p:grpSp>
      <p:grpSp>
        <p:nvGrpSpPr>
          <p:cNvPr name="Group 12" id="12"/>
          <p:cNvGrpSpPr/>
          <p:nvPr/>
        </p:nvGrpSpPr>
        <p:grpSpPr>
          <a:xfrm rot="0">
            <a:off x="992991" y="2994822"/>
            <a:ext cx="16315868" cy="12744"/>
            <a:chOff x="0" y="0"/>
            <a:chExt cx="21754490" cy="16993"/>
          </a:xfrm>
        </p:grpSpPr>
        <p:sp>
          <p:nvSpPr>
            <p:cNvPr name="Freeform 13" id="13"/>
            <p:cNvSpPr/>
            <p:nvPr/>
          </p:nvSpPr>
          <p:spPr>
            <a:xfrm flipH="false" flipV="false" rot="0">
              <a:off x="0" y="0"/>
              <a:ext cx="21754464" cy="17018"/>
            </a:xfrm>
            <a:custGeom>
              <a:avLst/>
              <a:gdLst/>
              <a:ahLst/>
              <a:cxnLst/>
              <a:rect r="r" b="b" t="t" l="l"/>
              <a:pathLst>
                <a:path h="17018" w="21754464">
                  <a:moveTo>
                    <a:pt x="0" y="0"/>
                  </a:moveTo>
                  <a:lnTo>
                    <a:pt x="21754464" y="0"/>
                  </a:lnTo>
                  <a:lnTo>
                    <a:pt x="21754464" y="17018"/>
                  </a:lnTo>
                  <a:lnTo>
                    <a:pt x="0" y="17018"/>
                  </a:lnTo>
                  <a:close/>
                </a:path>
              </a:pathLst>
            </a:custGeom>
            <a:solidFill>
              <a:srgbClr val="000000">
                <a:alpha val="392"/>
              </a:srgbClr>
            </a:solidFill>
          </p:spPr>
        </p:sp>
      </p:grpSp>
      <p:grpSp>
        <p:nvGrpSpPr>
          <p:cNvPr name="Group 14" id="14"/>
          <p:cNvGrpSpPr/>
          <p:nvPr/>
        </p:nvGrpSpPr>
        <p:grpSpPr>
          <a:xfrm rot="0">
            <a:off x="4131916" y="2225078"/>
            <a:ext cx="12744" cy="1539488"/>
            <a:chOff x="0" y="0"/>
            <a:chExt cx="16993" cy="2052650"/>
          </a:xfrm>
        </p:grpSpPr>
        <p:sp>
          <p:nvSpPr>
            <p:cNvPr name="Freeform 15" id="15"/>
            <p:cNvSpPr/>
            <p:nvPr/>
          </p:nvSpPr>
          <p:spPr>
            <a:xfrm flipH="false" flipV="false" rot="0">
              <a:off x="0" y="0"/>
              <a:ext cx="17018" cy="2052701"/>
            </a:xfrm>
            <a:custGeom>
              <a:avLst/>
              <a:gdLst/>
              <a:ahLst/>
              <a:cxnLst/>
              <a:rect r="r" b="b" t="t" l="l"/>
              <a:pathLst>
                <a:path h="2052701" w="17018">
                  <a:moveTo>
                    <a:pt x="0" y="0"/>
                  </a:moveTo>
                  <a:lnTo>
                    <a:pt x="17018" y="0"/>
                  </a:lnTo>
                  <a:lnTo>
                    <a:pt x="17018" y="2052701"/>
                  </a:lnTo>
                  <a:lnTo>
                    <a:pt x="0" y="2052701"/>
                  </a:lnTo>
                  <a:close/>
                </a:path>
              </a:pathLst>
            </a:custGeom>
            <a:solidFill>
              <a:srgbClr val="000000">
                <a:alpha val="392"/>
              </a:srgbClr>
            </a:solidFill>
          </p:spPr>
        </p:sp>
      </p:grpSp>
      <p:grpSp>
        <p:nvGrpSpPr>
          <p:cNvPr name="Group 16" id="16"/>
          <p:cNvGrpSpPr/>
          <p:nvPr/>
        </p:nvGrpSpPr>
        <p:grpSpPr>
          <a:xfrm rot="0">
            <a:off x="6635010" y="2225078"/>
            <a:ext cx="12744" cy="1539488"/>
            <a:chOff x="0" y="0"/>
            <a:chExt cx="16993" cy="2052650"/>
          </a:xfrm>
        </p:grpSpPr>
        <p:sp>
          <p:nvSpPr>
            <p:cNvPr name="Freeform 17" id="17"/>
            <p:cNvSpPr/>
            <p:nvPr/>
          </p:nvSpPr>
          <p:spPr>
            <a:xfrm flipH="false" flipV="false" rot="0">
              <a:off x="0" y="0"/>
              <a:ext cx="17018" cy="2052701"/>
            </a:xfrm>
            <a:custGeom>
              <a:avLst/>
              <a:gdLst/>
              <a:ahLst/>
              <a:cxnLst/>
              <a:rect r="r" b="b" t="t" l="l"/>
              <a:pathLst>
                <a:path h="2052701" w="17018">
                  <a:moveTo>
                    <a:pt x="0" y="0"/>
                  </a:moveTo>
                  <a:lnTo>
                    <a:pt x="17018" y="0"/>
                  </a:lnTo>
                  <a:lnTo>
                    <a:pt x="17018" y="2052701"/>
                  </a:lnTo>
                  <a:lnTo>
                    <a:pt x="0" y="2052701"/>
                  </a:lnTo>
                  <a:close/>
                </a:path>
              </a:pathLst>
            </a:custGeom>
            <a:solidFill>
              <a:srgbClr val="000000">
                <a:alpha val="392"/>
              </a:srgbClr>
            </a:solidFill>
          </p:spPr>
        </p:sp>
      </p:grpSp>
      <p:grpSp>
        <p:nvGrpSpPr>
          <p:cNvPr name="Group 18" id="18"/>
          <p:cNvGrpSpPr/>
          <p:nvPr/>
        </p:nvGrpSpPr>
        <p:grpSpPr>
          <a:xfrm rot="0">
            <a:off x="9138114" y="2225078"/>
            <a:ext cx="12744" cy="1539488"/>
            <a:chOff x="0" y="0"/>
            <a:chExt cx="16993" cy="2052650"/>
          </a:xfrm>
        </p:grpSpPr>
        <p:sp>
          <p:nvSpPr>
            <p:cNvPr name="Freeform 19" id="19"/>
            <p:cNvSpPr/>
            <p:nvPr/>
          </p:nvSpPr>
          <p:spPr>
            <a:xfrm flipH="false" flipV="false" rot="0">
              <a:off x="0" y="0"/>
              <a:ext cx="17018" cy="2052701"/>
            </a:xfrm>
            <a:custGeom>
              <a:avLst/>
              <a:gdLst/>
              <a:ahLst/>
              <a:cxnLst/>
              <a:rect r="r" b="b" t="t" l="l"/>
              <a:pathLst>
                <a:path h="2052701" w="17018">
                  <a:moveTo>
                    <a:pt x="0" y="0"/>
                  </a:moveTo>
                  <a:lnTo>
                    <a:pt x="17018" y="0"/>
                  </a:lnTo>
                  <a:lnTo>
                    <a:pt x="17018" y="2052701"/>
                  </a:lnTo>
                  <a:lnTo>
                    <a:pt x="0" y="2052701"/>
                  </a:lnTo>
                  <a:close/>
                </a:path>
              </a:pathLst>
            </a:custGeom>
            <a:solidFill>
              <a:srgbClr val="000000">
                <a:alpha val="392"/>
              </a:srgbClr>
            </a:solidFill>
          </p:spPr>
        </p:sp>
      </p:grpSp>
      <p:grpSp>
        <p:nvGrpSpPr>
          <p:cNvPr name="Group 20" id="20"/>
          <p:cNvGrpSpPr/>
          <p:nvPr/>
        </p:nvGrpSpPr>
        <p:grpSpPr>
          <a:xfrm rot="0">
            <a:off x="11641207" y="2225078"/>
            <a:ext cx="12744" cy="1539488"/>
            <a:chOff x="0" y="0"/>
            <a:chExt cx="16993" cy="2052650"/>
          </a:xfrm>
        </p:grpSpPr>
        <p:sp>
          <p:nvSpPr>
            <p:cNvPr name="Freeform 21" id="21"/>
            <p:cNvSpPr/>
            <p:nvPr/>
          </p:nvSpPr>
          <p:spPr>
            <a:xfrm flipH="false" flipV="false" rot="0">
              <a:off x="0" y="0"/>
              <a:ext cx="17018" cy="2052701"/>
            </a:xfrm>
            <a:custGeom>
              <a:avLst/>
              <a:gdLst/>
              <a:ahLst/>
              <a:cxnLst/>
              <a:rect r="r" b="b" t="t" l="l"/>
              <a:pathLst>
                <a:path h="2052701" w="17018">
                  <a:moveTo>
                    <a:pt x="0" y="0"/>
                  </a:moveTo>
                  <a:lnTo>
                    <a:pt x="17018" y="0"/>
                  </a:lnTo>
                  <a:lnTo>
                    <a:pt x="17018" y="2052701"/>
                  </a:lnTo>
                  <a:lnTo>
                    <a:pt x="0" y="2052701"/>
                  </a:lnTo>
                  <a:close/>
                </a:path>
              </a:pathLst>
            </a:custGeom>
            <a:solidFill>
              <a:srgbClr val="000000">
                <a:alpha val="392"/>
              </a:srgbClr>
            </a:solidFill>
          </p:spPr>
        </p:sp>
      </p:grpSp>
      <p:grpSp>
        <p:nvGrpSpPr>
          <p:cNvPr name="Group 22" id="22"/>
          <p:cNvGrpSpPr/>
          <p:nvPr/>
        </p:nvGrpSpPr>
        <p:grpSpPr>
          <a:xfrm rot="0">
            <a:off x="14144311" y="2225078"/>
            <a:ext cx="12744" cy="1539488"/>
            <a:chOff x="0" y="0"/>
            <a:chExt cx="16993" cy="2052650"/>
          </a:xfrm>
        </p:grpSpPr>
        <p:sp>
          <p:nvSpPr>
            <p:cNvPr name="Freeform 23" id="23"/>
            <p:cNvSpPr/>
            <p:nvPr/>
          </p:nvSpPr>
          <p:spPr>
            <a:xfrm flipH="false" flipV="false" rot="0">
              <a:off x="0" y="0"/>
              <a:ext cx="17018" cy="2052701"/>
            </a:xfrm>
            <a:custGeom>
              <a:avLst/>
              <a:gdLst/>
              <a:ahLst/>
              <a:cxnLst/>
              <a:rect r="r" b="b" t="t" l="l"/>
              <a:pathLst>
                <a:path h="2052701" w="17018">
                  <a:moveTo>
                    <a:pt x="0" y="0"/>
                  </a:moveTo>
                  <a:lnTo>
                    <a:pt x="17018" y="0"/>
                  </a:lnTo>
                  <a:lnTo>
                    <a:pt x="17018" y="2052701"/>
                  </a:lnTo>
                  <a:lnTo>
                    <a:pt x="0" y="2052701"/>
                  </a:lnTo>
                  <a:close/>
                </a:path>
              </a:pathLst>
            </a:custGeom>
            <a:solidFill>
              <a:srgbClr val="000000">
                <a:alpha val="392"/>
              </a:srgbClr>
            </a:solidFill>
          </p:spPr>
        </p:sp>
      </p:grpSp>
      <p:sp>
        <p:nvSpPr>
          <p:cNvPr name="TextBox 24" id="24"/>
          <p:cNvSpPr txBox="true"/>
          <p:nvPr/>
        </p:nvSpPr>
        <p:spPr>
          <a:xfrm rot="0">
            <a:off x="1832715" y="2303450"/>
            <a:ext cx="3005623" cy="308886"/>
          </a:xfrm>
          <a:prstGeom prst="rect">
            <a:avLst/>
          </a:prstGeom>
        </p:spPr>
        <p:txBody>
          <a:bodyPr anchor="t" rtlCol="false" tIns="0" lIns="0" bIns="0" rIns="0">
            <a:spAutoFit/>
          </a:bodyPr>
          <a:lstStyle/>
          <a:p>
            <a:pPr algn="l">
              <a:lnSpc>
                <a:spcPts val="2175"/>
              </a:lnSpc>
            </a:pPr>
            <a:r>
              <a:rPr lang="en-US" sz="1576">
                <a:solidFill>
                  <a:srgbClr val="4C4C4D"/>
                </a:solidFill>
                <a:latin typeface="Heebo"/>
                <a:ea typeface="Heebo"/>
                <a:cs typeface="Heebo"/>
                <a:sym typeface="Heebo"/>
              </a:rPr>
              <a:t>① GUI Selects Channel</a:t>
            </a:r>
          </a:p>
        </p:txBody>
      </p:sp>
      <p:sp>
        <p:nvSpPr>
          <p:cNvPr name="TextBox 25" id="25"/>
          <p:cNvSpPr txBox="true"/>
          <p:nvPr/>
        </p:nvSpPr>
        <p:spPr>
          <a:xfrm rot="0">
            <a:off x="4340581" y="2303450"/>
            <a:ext cx="2085765" cy="589197"/>
          </a:xfrm>
          <a:prstGeom prst="rect">
            <a:avLst/>
          </a:prstGeom>
        </p:spPr>
        <p:txBody>
          <a:bodyPr anchor="t" rtlCol="false" tIns="0" lIns="0" bIns="0" rIns="0">
            <a:spAutoFit/>
          </a:bodyPr>
          <a:lstStyle/>
          <a:p>
            <a:pPr algn="l">
              <a:lnSpc>
                <a:spcPts val="2175"/>
              </a:lnSpc>
            </a:pPr>
            <a:r>
              <a:rPr lang="en-US" sz="1576">
                <a:solidFill>
                  <a:srgbClr val="4C4C4D"/>
                </a:solidFill>
                <a:latin typeface="Heebo"/>
                <a:ea typeface="Heebo"/>
                <a:cs typeface="Heebo"/>
                <a:sym typeface="Heebo"/>
              </a:rPr>
              <a:t>② MCU Receives Command</a:t>
            </a:r>
          </a:p>
        </p:txBody>
      </p:sp>
      <p:sp>
        <p:nvSpPr>
          <p:cNvPr name="TextBox 26" id="26"/>
          <p:cNvSpPr txBox="true"/>
          <p:nvPr/>
        </p:nvSpPr>
        <p:spPr>
          <a:xfrm rot="0">
            <a:off x="6843674" y="2303450"/>
            <a:ext cx="2085765" cy="589197"/>
          </a:xfrm>
          <a:prstGeom prst="rect">
            <a:avLst/>
          </a:prstGeom>
        </p:spPr>
        <p:txBody>
          <a:bodyPr anchor="t" rtlCol="false" tIns="0" lIns="0" bIns="0" rIns="0">
            <a:spAutoFit/>
          </a:bodyPr>
          <a:lstStyle/>
          <a:p>
            <a:pPr algn="l">
              <a:lnSpc>
                <a:spcPts val="2175"/>
              </a:lnSpc>
            </a:pPr>
            <a:r>
              <a:rPr lang="en-US" sz="1576">
                <a:solidFill>
                  <a:srgbClr val="4C4C4D"/>
                </a:solidFill>
                <a:latin typeface="Heebo"/>
                <a:ea typeface="Heebo"/>
                <a:cs typeface="Heebo"/>
                <a:sym typeface="Heebo"/>
              </a:rPr>
              <a:t>③ Device Selection (MCP2)</a:t>
            </a:r>
          </a:p>
        </p:txBody>
      </p:sp>
      <p:sp>
        <p:nvSpPr>
          <p:cNvPr name="TextBox 27" id="27"/>
          <p:cNvSpPr txBox="true"/>
          <p:nvPr/>
        </p:nvSpPr>
        <p:spPr>
          <a:xfrm rot="0">
            <a:off x="9346778" y="2303450"/>
            <a:ext cx="2085765" cy="589197"/>
          </a:xfrm>
          <a:prstGeom prst="rect">
            <a:avLst/>
          </a:prstGeom>
        </p:spPr>
        <p:txBody>
          <a:bodyPr anchor="t" rtlCol="false" tIns="0" lIns="0" bIns="0" rIns="0">
            <a:spAutoFit/>
          </a:bodyPr>
          <a:lstStyle/>
          <a:p>
            <a:pPr algn="l">
              <a:lnSpc>
                <a:spcPts val="2175"/>
              </a:lnSpc>
            </a:pPr>
            <a:r>
              <a:rPr lang="en-US" sz="1576">
                <a:solidFill>
                  <a:srgbClr val="4C4C4D"/>
                </a:solidFill>
                <a:latin typeface="Heebo"/>
                <a:ea typeface="Heebo"/>
                <a:cs typeface="Heebo"/>
                <a:sym typeface="Heebo"/>
              </a:rPr>
              <a:t>④ SPI Control Byte = 44H</a:t>
            </a:r>
          </a:p>
        </p:txBody>
      </p:sp>
      <p:sp>
        <p:nvSpPr>
          <p:cNvPr name="TextBox 28" id="28"/>
          <p:cNvSpPr txBox="true"/>
          <p:nvPr/>
        </p:nvSpPr>
        <p:spPr>
          <a:xfrm rot="0">
            <a:off x="11849872" y="2303450"/>
            <a:ext cx="2085765" cy="589197"/>
          </a:xfrm>
          <a:prstGeom prst="rect">
            <a:avLst/>
          </a:prstGeom>
        </p:spPr>
        <p:txBody>
          <a:bodyPr anchor="t" rtlCol="false" tIns="0" lIns="0" bIns="0" rIns="0">
            <a:spAutoFit/>
          </a:bodyPr>
          <a:lstStyle/>
          <a:p>
            <a:pPr algn="l">
              <a:lnSpc>
                <a:spcPts val="2175"/>
              </a:lnSpc>
            </a:pPr>
            <a:r>
              <a:rPr lang="en-US" sz="1576">
                <a:solidFill>
                  <a:srgbClr val="4C4C4D"/>
                </a:solidFill>
                <a:latin typeface="Heebo"/>
                <a:ea typeface="Heebo"/>
                <a:cs typeface="Heebo"/>
                <a:sym typeface="Heebo"/>
              </a:rPr>
              <a:t>⑤ Register Address = 13H</a:t>
            </a:r>
          </a:p>
        </p:txBody>
      </p:sp>
      <p:sp>
        <p:nvSpPr>
          <p:cNvPr name="TextBox 29" id="29"/>
          <p:cNvSpPr txBox="true"/>
          <p:nvPr/>
        </p:nvSpPr>
        <p:spPr>
          <a:xfrm rot="0">
            <a:off x="14352975" y="2303450"/>
            <a:ext cx="3005623" cy="308886"/>
          </a:xfrm>
          <a:prstGeom prst="rect">
            <a:avLst/>
          </a:prstGeom>
        </p:spPr>
        <p:txBody>
          <a:bodyPr anchor="t" rtlCol="false" tIns="0" lIns="0" bIns="0" rIns="0">
            <a:spAutoFit/>
          </a:bodyPr>
          <a:lstStyle/>
          <a:p>
            <a:pPr algn="l">
              <a:lnSpc>
                <a:spcPts val="2175"/>
              </a:lnSpc>
            </a:pPr>
            <a:r>
              <a:rPr lang="en-US" sz="1576">
                <a:solidFill>
                  <a:srgbClr val="4C4C4D"/>
                </a:solidFill>
                <a:latin typeface="Heebo"/>
                <a:ea typeface="Heebo"/>
                <a:cs typeface="Heebo"/>
                <a:sym typeface="Heebo"/>
              </a:rPr>
              <a:t>⑥ GPIO GPB1 = HIGH</a:t>
            </a:r>
          </a:p>
        </p:txBody>
      </p:sp>
      <p:sp>
        <p:nvSpPr>
          <p:cNvPr name="TextBox 30" id="30"/>
          <p:cNvSpPr txBox="true"/>
          <p:nvPr/>
        </p:nvSpPr>
        <p:spPr>
          <a:xfrm rot="0">
            <a:off x="1832715" y="3068431"/>
            <a:ext cx="2090537" cy="589197"/>
          </a:xfrm>
          <a:prstGeom prst="rect">
            <a:avLst/>
          </a:prstGeom>
        </p:spPr>
        <p:txBody>
          <a:bodyPr anchor="t" rtlCol="false" tIns="0" lIns="0" bIns="0" rIns="0">
            <a:spAutoFit/>
          </a:bodyPr>
          <a:lstStyle/>
          <a:p>
            <a:pPr algn="l">
              <a:lnSpc>
                <a:spcPts val="2175"/>
              </a:lnSpc>
            </a:pPr>
            <a:r>
              <a:rPr lang="en-US" sz="1576">
                <a:solidFill>
                  <a:srgbClr val="4C4C4D"/>
                </a:solidFill>
                <a:latin typeface="Heebo"/>
                <a:ea typeface="Heebo"/>
                <a:cs typeface="Heebo"/>
                <a:sym typeface="Heebo"/>
              </a:rPr>
              <a:t>⑦ MOSFET Gate Driven</a:t>
            </a:r>
          </a:p>
        </p:txBody>
      </p:sp>
      <p:sp>
        <p:nvSpPr>
          <p:cNvPr name="TextBox 31" id="31"/>
          <p:cNvSpPr txBox="true"/>
          <p:nvPr/>
        </p:nvSpPr>
        <p:spPr>
          <a:xfrm rot="0">
            <a:off x="4340581" y="3068431"/>
            <a:ext cx="3000861" cy="308886"/>
          </a:xfrm>
          <a:prstGeom prst="rect">
            <a:avLst/>
          </a:prstGeom>
        </p:spPr>
        <p:txBody>
          <a:bodyPr anchor="t" rtlCol="false" tIns="0" lIns="0" bIns="0" rIns="0">
            <a:spAutoFit/>
          </a:bodyPr>
          <a:lstStyle/>
          <a:p>
            <a:pPr algn="l">
              <a:lnSpc>
                <a:spcPts val="2175"/>
              </a:lnSpc>
            </a:pPr>
            <a:r>
              <a:rPr lang="en-US" sz="1576">
                <a:solidFill>
                  <a:srgbClr val="4C4C4D"/>
                </a:solidFill>
                <a:latin typeface="Heebo"/>
                <a:ea typeface="Heebo"/>
                <a:cs typeface="Heebo"/>
                <a:sym typeface="Heebo"/>
              </a:rPr>
              <a:t>⑧ Load Turns ON</a:t>
            </a:r>
          </a:p>
        </p:txBody>
      </p:sp>
      <p:sp>
        <p:nvSpPr>
          <p:cNvPr name="TextBox 32" id="32"/>
          <p:cNvSpPr txBox="true"/>
          <p:nvPr/>
        </p:nvSpPr>
        <p:spPr>
          <a:xfrm rot="0">
            <a:off x="6843674" y="3068431"/>
            <a:ext cx="3000861" cy="308886"/>
          </a:xfrm>
          <a:prstGeom prst="rect">
            <a:avLst/>
          </a:prstGeom>
        </p:spPr>
        <p:txBody>
          <a:bodyPr anchor="t" rtlCol="false" tIns="0" lIns="0" bIns="0" rIns="0">
            <a:spAutoFit/>
          </a:bodyPr>
          <a:lstStyle/>
          <a:p>
            <a:pPr algn="l">
              <a:lnSpc>
                <a:spcPts val="2175"/>
              </a:lnSpc>
            </a:pPr>
            <a:r>
              <a:rPr lang="en-US" sz="1576">
                <a:solidFill>
                  <a:srgbClr val="4C4C4D"/>
                </a:solidFill>
                <a:latin typeface="Heebo"/>
                <a:ea typeface="Heebo"/>
                <a:cs typeface="Heebo"/>
                <a:sym typeface="Heebo"/>
              </a:rPr>
              <a:t>⑨ GPIO Read Back</a:t>
            </a:r>
          </a:p>
        </p:txBody>
      </p:sp>
      <p:sp>
        <p:nvSpPr>
          <p:cNvPr name="TextBox 33" id="33"/>
          <p:cNvSpPr txBox="true"/>
          <p:nvPr/>
        </p:nvSpPr>
        <p:spPr>
          <a:xfrm rot="0">
            <a:off x="9346778" y="3068431"/>
            <a:ext cx="3000861" cy="308886"/>
          </a:xfrm>
          <a:prstGeom prst="rect">
            <a:avLst/>
          </a:prstGeom>
        </p:spPr>
        <p:txBody>
          <a:bodyPr anchor="t" rtlCol="false" tIns="0" lIns="0" bIns="0" rIns="0">
            <a:spAutoFit/>
          </a:bodyPr>
          <a:lstStyle/>
          <a:p>
            <a:pPr algn="l">
              <a:lnSpc>
                <a:spcPts val="2175"/>
              </a:lnSpc>
            </a:pPr>
            <a:r>
              <a:rPr lang="en-US" sz="1576">
                <a:solidFill>
                  <a:srgbClr val="4C4C4D"/>
                </a:solidFill>
                <a:latin typeface="Heebo"/>
                <a:ea typeface="Heebo"/>
                <a:cs typeface="Heebo"/>
                <a:sym typeface="Heebo"/>
              </a:rPr>
              <a:t>⑩ Status Verification</a:t>
            </a:r>
          </a:p>
        </p:txBody>
      </p:sp>
      <p:sp>
        <p:nvSpPr>
          <p:cNvPr name="TextBox 34" id="34"/>
          <p:cNvSpPr txBox="true"/>
          <p:nvPr/>
        </p:nvSpPr>
        <p:spPr>
          <a:xfrm rot="0">
            <a:off x="11849872" y="3068431"/>
            <a:ext cx="3000861" cy="308886"/>
          </a:xfrm>
          <a:prstGeom prst="rect">
            <a:avLst/>
          </a:prstGeom>
        </p:spPr>
        <p:txBody>
          <a:bodyPr anchor="t" rtlCol="false" tIns="0" lIns="0" bIns="0" rIns="0">
            <a:spAutoFit/>
          </a:bodyPr>
          <a:lstStyle/>
          <a:p>
            <a:pPr algn="l">
              <a:lnSpc>
                <a:spcPts val="2175"/>
              </a:lnSpc>
            </a:pPr>
            <a:r>
              <a:rPr lang="en-US" sz="1576">
                <a:solidFill>
                  <a:srgbClr val="4C4C4D"/>
                </a:solidFill>
                <a:latin typeface="Heebo"/>
                <a:ea typeface="Heebo"/>
                <a:cs typeface="Heebo"/>
                <a:sym typeface="Heebo"/>
              </a:rPr>
              <a:t>⑪ ACK Sent to GUI</a:t>
            </a:r>
          </a:p>
        </p:txBody>
      </p:sp>
      <p:sp>
        <p:nvSpPr>
          <p:cNvPr name="TextBox 35" id="35"/>
          <p:cNvSpPr txBox="true"/>
          <p:nvPr/>
        </p:nvSpPr>
        <p:spPr>
          <a:xfrm rot="0">
            <a:off x="992991" y="4047439"/>
            <a:ext cx="7909198" cy="538410"/>
          </a:xfrm>
          <a:prstGeom prst="rect">
            <a:avLst/>
          </a:prstGeom>
        </p:spPr>
        <p:txBody>
          <a:bodyPr anchor="t" rtlCol="false" tIns="0" lIns="0" bIns="0" rIns="0">
            <a:spAutoFit/>
          </a:bodyPr>
          <a:lstStyle/>
          <a:p>
            <a:pPr algn="l">
              <a:lnSpc>
                <a:spcPts val="3934"/>
              </a:lnSpc>
            </a:pPr>
            <a:r>
              <a:rPr lang="en-US" sz="3152">
                <a:solidFill>
                  <a:srgbClr val="152D47"/>
                </a:solidFill>
                <a:latin typeface="Crimson Pro"/>
                <a:ea typeface="Crimson Pro"/>
                <a:cs typeface="Crimson Pro"/>
                <a:sym typeface="Crimson Pro"/>
              </a:rPr>
              <a:t>SPI Register Operation</a:t>
            </a:r>
          </a:p>
        </p:txBody>
      </p:sp>
      <p:sp>
        <p:nvSpPr>
          <p:cNvPr name="TextBox 36" id="36"/>
          <p:cNvSpPr txBox="true"/>
          <p:nvPr/>
        </p:nvSpPr>
        <p:spPr>
          <a:xfrm rot="0">
            <a:off x="992991" y="4625340"/>
            <a:ext cx="7909198" cy="337795"/>
          </a:xfrm>
          <a:prstGeom prst="rect">
            <a:avLst/>
          </a:prstGeom>
        </p:spPr>
        <p:txBody>
          <a:bodyPr anchor="t" rtlCol="false" tIns="0" lIns="0" bIns="0" rIns="0">
            <a:spAutoFit/>
          </a:bodyPr>
          <a:lstStyle/>
          <a:p>
            <a:pPr algn="l">
              <a:lnSpc>
                <a:spcPts val="2435"/>
              </a:lnSpc>
            </a:pPr>
            <a:r>
              <a:rPr lang="en-US" sz="1951">
                <a:solidFill>
                  <a:srgbClr val="152D47"/>
                </a:solidFill>
                <a:latin typeface="Crimson Pro"/>
                <a:ea typeface="Crimson Pro"/>
                <a:cs typeface="Crimson Pro"/>
                <a:sym typeface="Crimson Pro"/>
              </a:rPr>
              <a:t>Initial State</a:t>
            </a:r>
          </a:p>
        </p:txBody>
      </p:sp>
      <p:sp>
        <p:nvSpPr>
          <p:cNvPr name="TextBox 37" id="37"/>
          <p:cNvSpPr txBox="true"/>
          <p:nvPr/>
        </p:nvSpPr>
        <p:spPr>
          <a:xfrm rot="0">
            <a:off x="992991" y="5081111"/>
            <a:ext cx="8824293" cy="308886"/>
          </a:xfrm>
          <a:prstGeom prst="rect">
            <a:avLst/>
          </a:prstGeom>
        </p:spPr>
        <p:txBody>
          <a:bodyPr anchor="t" rtlCol="false" tIns="0" lIns="0" bIns="0" rIns="0">
            <a:spAutoFit/>
          </a:bodyPr>
          <a:lstStyle/>
          <a:p>
            <a:pPr algn="l">
              <a:lnSpc>
                <a:spcPts val="2175"/>
              </a:lnSpc>
            </a:pPr>
            <a:r>
              <a:rPr lang="en-US" sz="1576">
                <a:solidFill>
                  <a:srgbClr val="4C4C4D"/>
                </a:solidFill>
                <a:latin typeface="Heebo"/>
                <a:ea typeface="Heebo"/>
                <a:cs typeface="Heebo"/>
                <a:sym typeface="Heebo"/>
              </a:rPr>
              <a:t>GPIOB = </a:t>
            </a:r>
            <a:r>
              <a:rPr lang="en-US" sz="1576" b="true">
                <a:solidFill>
                  <a:srgbClr val="4C4C4D"/>
                </a:solidFill>
                <a:latin typeface="Heebo Bold"/>
                <a:ea typeface="Heebo Bold"/>
                <a:cs typeface="Heebo Bold"/>
                <a:sym typeface="Heebo Bold"/>
              </a:rPr>
              <a:t>10100000</a:t>
            </a:r>
            <a:r>
              <a:rPr lang="en-US" sz="1576">
                <a:solidFill>
                  <a:srgbClr val="4C4C4D"/>
                </a:solidFill>
                <a:latin typeface="Heebo"/>
                <a:ea typeface="Heebo"/>
                <a:cs typeface="Heebo"/>
                <a:sym typeface="Heebo"/>
              </a:rPr>
              <a:t> (</a:t>
            </a:r>
            <a:r>
              <a:rPr lang="en-US" sz="1576" b="true">
                <a:solidFill>
                  <a:srgbClr val="4C4C4D"/>
                </a:solidFill>
                <a:latin typeface="Heebo Bold"/>
                <a:ea typeface="Heebo Bold"/>
                <a:cs typeface="Heebo Bold"/>
                <a:sym typeface="Heebo Bold"/>
              </a:rPr>
              <a:t>A0H</a:t>
            </a:r>
            <a:r>
              <a:rPr lang="en-US" sz="1576">
                <a:solidFill>
                  <a:srgbClr val="4C4C4D"/>
                </a:solidFill>
                <a:latin typeface="Heebo"/>
                <a:ea typeface="Heebo"/>
                <a:cs typeface="Heebo"/>
                <a:sym typeface="Heebo"/>
              </a:rPr>
              <a:t>)</a:t>
            </a:r>
          </a:p>
        </p:txBody>
      </p:sp>
      <p:sp>
        <p:nvSpPr>
          <p:cNvPr name="TextBox 38" id="38"/>
          <p:cNvSpPr txBox="true"/>
          <p:nvPr/>
        </p:nvSpPr>
        <p:spPr>
          <a:xfrm rot="0">
            <a:off x="992991" y="5517518"/>
            <a:ext cx="7909198" cy="337795"/>
          </a:xfrm>
          <a:prstGeom prst="rect">
            <a:avLst/>
          </a:prstGeom>
        </p:spPr>
        <p:txBody>
          <a:bodyPr anchor="t" rtlCol="false" tIns="0" lIns="0" bIns="0" rIns="0">
            <a:spAutoFit/>
          </a:bodyPr>
          <a:lstStyle/>
          <a:p>
            <a:pPr algn="l">
              <a:lnSpc>
                <a:spcPts val="2435"/>
              </a:lnSpc>
            </a:pPr>
            <a:r>
              <a:rPr lang="en-US" sz="1951">
                <a:solidFill>
                  <a:srgbClr val="152D47"/>
                </a:solidFill>
                <a:latin typeface="Crimson Pro"/>
                <a:ea typeface="Crimson Pro"/>
                <a:cs typeface="Crimson Pro"/>
                <a:sym typeface="Crimson Pro"/>
              </a:rPr>
              <a:t>Bit Modification</a:t>
            </a:r>
          </a:p>
        </p:txBody>
      </p:sp>
      <p:sp>
        <p:nvSpPr>
          <p:cNvPr name="TextBox 39" id="39"/>
          <p:cNvSpPr txBox="true"/>
          <p:nvPr/>
        </p:nvSpPr>
        <p:spPr>
          <a:xfrm rot="0">
            <a:off x="992991" y="5944714"/>
            <a:ext cx="8824293" cy="356530"/>
          </a:xfrm>
          <a:prstGeom prst="rect">
            <a:avLst/>
          </a:prstGeom>
        </p:spPr>
        <p:txBody>
          <a:bodyPr anchor="t" rtlCol="false" tIns="0" lIns="0" bIns="0" rIns="0">
            <a:spAutoFit/>
          </a:bodyPr>
          <a:lstStyle/>
          <a:p>
            <a:pPr algn="l">
              <a:lnSpc>
                <a:spcPts val="2175"/>
              </a:lnSpc>
            </a:pPr>
            <a:r>
              <a:rPr lang="en-US" sz="1576">
                <a:solidFill>
                  <a:srgbClr val="4C4C4D"/>
                </a:solidFill>
                <a:latin typeface="Consolas"/>
                <a:ea typeface="Consolas"/>
                <a:cs typeface="Consolas"/>
                <a:sym typeface="Consolas"/>
              </a:rPr>
              <a:t>10100000 OR 00000010 = 10100010 (A2H)</a:t>
            </a:r>
          </a:p>
        </p:txBody>
      </p:sp>
      <p:sp>
        <p:nvSpPr>
          <p:cNvPr name="TextBox 40" id="40"/>
          <p:cNvSpPr txBox="true"/>
          <p:nvPr/>
        </p:nvSpPr>
        <p:spPr>
          <a:xfrm rot="0">
            <a:off x="992991" y="6428756"/>
            <a:ext cx="7909198" cy="337795"/>
          </a:xfrm>
          <a:prstGeom prst="rect">
            <a:avLst/>
          </a:prstGeom>
        </p:spPr>
        <p:txBody>
          <a:bodyPr anchor="t" rtlCol="false" tIns="0" lIns="0" bIns="0" rIns="0">
            <a:spAutoFit/>
          </a:bodyPr>
          <a:lstStyle/>
          <a:p>
            <a:pPr algn="l">
              <a:lnSpc>
                <a:spcPts val="2435"/>
              </a:lnSpc>
            </a:pPr>
            <a:r>
              <a:rPr lang="en-US" sz="1951">
                <a:solidFill>
                  <a:srgbClr val="152D47"/>
                </a:solidFill>
                <a:latin typeface="Crimson Pro"/>
                <a:ea typeface="Crimson Pro"/>
                <a:cs typeface="Crimson Pro"/>
                <a:sym typeface="Crimson Pro"/>
              </a:rPr>
              <a:t>SPI Write</a:t>
            </a:r>
          </a:p>
        </p:txBody>
      </p:sp>
      <p:sp>
        <p:nvSpPr>
          <p:cNvPr name="TextBox 41" id="41"/>
          <p:cNvSpPr txBox="true"/>
          <p:nvPr/>
        </p:nvSpPr>
        <p:spPr>
          <a:xfrm rot="0">
            <a:off x="992991" y="6884537"/>
            <a:ext cx="7909198" cy="971988"/>
          </a:xfrm>
          <a:prstGeom prst="rect">
            <a:avLst/>
          </a:prstGeom>
        </p:spPr>
        <p:txBody>
          <a:bodyPr anchor="t" rtlCol="false" tIns="0" lIns="0" bIns="0" rIns="0">
            <a:spAutoFit/>
          </a:bodyPr>
          <a:lstStyle/>
          <a:p>
            <a:pPr algn="l" marL="285482" indent="-142741" lvl="1">
              <a:lnSpc>
                <a:spcPts val="2175"/>
              </a:lnSpc>
              <a:buFont typeface="Arial"/>
              <a:buChar char="•"/>
            </a:pPr>
            <a:r>
              <a:rPr lang="en-US" sz="1576">
                <a:solidFill>
                  <a:srgbClr val="4C4C4D"/>
                </a:solidFill>
                <a:latin typeface="Heebo"/>
                <a:ea typeface="Heebo"/>
                <a:cs typeface="Heebo"/>
                <a:sym typeface="Heebo"/>
              </a:rPr>
              <a:t>Device: MCP2</a:t>
            </a:r>
          </a:p>
          <a:p>
            <a:pPr algn="l" marL="285482" indent="-142741" lvl="1">
              <a:lnSpc>
                <a:spcPts val="2175"/>
              </a:lnSpc>
              <a:buFont typeface="Arial"/>
              <a:buChar char="•"/>
            </a:pPr>
            <a:r>
              <a:rPr lang="en-US" sz="1576">
                <a:solidFill>
                  <a:srgbClr val="4C4C4D"/>
                </a:solidFill>
                <a:latin typeface="Heebo"/>
                <a:ea typeface="Heebo"/>
                <a:cs typeface="Heebo"/>
                <a:sym typeface="Heebo"/>
              </a:rPr>
              <a:t>Register: GPIOB (13H)</a:t>
            </a:r>
          </a:p>
          <a:p>
            <a:pPr algn="l" marL="285482" indent="-142741" lvl="1">
              <a:lnSpc>
                <a:spcPts val="2175"/>
              </a:lnSpc>
              <a:buFont typeface="Arial"/>
              <a:buChar char="•"/>
            </a:pPr>
            <a:r>
              <a:rPr lang="en-US" sz="1576">
                <a:solidFill>
                  <a:srgbClr val="4C4C4D"/>
                </a:solidFill>
                <a:latin typeface="Heebo"/>
                <a:ea typeface="Heebo"/>
                <a:cs typeface="Heebo"/>
                <a:sym typeface="Heebo"/>
              </a:rPr>
              <a:t>Data: A2H</a:t>
            </a:r>
          </a:p>
        </p:txBody>
      </p:sp>
      <p:sp>
        <p:nvSpPr>
          <p:cNvPr name="TextBox 42" id="42"/>
          <p:cNvSpPr txBox="true"/>
          <p:nvPr/>
        </p:nvSpPr>
        <p:spPr>
          <a:xfrm rot="0">
            <a:off x="9409186" y="4047439"/>
            <a:ext cx="7909198" cy="538410"/>
          </a:xfrm>
          <a:prstGeom prst="rect">
            <a:avLst/>
          </a:prstGeom>
        </p:spPr>
        <p:txBody>
          <a:bodyPr anchor="t" rtlCol="false" tIns="0" lIns="0" bIns="0" rIns="0">
            <a:spAutoFit/>
          </a:bodyPr>
          <a:lstStyle/>
          <a:p>
            <a:pPr algn="l">
              <a:lnSpc>
                <a:spcPts val="3934"/>
              </a:lnSpc>
            </a:pPr>
            <a:r>
              <a:rPr lang="en-US" sz="3152">
                <a:solidFill>
                  <a:srgbClr val="152D47"/>
                </a:solidFill>
                <a:latin typeface="Crimson Pro"/>
                <a:ea typeface="Crimson Pro"/>
                <a:cs typeface="Crimson Pro"/>
                <a:sym typeface="Crimson Pro"/>
              </a:rPr>
              <a:t>GPIO &amp; Timing</a:t>
            </a:r>
          </a:p>
        </p:txBody>
      </p:sp>
      <p:sp>
        <p:nvSpPr>
          <p:cNvPr name="TextBox 43" id="43"/>
          <p:cNvSpPr txBox="true"/>
          <p:nvPr/>
        </p:nvSpPr>
        <p:spPr>
          <a:xfrm rot="0">
            <a:off x="9409186" y="4625340"/>
            <a:ext cx="7909198" cy="337795"/>
          </a:xfrm>
          <a:prstGeom prst="rect">
            <a:avLst/>
          </a:prstGeom>
        </p:spPr>
        <p:txBody>
          <a:bodyPr anchor="t" rtlCol="false" tIns="0" lIns="0" bIns="0" rIns="0">
            <a:spAutoFit/>
          </a:bodyPr>
          <a:lstStyle/>
          <a:p>
            <a:pPr algn="l">
              <a:lnSpc>
                <a:spcPts val="2435"/>
              </a:lnSpc>
            </a:pPr>
            <a:r>
              <a:rPr lang="en-US" sz="1951">
                <a:solidFill>
                  <a:srgbClr val="152D47"/>
                </a:solidFill>
                <a:latin typeface="Crimson Pro"/>
                <a:ea typeface="Crimson Pro"/>
                <a:cs typeface="Crimson Pro"/>
                <a:sym typeface="Crimson Pro"/>
              </a:rPr>
              <a:t>GPIO Output</a:t>
            </a:r>
          </a:p>
        </p:txBody>
      </p:sp>
      <p:sp>
        <p:nvSpPr>
          <p:cNvPr name="TextBox 44" id="44"/>
          <p:cNvSpPr txBox="true"/>
          <p:nvPr/>
        </p:nvSpPr>
        <p:spPr>
          <a:xfrm rot="0">
            <a:off x="9409186" y="5081111"/>
            <a:ext cx="7909198" cy="589197"/>
          </a:xfrm>
          <a:prstGeom prst="rect">
            <a:avLst/>
          </a:prstGeom>
        </p:spPr>
        <p:txBody>
          <a:bodyPr anchor="t" rtlCol="false" tIns="0" lIns="0" bIns="0" rIns="0">
            <a:spAutoFit/>
          </a:bodyPr>
          <a:lstStyle/>
          <a:p>
            <a:pPr algn="l">
              <a:lnSpc>
                <a:spcPts val="2175"/>
              </a:lnSpc>
            </a:pPr>
            <a:r>
              <a:rPr lang="en-US" sz="1576">
                <a:solidFill>
                  <a:srgbClr val="4C4C4D"/>
                </a:solidFill>
                <a:latin typeface="Heebo"/>
                <a:ea typeface="Heebo"/>
                <a:cs typeface="Heebo"/>
                <a:sym typeface="Heebo"/>
              </a:rPr>
              <a:t>GPB0=0, GPB1=1✓, GPB2=0, GPB3=0</a:t>
            </a:r>
          </a:p>
          <a:p>
            <a:pPr algn="l">
              <a:lnSpc>
                <a:spcPts val="2175"/>
              </a:lnSpc>
            </a:pPr>
            <a:r>
              <a:rPr lang="en-US" sz="1576">
                <a:solidFill>
                  <a:srgbClr val="4C4C4D"/>
                </a:solidFill>
                <a:latin typeface="Heebo"/>
                <a:ea typeface="Heebo"/>
                <a:cs typeface="Heebo"/>
                <a:sym typeface="Heebo"/>
              </a:rPr>
              <a:t>GPB4=1, GPB5=0, GPB6=1, GPB7=0</a:t>
            </a:r>
          </a:p>
        </p:txBody>
      </p:sp>
      <p:sp>
        <p:nvSpPr>
          <p:cNvPr name="TextBox 45" id="45"/>
          <p:cNvSpPr txBox="true"/>
          <p:nvPr/>
        </p:nvSpPr>
        <p:spPr>
          <a:xfrm rot="0">
            <a:off x="9409186" y="5797829"/>
            <a:ext cx="7909198" cy="337795"/>
          </a:xfrm>
          <a:prstGeom prst="rect">
            <a:avLst/>
          </a:prstGeom>
        </p:spPr>
        <p:txBody>
          <a:bodyPr anchor="t" rtlCol="false" tIns="0" lIns="0" bIns="0" rIns="0">
            <a:spAutoFit/>
          </a:bodyPr>
          <a:lstStyle/>
          <a:p>
            <a:pPr algn="l">
              <a:lnSpc>
                <a:spcPts val="2435"/>
              </a:lnSpc>
            </a:pPr>
            <a:r>
              <a:rPr lang="en-US" sz="1951">
                <a:solidFill>
                  <a:srgbClr val="152D47"/>
                </a:solidFill>
                <a:latin typeface="Crimson Pro"/>
                <a:ea typeface="Crimson Pro"/>
                <a:cs typeface="Crimson Pro"/>
                <a:sym typeface="Crimson Pro"/>
              </a:rPr>
              <a:t>SPI Signals</a:t>
            </a:r>
          </a:p>
        </p:txBody>
      </p:sp>
      <p:sp>
        <p:nvSpPr>
          <p:cNvPr name="TextBox 46" id="46"/>
          <p:cNvSpPr txBox="true"/>
          <p:nvPr/>
        </p:nvSpPr>
        <p:spPr>
          <a:xfrm rot="0">
            <a:off x="9409186" y="6253601"/>
            <a:ext cx="7909198" cy="1303544"/>
          </a:xfrm>
          <a:prstGeom prst="rect">
            <a:avLst/>
          </a:prstGeom>
        </p:spPr>
        <p:txBody>
          <a:bodyPr anchor="t" rtlCol="false" tIns="0" lIns="0" bIns="0" rIns="0">
            <a:spAutoFit/>
          </a:bodyPr>
          <a:lstStyle/>
          <a:p>
            <a:pPr algn="l" marL="285482" indent="-142741" lvl="1">
              <a:lnSpc>
                <a:spcPts val="2175"/>
              </a:lnSpc>
              <a:buFont typeface="Arial"/>
              <a:buChar char="•"/>
            </a:pPr>
            <a:r>
              <a:rPr lang="en-US" sz="1576">
                <a:solidFill>
                  <a:srgbClr val="4C4C4D"/>
                </a:solidFill>
                <a:latin typeface="Heebo"/>
                <a:ea typeface="Heebo"/>
                <a:cs typeface="Heebo"/>
                <a:sym typeface="Heebo"/>
              </a:rPr>
              <a:t>SCK: Serial Clock</a:t>
            </a:r>
          </a:p>
          <a:p>
            <a:pPr algn="l" marL="285482" indent="-142741" lvl="1">
              <a:lnSpc>
                <a:spcPts val="2175"/>
              </a:lnSpc>
              <a:buFont typeface="Arial"/>
              <a:buChar char="•"/>
            </a:pPr>
            <a:r>
              <a:rPr lang="en-US" sz="1576">
                <a:solidFill>
                  <a:srgbClr val="4C4C4D"/>
                </a:solidFill>
                <a:latin typeface="Heebo"/>
                <a:ea typeface="Heebo"/>
                <a:cs typeface="Heebo"/>
                <a:sym typeface="Heebo"/>
              </a:rPr>
              <a:t>MOSI: Command</a:t>
            </a:r>
          </a:p>
          <a:p>
            <a:pPr algn="l" marL="285482" indent="-142741" lvl="1">
              <a:lnSpc>
                <a:spcPts val="2175"/>
              </a:lnSpc>
              <a:buFont typeface="Arial"/>
              <a:buChar char="•"/>
            </a:pPr>
            <a:r>
              <a:rPr lang="en-US" sz="1576">
                <a:solidFill>
                  <a:srgbClr val="4C4C4D"/>
                </a:solidFill>
                <a:latin typeface="Heebo"/>
                <a:ea typeface="Heebo"/>
                <a:cs typeface="Heebo"/>
                <a:sym typeface="Heebo"/>
              </a:rPr>
              <a:t>MISO: Status</a:t>
            </a:r>
          </a:p>
          <a:p>
            <a:pPr algn="l" marL="285482" indent="-142741" lvl="1">
              <a:lnSpc>
                <a:spcPts val="2175"/>
              </a:lnSpc>
              <a:buFont typeface="Arial"/>
              <a:buChar char="•"/>
            </a:pPr>
            <a:r>
              <a:rPr lang="en-US" sz="1576">
                <a:solidFill>
                  <a:srgbClr val="4C4C4D"/>
                </a:solidFill>
                <a:latin typeface="Heebo"/>
                <a:ea typeface="Heebo"/>
                <a:cs typeface="Heebo"/>
                <a:sym typeface="Heebo"/>
              </a:rPr>
              <a:t>CS: Chip Select</a:t>
            </a:r>
          </a:p>
        </p:txBody>
      </p:sp>
      <p:sp>
        <p:nvSpPr>
          <p:cNvPr name="TextBox 47" id="47"/>
          <p:cNvSpPr txBox="true"/>
          <p:nvPr/>
        </p:nvSpPr>
        <p:spPr>
          <a:xfrm rot="0">
            <a:off x="9409186" y="7684656"/>
            <a:ext cx="7909198" cy="337795"/>
          </a:xfrm>
          <a:prstGeom prst="rect">
            <a:avLst/>
          </a:prstGeom>
        </p:spPr>
        <p:txBody>
          <a:bodyPr anchor="t" rtlCol="false" tIns="0" lIns="0" bIns="0" rIns="0">
            <a:spAutoFit/>
          </a:bodyPr>
          <a:lstStyle/>
          <a:p>
            <a:pPr algn="l">
              <a:lnSpc>
                <a:spcPts val="2435"/>
              </a:lnSpc>
            </a:pPr>
            <a:r>
              <a:rPr lang="en-US" sz="1951">
                <a:solidFill>
                  <a:srgbClr val="152D47"/>
                </a:solidFill>
                <a:latin typeface="Crimson Pro"/>
                <a:ea typeface="Crimson Pro"/>
                <a:cs typeface="Crimson Pro"/>
                <a:sym typeface="Crimson Pro"/>
              </a:rPr>
              <a:t>Timing</a:t>
            </a:r>
          </a:p>
        </p:txBody>
      </p:sp>
      <p:sp>
        <p:nvSpPr>
          <p:cNvPr name="TextBox 48" id="48"/>
          <p:cNvSpPr txBox="true"/>
          <p:nvPr/>
        </p:nvSpPr>
        <p:spPr>
          <a:xfrm rot="0">
            <a:off x="9409186" y="8140436"/>
            <a:ext cx="7909198" cy="1303544"/>
          </a:xfrm>
          <a:prstGeom prst="rect">
            <a:avLst/>
          </a:prstGeom>
        </p:spPr>
        <p:txBody>
          <a:bodyPr anchor="t" rtlCol="false" tIns="0" lIns="0" bIns="0" rIns="0">
            <a:spAutoFit/>
          </a:bodyPr>
          <a:lstStyle/>
          <a:p>
            <a:pPr algn="l" marL="285482" indent="-142741" lvl="1">
              <a:lnSpc>
                <a:spcPts val="2175"/>
              </a:lnSpc>
              <a:buFont typeface="Arial"/>
              <a:buChar char="•"/>
            </a:pPr>
            <a:r>
              <a:rPr lang="en-US" sz="1576">
                <a:solidFill>
                  <a:srgbClr val="4C4C4D"/>
                </a:solidFill>
                <a:latin typeface="Heebo"/>
                <a:ea typeface="Heebo"/>
                <a:cs typeface="Heebo"/>
                <a:sym typeface="Heebo"/>
              </a:rPr>
              <a:t>SPI Clock: 1 MHz</a:t>
            </a:r>
          </a:p>
          <a:p>
            <a:pPr algn="l" marL="285482" indent="-142741" lvl="1">
              <a:lnSpc>
                <a:spcPts val="2175"/>
              </a:lnSpc>
              <a:buFont typeface="Arial"/>
              <a:buChar char="•"/>
            </a:pPr>
            <a:r>
              <a:rPr lang="en-US" sz="1576">
                <a:solidFill>
                  <a:srgbClr val="4C4C4D"/>
                </a:solidFill>
                <a:latin typeface="Heebo"/>
                <a:ea typeface="Heebo"/>
                <a:cs typeface="Heebo"/>
                <a:sym typeface="Heebo"/>
              </a:rPr>
              <a:t>Transaction: ~10 μs</a:t>
            </a:r>
          </a:p>
          <a:p>
            <a:pPr algn="l" marL="285482" indent="-142741" lvl="1">
              <a:lnSpc>
                <a:spcPts val="2175"/>
              </a:lnSpc>
              <a:buFont typeface="Arial"/>
              <a:buChar char="•"/>
            </a:pPr>
            <a:r>
              <a:rPr lang="en-US" sz="1576">
                <a:solidFill>
                  <a:srgbClr val="4C4C4D"/>
                </a:solidFill>
                <a:latin typeface="Heebo"/>
                <a:ea typeface="Heebo"/>
                <a:cs typeface="Heebo"/>
                <a:sym typeface="Heebo"/>
              </a:rPr>
              <a:t>GPIO Update: Immediate</a:t>
            </a:r>
          </a:p>
          <a:p>
            <a:pPr algn="l" marL="285482" indent="-142741" lvl="1">
              <a:lnSpc>
                <a:spcPts val="2175"/>
              </a:lnSpc>
              <a:buFont typeface="Arial"/>
              <a:buChar char="•"/>
            </a:pPr>
            <a:r>
              <a:rPr lang="en-US" sz="1576">
                <a:solidFill>
                  <a:srgbClr val="4C4C4D"/>
                </a:solidFill>
                <a:latin typeface="Heebo"/>
                <a:ea typeface="Heebo"/>
                <a:cs typeface="Heebo"/>
                <a:sym typeface="Heebo"/>
              </a:rPr>
              <a:t>MOSFET: &lt;1 μs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0F0F1"/>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6" id="6"/>
          <p:cNvGrpSpPr/>
          <p:nvPr/>
        </p:nvGrpSpPr>
        <p:grpSpPr>
          <a:xfrm rot="0">
            <a:off x="16628307" y="9846183"/>
            <a:ext cx="1609020" cy="384353"/>
            <a:chOff x="0" y="0"/>
            <a:chExt cx="2145360" cy="512470"/>
          </a:xfrm>
        </p:grpSpPr>
        <p:sp>
          <p:nvSpPr>
            <p:cNvPr name="Freeform 7" id="7" descr="preencoded.png">
              <a:hlinkClick r:id="rId3" tooltip="https://gamma.app/?utm_source=made-with-gamma"/>
            </p:cNvPr>
            <p:cNvSpPr/>
            <p:nvPr/>
          </p:nvSpPr>
          <p:spPr>
            <a:xfrm flipH="false" flipV="false" rot="0">
              <a:off x="0" y="0"/>
              <a:ext cx="2145411" cy="512445"/>
            </a:xfrm>
            <a:custGeom>
              <a:avLst/>
              <a:gdLst/>
              <a:ahLst/>
              <a:cxnLst/>
              <a:rect r="r" b="b" t="t" l="l"/>
              <a:pathLst>
                <a:path h="512445" w="2145411">
                  <a:moveTo>
                    <a:pt x="0" y="0"/>
                  </a:moveTo>
                  <a:lnTo>
                    <a:pt x="2145411" y="0"/>
                  </a:lnTo>
                  <a:lnTo>
                    <a:pt x="2145411" y="512445"/>
                  </a:lnTo>
                  <a:lnTo>
                    <a:pt x="0" y="512445"/>
                  </a:lnTo>
                  <a:lnTo>
                    <a:pt x="0" y="0"/>
                  </a:lnTo>
                  <a:close/>
                </a:path>
              </a:pathLst>
            </a:custGeom>
            <a:blipFill>
              <a:blip r:embed="rId4"/>
              <a:stretch>
                <a:fillRect l="0" t="0" r="2" b="-4"/>
              </a:stretch>
            </a:blipFill>
          </p:spPr>
        </p:sp>
      </p:grpSp>
      <p:sp>
        <p:nvSpPr>
          <p:cNvPr name="TextBox 8" id="8"/>
          <p:cNvSpPr txBox="true"/>
          <p:nvPr/>
        </p:nvSpPr>
        <p:spPr>
          <a:xfrm rot="0">
            <a:off x="992991" y="831580"/>
            <a:ext cx="16315868" cy="679761"/>
          </a:xfrm>
          <a:prstGeom prst="rect">
            <a:avLst/>
          </a:prstGeom>
        </p:spPr>
        <p:txBody>
          <a:bodyPr anchor="t" rtlCol="false" tIns="0" lIns="0" bIns="0" rIns="0">
            <a:spAutoFit/>
          </a:bodyPr>
          <a:lstStyle/>
          <a:p>
            <a:pPr algn="l">
              <a:lnSpc>
                <a:spcPts val="5058"/>
              </a:lnSpc>
            </a:pPr>
            <a:r>
              <a:rPr lang="en-US" sz="4053">
                <a:solidFill>
                  <a:srgbClr val="152D47"/>
                </a:solidFill>
                <a:latin typeface="Crimson Pro"/>
                <a:ea typeface="Crimson Pro"/>
                <a:cs typeface="Crimson Pro"/>
                <a:sym typeface="Crimson Pro"/>
              </a:rPr>
              <a:t>Reliability, Verification &amp; Conclusion</a:t>
            </a:r>
          </a:p>
        </p:txBody>
      </p:sp>
      <p:sp>
        <p:nvSpPr>
          <p:cNvPr name="TextBox 9" id="9"/>
          <p:cNvSpPr txBox="true"/>
          <p:nvPr/>
        </p:nvSpPr>
        <p:spPr>
          <a:xfrm rot="0">
            <a:off x="992991" y="1534306"/>
            <a:ext cx="16315868" cy="558956"/>
          </a:xfrm>
          <a:prstGeom prst="rect">
            <a:avLst/>
          </a:prstGeom>
        </p:spPr>
        <p:txBody>
          <a:bodyPr anchor="t" rtlCol="false" tIns="0" lIns="0" bIns="0" rIns="0">
            <a:spAutoFit/>
          </a:bodyPr>
          <a:lstStyle/>
          <a:p>
            <a:pPr algn="l">
              <a:lnSpc>
                <a:spcPts val="4027"/>
              </a:lnSpc>
            </a:pPr>
            <a:r>
              <a:rPr lang="en-US" sz="3227">
                <a:solidFill>
                  <a:srgbClr val="152D47"/>
                </a:solidFill>
                <a:latin typeface="Crimson Pro"/>
                <a:ea typeface="Crimson Pro"/>
                <a:cs typeface="Crimson Pro"/>
                <a:sym typeface="Crimson Pro"/>
              </a:rPr>
              <a:t>Verification Checks</a:t>
            </a:r>
          </a:p>
        </p:txBody>
      </p:sp>
      <p:sp>
        <p:nvSpPr>
          <p:cNvPr name="TextBox 10" id="10"/>
          <p:cNvSpPr txBox="true"/>
          <p:nvPr/>
        </p:nvSpPr>
        <p:spPr>
          <a:xfrm rot="0">
            <a:off x="992991" y="2431837"/>
            <a:ext cx="7903835" cy="1345397"/>
          </a:xfrm>
          <a:prstGeom prst="rect">
            <a:avLst/>
          </a:prstGeom>
        </p:spPr>
        <p:txBody>
          <a:bodyPr anchor="t" rtlCol="false" tIns="0" lIns="0" bIns="0" rIns="0">
            <a:spAutoFit/>
          </a:bodyPr>
          <a:lstStyle/>
          <a:p>
            <a:pPr algn="l" marL="285482" indent="-142741" lvl="1">
              <a:lnSpc>
                <a:spcPts val="2194"/>
              </a:lnSpc>
              <a:buFont typeface="Arial"/>
              <a:buChar char="•"/>
            </a:pPr>
            <a:r>
              <a:rPr lang="en-US" b="true" sz="1576">
                <a:solidFill>
                  <a:srgbClr val="4C4C4D"/>
                </a:solidFill>
                <a:latin typeface="Heebo Bold"/>
                <a:ea typeface="Heebo Bold"/>
                <a:cs typeface="Heebo Bold"/>
                <a:sym typeface="Heebo Bold"/>
              </a:rPr>
              <a:t>CRC Verification</a:t>
            </a:r>
            <a:r>
              <a:rPr lang="en-US" sz="1576">
                <a:solidFill>
                  <a:srgbClr val="4C4C4D"/>
                </a:solidFill>
                <a:latin typeface="Heebo"/>
                <a:ea typeface="Heebo"/>
                <a:cs typeface="Heebo"/>
                <a:sym typeface="Heebo"/>
              </a:rPr>
              <a:t> - Ethernet frame integrity</a:t>
            </a:r>
          </a:p>
          <a:p>
            <a:pPr algn="l" marL="285482" indent="-142741" lvl="1">
              <a:lnSpc>
                <a:spcPts val="2194"/>
              </a:lnSpc>
              <a:buFont typeface="Arial"/>
              <a:buChar char="•"/>
            </a:pPr>
            <a:r>
              <a:rPr lang="en-US" b="true" sz="1576">
                <a:solidFill>
                  <a:srgbClr val="4C4C4D"/>
                </a:solidFill>
                <a:latin typeface="Heebo Bold"/>
                <a:ea typeface="Heebo Bold"/>
                <a:cs typeface="Heebo Bold"/>
                <a:sym typeface="Heebo Bold"/>
              </a:rPr>
              <a:t>Checksum Validation</a:t>
            </a:r>
            <a:r>
              <a:rPr lang="en-US" sz="1576">
                <a:solidFill>
                  <a:srgbClr val="4C4C4D"/>
                </a:solidFill>
                <a:latin typeface="Heebo"/>
                <a:ea typeface="Heebo"/>
                <a:cs typeface="Heebo"/>
                <a:sym typeface="Heebo"/>
              </a:rPr>
              <a:t> - Application frame verification</a:t>
            </a:r>
          </a:p>
          <a:p>
            <a:pPr algn="l" marL="285482" indent="-142741" lvl="1">
              <a:lnSpc>
                <a:spcPts val="2194"/>
              </a:lnSpc>
              <a:buFont typeface="Arial"/>
              <a:buChar char="•"/>
            </a:pPr>
            <a:r>
              <a:rPr lang="en-US" b="true" sz="1576">
                <a:solidFill>
                  <a:srgbClr val="4C4C4D"/>
                </a:solidFill>
                <a:latin typeface="Heebo Bold"/>
                <a:ea typeface="Heebo Bold"/>
                <a:cs typeface="Heebo Bold"/>
                <a:sym typeface="Heebo Bold"/>
              </a:rPr>
              <a:t>SPI Verification</a:t>
            </a:r>
            <a:r>
              <a:rPr lang="en-US" sz="1576">
                <a:solidFill>
                  <a:srgbClr val="4C4C4D"/>
                </a:solidFill>
                <a:latin typeface="Heebo"/>
                <a:ea typeface="Heebo"/>
                <a:cs typeface="Heebo"/>
                <a:sym typeface="Heebo"/>
              </a:rPr>
              <a:t> - Serial communication validation</a:t>
            </a:r>
          </a:p>
          <a:p>
            <a:pPr algn="l" marL="285482" indent="-142741" lvl="1">
              <a:lnSpc>
                <a:spcPts val="2194"/>
              </a:lnSpc>
              <a:buFont typeface="Arial"/>
              <a:buChar char="•"/>
            </a:pPr>
            <a:r>
              <a:rPr lang="en-US" b="true" sz="1576">
                <a:solidFill>
                  <a:srgbClr val="4C4C4D"/>
                </a:solidFill>
                <a:latin typeface="Heebo Bold"/>
                <a:ea typeface="Heebo Bold"/>
                <a:cs typeface="Heebo Bold"/>
                <a:sym typeface="Heebo Bold"/>
              </a:rPr>
              <a:t>GPIO Read Back</a:t>
            </a:r>
            <a:r>
              <a:rPr lang="en-US" sz="1576">
                <a:solidFill>
                  <a:srgbClr val="4C4C4D"/>
                </a:solidFill>
                <a:latin typeface="Heebo"/>
                <a:ea typeface="Heebo"/>
                <a:cs typeface="Heebo"/>
                <a:sym typeface="Heebo"/>
              </a:rPr>
              <a:t> - Output status confirmation</a:t>
            </a:r>
          </a:p>
        </p:txBody>
      </p:sp>
      <p:sp>
        <p:nvSpPr>
          <p:cNvPr name="TextBox 11" id="11"/>
          <p:cNvSpPr txBox="true"/>
          <p:nvPr/>
        </p:nvSpPr>
        <p:spPr>
          <a:xfrm rot="0">
            <a:off x="9414548" y="2431837"/>
            <a:ext cx="7903835" cy="1345397"/>
          </a:xfrm>
          <a:prstGeom prst="rect">
            <a:avLst/>
          </a:prstGeom>
        </p:spPr>
        <p:txBody>
          <a:bodyPr anchor="t" rtlCol="false" tIns="0" lIns="0" bIns="0" rIns="0">
            <a:spAutoFit/>
          </a:bodyPr>
          <a:lstStyle/>
          <a:p>
            <a:pPr algn="l" marL="285482" indent="-142741" lvl="1">
              <a:lnSpc>
                <a:spcPts val="2194"/>
              </a:lnSpc>
              <a:buFont typeface="Arial"/>
              <a:buChar char="•"/>
            </a:pPr>
            <a:r>
              <a:rPr lang="en-US" b="true" sz="1576">
                <a:solidFill>
                  <a:srgbClr val="4C4C4D"/>
                </a:solidFill>
                <a:latin typeface="Heebo Bold"/>
                <a:ea typeface="Heebo Bold"/>
                <a:cs typeface="Heebo Bold"/>
                <a:sym typeface="Heebo Bold"/>
              </a:rPr>
              <a:t>ACK Generation</a:t>
            </a:r>
            <a:r>
              <a:rPr lang="en-US" sz="1576">
                <a:solidFill>
                  <a:srgbClr val="4C4C4D"/>
                </a:solidFill>
                <a:latin typeface="Heebo"/>
                <a:ea typeface="Heebo"/>
                <a:cs typeface="Heebo"/>
                <a:sym typeface="Heebo"/>
              </a:rPr>
              <a:t> - Command completion confirmation</a:t>
            </a:r>
          </a:p>
          <a:p>
            <a:pPr algn="l" marL="285482" indent="-142741" lvl="1">
              <a:lnSpc>
                <a:spcPts val="2194"/>
              </a:lnSpc>
              <a:buFont typeface="Arial"/>
              <a:buChar char="•"/>
            </a:pPr>
            <a:r>
              <a:rPr lang="en-US" b="true" sz="1576">
                <a:solidFill>
                  <a:srgbClr val="4C4C4D"/>
                </a:solidFill>
                <a:latin typeface="Heebo Bold"/>
                <a:ea typeface="Heebo Bold"/>
                <a:cs typeface="Heebo Bold"/>
                <a:sym typeface="Heebo Bold"/>
              </a:rPr>
              <a:t>Error Handling</a:t>
            </a:r>
            <a:r>
              <a:rPr lang="en-US" sz="1576">
                <a:solidFill>
                  <a:srgbClr val="4C4C4D"/>
                </a:solidFill>
                <a:latin typeface="Heebo"/>
                <a:ea typeface="Heebo"/>
                <a:cs typeface="Heebo"/>
                <a:sym typeface="Heebo"/>
              </a:rPr>
              <a:t> - Automatic retry mechanism</a:t>
            </a:r>
          </a:p>
          <a:p>
            <a:pPr algn="l" marL="285482" indent="-142741" lvl="1">
              <a:lnSpc>
                <a:spcPts val="2194"/>
              </a:lnSpc>
              <a:buFont typeface="Arial"/>
              <a:buChar char="•"/>
            </a:pPr>
            <a:r>
              <a:rPr lang="en-US" b="true" sz="1576">
                <a:solidFill>
                  <a:srgbClr val="4C4C4D"/>
                </a:solidFill>
                <a:latin typeface="Heebo Bold"/>
                <a:ea typeface="Heebo Bold"/>
                <a:cs typeface="Heebo Bold"/>
                <a:sym typeface="Heebo Bold"/>
              </a:rPr>
              <a:t>Status Logging</a:t>
            </a:r>
            <a:r>
              <a:rPr lang="en-US" sz="1576">
                <a:solidFill>
                  <a:srgbClr val="4C4C4D"/>
                </a:solidFill>
                <a:latin typeface="Heebo"/>
                <a:ea typeface="Heebo"/>
                <a:cs typeface="Heebo"/>
                <a:sym typeface="Heebo"/>
              </a:rPr>
              <a:t> - Transaction recording</a:t>
            </a:r>
          </a:p>
          <a:p>
            <a:pPr algn="l" marL="285482" indent="-142741" lvl="1">
              <a:lnSpc>
                <a:spcPts val="2194"/>
              </a:lnSpc>
              <a:buFont typeface="Arial"/>
              <a:buChar char="•"/>
            </a:pPr>
            <a:r>
              <a:rPr lang="en-US" b="true" sz="1576">
                <a:solidFill>
                  <a:srgbClr val="4C4C4D"/>
                </a:solidFill>
                <a:latin typeface="Heebo Bold"/>
                <a:ea typeface="Heebo Bold"/>
                <a:cs typeface="Heebo Bold"/>
                <a:sym typeface="Heebo Bold"/>
              </a:rPr>
              <a:t>Fail-Safe Design</a:t>
            </a:r>
            <a:r>
              <a:rPr lang="en-US" sz="1576">
                <a:solidFill>
                  <a:srgbClr val="4C4C4D"/>
                </a:solidFill>
                <a:latin typeface="Heebo"/>
                <a:ea typeface="Heebo"/>
                <a:cs typeface="Heebo"/>
                <a:sym typeface="Heebo"/>
              </a:rPr>
              <a:t> - Safe operation guarantee</a:t>
            </a:r>
          </a:p>
        </p:txBody>
      </p:sp>
      <p:sp>
        <p:nvSpPr>
          <p:cNvPr name="TextBox 12" id="12"/>
          <p:cNvSpPr txBox="true"/>
          <p:nvPr/>
        </p:nvSpPr>
        <p:spPr>
          <a:xfrm rot="0">
            <a:off x="992991" y="4022131"/>
            <a:ext cx="16315868" cy="558956"/>
          </a:xfrm>
          <a:prstGeom prst="rect">
            <a:avLst/>
          </a:prstGeom>
        </p:spPr>
        <p:txBody>
          <a:bodyPr anchor="t" rtlCol="false" tIns="0" lIns="0" bIns="0" rIns="0">
            <a:spAutoFit/>
          </a:bodyPr>
          <a:lstStyle/>
          <a:p>
            <a:pPr algn="l">
              <a:lnSpc>
                <a:spcPts val="4027"/>
              </a:lnSpc>
            </a:pPr>
            <a:r>
              <a:rPr lang="en-US" sz="3227">
                <a:solidFill>
                  <a:srgbClr val="152D47"/>
                </a:solidFill>
                <a:latin typeface="Crimson Pro"/>
                <a:ea typeface="Crimson Pro"/>
                <a:cs typeface="Crimson Pro"/>
                <a:sym typeface="Crimson Pro"/>
              </a:rPr>
              <a:t>System Advantages</a:t>
            </a:r>
          </a:p>
        </p:txBody>
      </p:sp>
      <p:sp>
        <p:nvSpPr>
          <p:cNvPr name="TextBox 13" id="13"/>
          <p:cNvSpPr txBox="true"/>
          <p:nvPr/>
        </p:nvSpPr>
        <p:spPr>
          <a:xfrm rot="0">
            <a:off x="992991" y="4919663"/>
            <a:ext cx="7903835" cy="1345397"/>
          </a:xfrm>
          <a:prstGeom prst="rect">
            <a:avLst/>
          </a:prstGeom>
        </p:spPr>
        <p:txBody>
          <a:bodyPr anchor="t" rtlCol="false" tIns="0" lIns="0" bIns="0" rIns="0">
            <a:spAutoFit/>
          </a:bodyPr>
          <a:lstStyle/>
          <a:p>
            <a:pPr algn="l" marL="285482" indent="-142741" lvl="1">
              <a:lnSpc>
                <a:spcPts val="2194"/>
              </a:lnSpc>
              <a:buFont typeface="Arial"/>
              <a:buChar char="•"/>
            </a:pPr>
            <a:r>
              <a:rPr lang="en-US" sz="1576">
                <a:solidFill>
                  <a:srgbClr val="000000"/>
                </a:solidFill>
                <a:latin typeface="Heebo"/>
                <a:ea typeface="Heebo"/>
                <a:cs typeface="Heebo"/>
                <a:sym typeface="Heebo"/>
              </a:rPr>
              <a:t>⚡</a:t>
            </a:r>
            <a:r>
              <a:rPr lang="en-US" sz="1576">
                <a:solidFill>
                  <a:srgbClr val="4C4C4D"/>
                </a:solidFill>
                <a:latin typeface="Heebo"/>
                <a:ea typeface="Heebo"/>
                <a:cs typeface="Heebo"/>
                <a:sym typeface="Heebo"/>
              </a:rPr>
              <a:t> </a:t>
            </a:r>
            <a:r>
              <a:rPr lang="en-US" b="true" sz="1576">
                <a:solidFill>
                  <a:srgbClr val="4C4C4D"/>
                </a:solidFill>
                <a:latin typeface="Heebo Bold"/>
                <a:ea typeface="Heebo Bold"/>
                <a:cs typeface="Heebo Bold"/>
                <a:sym typeface="Heebo Bold"/>
              </a:rPr>
              <a:t>Fast Switching</a:t>
            </a:r>
            <a:r>
              <a:rPr lang="en-US" sz="1576">
                <a:solidFill>
                  <a:srgbClr val="4C4C4D"/>
                </a:solidFill>
                <a:latin typeface="Heebo"/>
                <a:ea typeface="Heebo"/>
                <a:cs typeface="Heebo"/>
                <a:sym typeface="Heebo"/>
              </a:rPr>
              <a:t> - Microsecond response</a:t>
            </a:r>
          </a:p>
          <a:p>
            <a:pPr algn="l" marL="285482" indent="-142741" lvl="1">
              <a:lnSpc>
                <a:spcPts val="2194"/>
              </a:lnSpc>
              <a:buFont typeface="Arial"/>
              <a:buChar char="•"/>
            </a:pPr>
            <a:r>
              <a:rPr lang="en-US" sz="1576">
                <a:solidFill>
                  <a:srgbClr val="000000"/>
                </a:solidFill>
                <a:latin typeface="Heebo"/>
                <a:ea typeface="Heebo"/>
                <a:cs typeface="Heebo"/>
                <a:sym typeface="Heebo"/>
              </a:rPr>
              <a:t>🛡</a:t>
            </a:r>
            <a:r>
              <a:rPr lang="en-US" sz="1576">
                <a:solidFill>
                  <a:srgbClr val="4C4C4D"/>
                </a:solidFill>
                <a:latin typeface="Heebo"/>
                <a:ea typeface="Heebo"/>
                <a:cs typeface="Heebo"/>
                <a:sym typeface="Heebo"/>
              </a:rPr>
              <a:t> </a:t>
            </a:r>
            <a:r>
              <a:rPr lang="en-US" b="true" sz="1576">
                <a:solidFill>
                  <a:srgbClr val="4C4C4D"/>
                </a:solidFill>
                <a:latin typeface="Heebo Bold"/>
                <a:ea typeface="Heebo Bold"/>
                <a:cs typeface="Heebo Bold"/>
                <a:sym typeface="Heebo Bold"/>
              </a:rPr>
              <a:t>Reliable Operation</a:t>
            </a:r>
            <a:r>
              <a:rPr lang="en-US" sz="1576">
                <a:solidFill>
                  <a:srgbClr val="4C4C4D"/>
                </a:solidFill>
                <a:latin typeface="Heebo"/>
                <a:ea typeface="Heebo"/>
                <a:cs typeface="Heebo"/>
                <a:sym typeface="Heebo"/>
              </a:rPr>
              <a:t> - Multi-layer verification</a:t>
            </a:r>
          </a:p>
          <a:p>
            <a:pPr algn="l" marL="285482" indent="-142741" lvl="1">
              <a:lnSpc>
                <a:spcPts val="2194"/>
              </a:lnSpc>
              <a:buFont typeface="Arial"/>
              <a:buChar char="•"/>
            </a:pPr>
            <a:r>
              <a:rPr lang="en-US" sz="1576">
                <a:solidFill>
                  <a:srgbClr val="000000"/>
                </a:solidFill>
                <a:latin typeface="Heebo"/>
                <a:ea typeface="Heebo"/>
                <a:cs typeface="Heebo"/>
                <a:sym typeface="Heebo"/>
              </a:rPr>
              <a:t>📡</a:t>
            </a:r>
            <a:r>
              <a:rPr lang="en-US" sz="1576">
                <a:solidFill>
                  <a:srgbClr val="4C4C4D"/>
                </a:solidFill>
                <a:latin typeface="Heebo"/>
                <a:ea typeface="Heebo"/>
                <a:cs typeface="Heebo"/>
                <a:sym typeface="Heebo"/>
              </a:rPr>
              <a:t> </a:t>
            </a:r>
            <a:r>
              <a:rPr lang="en-US" b="true" sz="1576">
                <a:solidFill>
                  <a:srgbClr val="4C4C4D"/>
                </a:solidFill>
                <a:latin typeface="Heebo Bold"/>
                <a:ea typeface="Heebo Bold"/>
                <a:cs typeface="Heebo Bold"/>
                <a:sym typeface="Heebo Bold"/>
              </a:rPr>
              <a:t>Ethernet Communication</a:t>
            </a:r>
            <a:r>
              <a:rPr lang="en-US" sz="1576">
                <a:solidFill>
                  <a:srgbClr val="4C4C4D"/>
                </a:solidFill>
                <a:latin typeface="Heebo"/>
                <a:ea typeface="Heebo"/>
                <a:cs typeface="Heebo"/>
                <a:sym typeface="Heebo"/>
              </a:rPr>
              <a:t> - Remote control</a:t>
            </a:r>
          </a:p>
          <a:p>
            <a:pPr algn="l" marL="285482" indent="-142741" lvl="1">
              <a:lnSpc>
                <a:spcPts val="2194"/>
              </a:lnSpc>
              <a:buFont typeface="Arial"/>
              <a:buChar char="•"/>
            </a:pPr>
            <a:r>
              <a:rPr lang="en-US" sz="1576">
                <a:solidFill>
                  <a:srgbClr val="000000"/>
                </a:solidFill>
                <a:latin typeface="Heebo"/>
                <a:ea typeface="Heebo"/>
                <a:cs typeface="Heebo"/>
                <a:sym typeface="Heebo"/>
              </a:rPr>
              <a:t>📈</a:t>
            </a:r>
            <a:r>
              <a:rPr lang="en-US" sz="1576">
                <a:solidFill>
                  <a:srgbClr val="4C4C4D"/>
                </a:solidFill>
                <a:latin typeface="Heebo"/>
                <a:ea typeface="Heebo"/>
                <a:cs typeface="Heebo"/>
                <a:sym typeface="Heebo"/>
              </a:rPr>
              <a:t> </a:t>
            </a:r>
            <a:r>
              <a:rPr lang="en-US" b="true" sz="1576">
                <a:solidFill>
                  <a:srgbClr val="4C4C4D"/>
                </a:solidFill>
                <a:latin typeface="Heebo Bold"/>
                <a:ea typeface="Heebo Bold"/>
                <a:cs typeface="Heebo Bold"/>
                <a:sym typeface="Heebo Bold"/>
              </a:rPr>
              <a:t>Scalable Architecture</a:t>
            </a:r>
            <a:r>
              <a:rPr lang="en-US" sz="1576">
                <a:solidFill>
                  <a:srgbClr val="4C4C4D"/>
                </a:solidFill>
                <a:latin typeface="Heebo"/>
                <a:ea typeface="Heebo"/>
                <a:cs typeface="Heebo"/>
                <a:sym typeface="Heebo"/>
              </a:rPr>
              <a:t> - Easy expansion</a:t>
            </a:r>
          </a:p>
        </p:txBody>
      </p:sp>
      <p:sp>
        <p:nvSpPr>
          <p:cNvPr name="TextBox 14" id="14"/>
          <p:cNvSpPr txBox="true"/>
          <p:nvPr/>
        </p:nvSpPr>
        <p:spPr>
          <a:xfrm rot="0">
            <a:off x="9414548" y="4919663"/>
            <a:ext cx="7903835" cy="1345397"/>
          </a:xfrm>
          <a:prstGeom prst="rect">
            <a:avLst/>
          </a:prstGeom>
        </p:spPr>
        <p:txBody>
          <a:bodyPr anchor="t" rtlCol="false" tIns="0" lIns="0" bIns="0" rIns="0">
            <a:spAutoFit/>
          </a:bodyPr>
          <a:lstStyle/>
          <a:p>
            <a:pPr algn="l" marL="285482" indent="-142741" lvl="1">
              <a:lnSpc>
                <a:spcPts val="2194"/>
              </a:lnSpc>
              <a:buFont typeface="Arial"/>
              <a:buChar char="•"/>
            </a:pPr>
            <a:r>
              <a:rPr lang="en-US" sz="1576">
                <a:solidFill>
                  <a:srgbClr val="000000"/>
                </a:solidFill>
                <a:latin typeface="Heebo"/>
                <a:ea typeface="Heebo"/>
                <a:cs typeface="Heebo"/>
                <a:sym typeface="Heebo"/>
              </a:rPr>
              <a:t>🔄</a:t>
            </a:r>
            <a:r>
              <a:rPr lang="en-US" sz="1576">
                <a:solidFill>
                  <a:srgbClr val="4C4C4D"/>
                </a:solidFill>
                <a:latin typeface="Heebo"/>
                <a:ea typeface="Heebo"/>
                <a:cs typeface="Heebo"/>
                <a:sym typeface="Heebo"/>
              </a:rPr>
              <a:t> </a:t>
            </a:r>
            <a:r>
              <a:rPr lang="en-US" b="true" sz="1576">
                <a:solidFill>
                  <a:srgbClr val="4C4C4D"/>
                </a:solidFill>
                <a:latin typeface="Heebo Bold"/>
                <a:ea typeface="Heebo Bold"/>
                <a:cs typeface="Heebo Bold"/>
                <a:sym typeface="Heebo Bold"/>
              </a:rPr>
              <a:t>Modular System</a:t>
            </a:r>
            <a:r>
              <a:rPr lang="en-US" sz="1576">
                <a:solidFill>
                  <a:srgbClr val="4C4C4D"/>
                </a:solidFill>
                <a:latin typeface="Heebo"/>
                <a:ea typeface="Heebo"/>
                <a:cs typeface="Heebo"/>
                <a:sym typeface="Heebo"/>
              </a:rPr>
              <a:t> - Independent components</a:t>
            </a:r>
          </a:p>
          <a:p>
            <a:pPr algn="l" marL="285482" indent="-142741" lvl="1">
              <a:lnSpc>
                <a:spcPts val="2194"/>
              </a:lnSpc>
              <a:buFont typeface="Arial"/>
              <a:buChar char="•"/>
            </a:pPr>
            <a:r>
              <a:rPr lang="en-US" sz="1576">
                <a:solidFill>
                  <a:srgbClr val="000000"/>
                </a:solidFill>
                <a:latin typeface="Heebo"/>
                <a:ea typeface="Heebo"/>
                <a:cs typeface="Heebo"/>
                <a:sym typeface="Heebo"/>
              </a:rPr>
              <a:t>✔</a:t>
            </a:r>
            <a:r>
              <a:rPr lang="en-US" sz="1576">
                <a:solidFill>
                  <a:srgbClr val="4C4C4D"/>
                </a:solidFill>
                <a:latin typeface="Heebo"/>
                <a:ea typeface="Heebo"/>
                <a:cs typeface="Heebo"/>
                <a:sym typeface="Heebo"/>
              </a:rPr>
              <a:t> </a:t>
            </a:r>
            <a:r>
              <a:rPr lang="en-US" b="true" sz="1576">
                <a:solidFill>
                  <a:srgbClr val="4C4C4D"/>
                </a:solidFill>
                <a:latin typeface="Heebo Bold"/>
                <a:ea typeface="Heebo Bold"/>
                <a:cs typeface="Heebo Bold"/>
                <a:sym typeface="Heebo Bold"/>
              </a:rPr>
              <a:t>Industrial Grade</a:t>
            </a:r>
            <a:r>
              <a:rPr lang="en-US" sz="1576">
                <a:solidFill>
                  <a:srgbClr val="4C4C4D"/>
                </a:solidFill>
                <a:latin typeface="Heebo"/>
                <a:ea typeface="Heebo"/>
                <a:cs typeface="Heebo"/>
                <a:sym typeface="Heebo"/>
              </a:rPr>
              <a:t> - Mission-critical reliability</a:t>
            </a:r>
          </a:p>
          <a:p>
            <a:pPr algn="l" marL="285482" indent="-142741" lvl="1">
              <a:lnSpc>
                <a:spcPts val="2194"/>
              </a:lnSpc>
              <a:buFont typeface="Arial"/>
              <a:buChar char="•"/>
            </a:pPr>
            <a:r>
              <a:rPr lang="en-US" sz="1576">
                <a:solidFill>
                  <a:srgbClr val="000000"/>
                </a:solidFill>
                <a:latin typeface="Heebo"/>
                <a:ea typeface="Heebo"/>
                <a:cs typeface="Heebo"/>
                <a:sym typeface="Heebo"/>
              </a:rPr>
              <a:t>🔒</a:t>
            </a:r>
            <a:r>
              <a:rPr lang="en-US" sz="1576">
                <a:solidFill>
                  <a:srgbClr val="4C4C4D"/>
                </a:solidFill>
                <a:latin typeface="Heebo"/>
                <a:ea typeface="Heebo"/>
                <a:cs typeface="Heebo"/>
                <a:sym typeface="Heebo"/>
              </a:rPr>
              <a:t> </a:t>
            </a:r>
            <a:r>
              <a:rPr lang="en-US" b="true" sz="1576">
                <a:solidFill>
                  <a:srgbClr val="4C4C4D"/>
                </a:solidFill>
                <a:latin typeface="Heebo Bold"/>
                <a:ea typeface="Heebo Bold"/>
                <a:cs typeface="Heebo Bold"/>
                <a:sym typeface="Heebo Bold"/>
              </a:rPr>
              <a:t>Galvanic Isolation</a:t>
            </a:r>
            <a:r>
              <a:rPr lang="en-US" sz="1576">
                <a:solidFill>
                  <a:srgbClr val="4C4C4D"/>
                </a:solidFill>
                <a:latin typeface="Heebo"/>
                <a:ea typeface="Heebo"/>
                <a:cs typeface="Heebo"/>
                <a:sym typeface="Heebo"/>
              </a:rPr>
              <a:t> - Safety protection</a:t>
            </a:r>
          </a:p>
          <a:p>
            <a:pPr algn="l" marL="285482" indent="-142741" lvl="1">
              <a:lnSpc>
                <a:spcPts val="2194"/>
              </a:lnSpc>
              <a:buFont typeface="Arial"/>
              <a:buChar char="•"/>
            </a:pPr>
            <a:r>
              <a:rPr lang="en-US" sz="1576">
                <a:solidFill>
                  <a:srgbClr val="000000"/>
                </a:solidFill>
                <a:latin typeface="Heebo"/>
                <a:ea typeface="Heebo"/>
                <a:cs typeface="Heebo"/>
                <a:sym typeface="Heebo"/>
              </a:rPr>
              <a:t>📊</a:t>
            </a:r>
            <a:r>
              <a:rPr lang="en-US" sz="1576">
                <a:solidFill>
                  <a:srgbClr val="4C4C4D"/>
                </a:solidFill>
                <a:latin typeface="Heebo"/>
                <a:ea typeface="Heebo"/>
                <a:cs typeface="Heebo"/>
                <a:sym typeface="Heebo"/>
              </a:rPr>
              <a:t> </a:t>
            </a:r>
            <a:r>
              <a:rPr lang="en-US" b="true" sz="1576">
                <a:solidFill>
                  <a:srgbClr val="4C4C4D"/>
                </a:solidFill>
                <a:latin typeface="Heebo Bold"/>
                <a:ea typeface="Heebo Bold"/>
                <a:cs typeface="Heebo Bold"/>
                <a:sym typeface="Heebo Bold"/>
              </a:rPr>
              <a:t>Real-time Monitoring</a:t>
            </a:r>
            <a:r>
              <a:rPr lang="en-US" sz="1576">
                <a:solidFill>
                  <a:srgbClr val="4C4C4D"/>
                </a:solidFill>
                <a:latin typeface="Heebo"/>
                <a:ea typeface="Heebo"/>
                <a:cs typeface="Heebo"/>
                <a:sym typeface="Heebo"/>
              </a:rPr>
              <a:t> - Live status feedback</a:t>
            </a:r>
          </a:p>
        </p:txBody>
      </p:sp>
      <p:sp>
        <p:nvSpPr>
          <p:cNvPr name="TextBox 15" id="15"/>
          <p:cNvSpPr txBox="true"/>
          <p:nvPr/>
        </p:nvSpPr>
        <p:spPr>
          <a:xfrm rot="0">
            <a:off x="992991" y="6509947"/>
            <a:ext cx="16315868" cy="558956"/>
          </a:xfrm>
          <a:prstGeom prst="rect">
            <a:avLst/>
          </a:prstGeom>
        </p:spPr>
        <p:txBody>
          <a:bodyPr anchor="t" rtlCol="false" tIns="0" lIns="0" bIns="0" rIns="0">
            <a:spAutoFit/>
          </a:bodyPr>
          <a:lstStyle/>
          <a:p>
            <a:pPr algn="l">
              <a:lnSpc>
                <a:spcPts val="4027"/>
              </a:lnSpc>
            </a:pPr>
            <a:r>
              <a:rPr lang="en-US" sz="3227">
                <a:solidFill>
                  <a:srgbClr val="152D47"/>
                </a:solidFill>
                <a:latin typeface="Crimson Pro"/>
                <a:ea typeface="Crimson Pro"/>
                <a:cs typeface="Crimson Pro"/>
                <a:sym typeface="Crimson Pro"/>
              </a:rPr>
              <a:t>Overall Workflow</a:t>
            </a:r>
          </a:p>
        </p:txBody>
      </p:sp>
      <p:sp>
        <p:nvSpPr>
          <p:cNvPr name="TextBox 16" id="16"/>
          <p:cNvSpPr txBox="true"/>
          <p:nvPr/>
        </p:nvSpPr>
        <p:spPr>
          <a:xfrm rot="0">
            <a:off x="992991" y="7269851"/>
            <a:ext cx="17230954" cy="317678"/>
          </a:xfrm>
          <a:prstGeom prst="rect">
            <a:avLst/>
          </a:prstGeom>
        </p:spPr>
        <p:txBody>
          <a:bodyPr anchor="t" rtlCol="false" tIns="0" lIns="0" bIns="0" rIns="0">
            <a:spAutoFit/>
          </a:bodyPr>
          <a:lstStyle/>
          <a:p>
            <a:pPr algn="l">
              <a:lnSpc>
                <a:spcPts val="2194"/>
              </a:lnSpc>
            </a:pPr>
            <a:r>
              <a:rPr lang="en-US" sz="1576">
                <a:solidFill>
                  <a:srgbClr val="4C4C4D"/>
                </a:solidFill>
                <a:latin typeface="Heebo"/>
                <a:ea typeface="Heebo"/>
                <a:cs typeface="Heebo"/>
                <a:sym typeface="Heebo"/>
              </a:rPr>
              <a:t>GUI Command → Ethernet → MCU → SPI → MCP23S17 → MOSFET → Load → Status → GUI Update</a:t>
            </a:r>
          </a:p>
        </p:txBody>
      </p:sp>
      <p:sp>
        <p:nvSpPr>
          <p:cNvPr name="TextBox 17" id="17"/>
          <p:cNvSpPr txBox="true"/>
          <p:nvPr/>
        </p:nvSpPr>
        <p:spPr>
          <a:xfrm rot="0">
            <a:off x="992991" y="7778953"/>
            <a:ext cx="16315868" cy="558956"/>
          </a:xfrm>
          <a:prstGeom prst="rect">
            <a:avLst/>
          </a:prstGeom>
        </p:spPr>
        <p:txBody>
          <a:bodyPr anchor="t" rtlCol="false" tIns="0" lIns="0" bIns="0" rIns="0">
            <a:spAutoFit/>
          </a:bodyPr>
          <a:lstStyle/>
          <a:p>
            <a:pPr algn="l">
              <a:lnSpc>
                <a:spcPts val="4027"/>
              </a:lnSpc>
            </a:pPr>
            <a:r>
              <a:rPr lang="en-US" sz="3227">
                <a:solidFill>
                  <a:srgbClr val="152D47"/>
                </a:solidFill>
                <a:latin typeface="Crimson Pro"/>
                <a:ea typeface="Crimson Pro"/>
                <a:cs typeface="Crimson Pro"/>
                <a:sym typeface="Crimson Pro"/>
              </a:rPr>
              <a:t>Conclusion</a:t>
            </a:r>
          </a:p>
        </p:txBody>
      </p:sp>
      <p:sp>
        <p:nvSpPr>
          <p:cNvPr name="TextBox 18" id="18"/>
          <p:cNvSpPr txBox="true"/>
          <p:nvPr/>
        </p:nvSpPr>
        <p:spPr>
          <a:xfrm rot="0">
            <a:off x="992991" y="8538858"/>
            <a:ext cx="16315868" cy="895883"/>
          </a:xfrm>
          <a:prstGeom prst="rect">
            <a:avLst/>
          </a:prstGeom>
        </p:spPr>
        <p:txBody>
          <a:bodyPr anchor="t" rtlCol="false" tIns="0" lIns="0" bIns="0" rIns="0">
            <a:spAutoFit/>
          </a:bodyPr>
          <a:lstStyle/>
          <a:p>
            <a:pPr algn="l">
              <a:lnSpc>
                <a:spcPts val="2194"/>
              </a:lnSpc>
            </a:pPr>
            <a:r>
              <a:rPr lang="en-US" sz="1576">
                <a:solidFill>
                  <a:srgbClr val="4C4C4D"/>
                </a:solidFill>
                <a:latin typeface="Heebo"/>
                <a:ea typeface="Heebo"/>
                <a:cs typeface="Heebo"/>
                <a:sym typeface="Heebo"/>
              </a:rPr>
              <a:t>The Electronic Switch Matrix system provides a robust, scalable, and reliable solution for remote control of crew module loads. With multiple verification layers, real-time communication, and industrial-grade components, the system ensures safe and efficient operation in mission-critical applications. The modular architecture allows for easy expansion and maintenance.</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0F0F1"/>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6" id="6"/>
          <p:cNvGrpSpPr/>
          <p:nvPr/>
        </p:nvGrpSpPr>
        <p:grpSpPr>
          <a:xfrm rot="0">
            <a:off x="16628307" y="9846183"/>
            <a:ext cx="1609020" cy="384353"/>
            <a:chOff x="0" y="0"/>
            <a:chExt cx="2145360" cy="512470"/>
          </a:xfrm>
        </p:grpSpPr>
        <p:sp>
          <p:nvSpPr>
            <p:cNvPr name="Freeform 7" id="7" descr="preencoded.png">
              <a:hlinkClick r:id="rId3" tooltip="https://gamma.app/?utm_source=made-with-gamma"/>
            </p:cNvPr>
            <p:cNvSpPr/>
            <p:nvPr/>
          </p:nvSpPr>
          <p:spPr>
            <a:xfrm flipH="false" flipV="false" rot="0">
              <a:off x="0" y="0"/>
              <a:ext cx="2145411" cy="512445"/>
            </a:xfrm>
            <a:custGeom>
              <a:avLst/>
              <a:gdLst/>
              <a:ahLst/>
              <a:cxnLst/>
              <a:rect r="r" b="b" t="t" l="l"/>
              <a:pathLst>
                <a:path h="512445" w="2145411">
                  <a:moveTo>
                    <a:pt x="0" y="0"/>
                  </a:moveTo>
                  <a:lnTo>
                    <a:pt x="2145411" y="0"/>
                  </a:lnTo>
                  <a:lnTo>
                    <a:pt x="2145411" y="512445"/>
                  </a:lnTo>
                  <a:lnTo>
                    <a:pt x="0" y="512445"/>
                  </a:lnTo>
                  <a:lnTo>
                    <a:pt x="0" y="0"/>
                  </a:lnTo>
                  <a:close/>
                </a:path>
              </a:pathLst>
            </a:custGeom>
            <a:blipFill>
              <a:blip r:embed="rId4"/>
              <a:stretch>
                <a:fillRect l="0" t="0" r="2" b="-4"/>
              </a:stretch>
            </a:blipFill>
          </p:spPr>
        </p:sp>
      </p:grpSp>
      <p:sp>
        <p:nvSpPr>
          <p:cNvPr name="TextBox 8" id="8"/>
          <p:cNvSpPr txBox="true"/>
          <p:nvPr/>
        </p:nvSpPr>
        <p:spPr>
          <a:xfrm rot="0">
            <a:off x="992991" y="751742"/>
            <a:ext cx="16315868" cy="471830"/>
          </a:xfrm>
          <a:prstGeom prst="rect">
            <a:avLst/>
          </a:prstGeom>
        </p:spPr>
        <p:txBody>
          <a:bodyPr anchor="t" rtlCol="false" tIns="0" lIns="0" bIns="0" rIns="0">
            <a:spAutoFit/>
          </a:bodyPr>
          <a:lstStyle/>
          <a:p>
            <a:pPr algn="l">
              <a:lnSpc>
                <a:spcPts val="3465"/>
              </a:lnSpc>
            </a:pPr>
            <a:r>
              <a:rPr lang="en-US" sz="2777">
                <a:solidFill>
                  <a:srgbClr val="152D47"/>
                </a:solidFill>
                <a:latin typeface="Crimson Pro"/>
                <a:ea typeface="Crimson Pro"/>
                <a:cs typeface="Crimson Pro"/>
                <a:sym typeface="Crimson Pro"/>
              </a:rPr>
              <a:t>Evolution of Semiconductor Devices for Industrial High-Side Drivers</a:t>
            </a:r>
          </a:p>
        </p:txBody>
      </p:sp>
      <p:sp>
        <p:nvSpPr>
          <p:cNvPr name="TextBox 9" id="9"/>
          <p:cNvSpPr txBox="true"/>
          <p:nvPr/>
        </p:nvSpPr>
        <p:spPr>
          <a:xfrm rot="0">
            <a:off x="992991" y="1223305"/>
            <a:ext cx="16315868" cy="383210"/>
          </a:xfrm>
          <a:prstGeom prst="rect">
            <a:avLst/>
          </a:prstGeom>
        </p:spPr>
        <p:txBody>
          <a:bodyPr anchor="t" rtlCol="false" tIns="0" lIns="0" bIns="0" rIns="0">
            <a:spAutoFit/>
          </a:bodyPr>
          <a:lstStyle/>
          <a:p>
            <a:pPr algn="l">
              <a:lnSpc>
                <a:spcPts val="2716"/>
              </a:lnSpc>
            </a:pPr>
            <a:r>
              <a:rPr lang="en-US" sz="2176">
                <a:solidFill>
                  <a:srgbClr val="152D47"/>
                </a:solidFill>
                <a:latin typeface="Crimson Pro"/>
                <a:ea typeface="Crimson Pro"/>
                <a:cs typeface="Crimson Pro"/>
                <a:sym typeface="Crimson Pro"/>
              </a:rPr>
              <a:t>Technology Evolution Diagram</a:t>
            </a:r>
          </a:p>
        </p:txBody>
      </p:sp>
      <p:sp>
        <p:nvSpPr>
          <p:cNvPr name="TextBox 10" id="10"/>
          <p:cNvSpPr txBox="true"/>
          <p:nvPr/>
        </p:nvSpPr>
        <p:spPr>
          <a:xfrm rot="0">
            <a:off x="992991" y="1722387"/>
            <a:ext cx="1723095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This diagram illustrates the progressive advancement in semiconductor transistor technologies.</a:t>
            </a:r>
          </a:p>
        </p:txBody>
      </p:sp>
      <p:grpSp>
        <p:nvGrpSpPr>
          <p:cNvPr name="Group 11" id="11"/>
          <p:cNvGrpSpPr/>
          <p:nvPr/>
        </p:nvGrpSpPr>
        <p:grpSpPr>
          <a:xfrm rot="0">
            <a:off x="992991" y="1962788"/>
            <a:ext cx="16315868" cy="7342222"/>
            <a:chOff x="0" y="0"/>
            <a:chExt cx="21754490" cy="9789630"/>
          </a:xfrm>
        </p:grpSpPr>
        <p:sp>
          <p:nvSpPr>
            <p:cNvPr name="Freeform 12" id="12" descr="preencoded.png"/>
            <p:cNvSpPr/>
            <p:nvPr/>
          </p:nvSpPr>
          <p:spPr>
            <a:xfrm flipH="false" flipV="false" rot="0">
              <a:off x="0" y="0"/>
              <a:ext cx="21754464" cy="9789668"/>
            </a:xfrm>
            <a:custGeom>
              <a:avLst/>
              <a:gdLst/>
              <a:ahLst/>
              <a:cxnLst/>
              <a:rect r="r" b="b" t="t" l="l"/>
              <a:pathLst>
                <a:path h="9789668" w="21754464">
                  <a:moveTo>
                    <a:pt x="0" y="0"/>
                  </a:moveTo>
                  <a:lnTo>
                    <a:pt x="21754464" y="0"/>
                  </a:lnTo>
                  <a:lnTo>
                    <a:pt x="21754464" y="9789668"/>
                  </a:lnTo>
                  <a:lnTo>
                    <a:pt x="0" y="9789668"/>
                  </a:lnTo>
                  <a:lnTo>
                    <a:pt x="0" y="0"/>
                  </a:lnTo>
                  <a:close/>
                </a:path>
              </a:pathLst>
            </a:custGeom>
            <a:blipFill>
              <a:blip r:embed="rId5"/>
              <a:stretch>
                <a:fillRect l="0" t="-38" r="0" b="-38"/>
              </a:stretch>
            </a:blipFill>
          </p:spPr>
        </p:sp>
      </p:grpSp>
      <p:sp>
        <p:nvSpPr>
          <p:cNvPr name="TextBox 13" id="13"/>
          <p:cNvSpPr txBox="true"/>
          <p:nvPr/>
        </p:nvSpPr>
        <p:spPr>
          <a:xfrm rot="0">
            <a:off x="3450746" y="2327405"/>
            <a:ext cx="2855233" cy="469811"/>
          </a:xfrm>
          <a:prstGeom prst="rect">
            <a:avLst/>
          </a:prstGeom>
        </p:spPr>
        <p:txBody>
          <a:bodyPr anchor="t" rtlCol="false" tIns="0" lIns="0" bIns="0" rIns="0">
            <a:spAutoFit/>
          </a:bodyPr>
          <a:lstStyle/>
          <a:p>
            <a:pPr algn="ctr">
              <a:lnSpc>
                <a:spcPts val="3465"/>
              </a:lnSpc>
            </a:pPr>
            <a:r>
              <a:rPr lang="en-US" sz="2777">
                <a:solidFill>
                  <a:srgbClr val="4C4C4D"/>
                </a:solidFill>
                <a:latin typeface="Crimson Pro"/>
                <a:ea typeface="Crimson Pro"/>
                <a:cs typeface="Crimson Pro"/>
                <a:sym typeface="Crimson Pro"/>
              </a:rPr>
              <a:t>Planar MOSFET</a:t>
            </a:r>
          </a:p>
        </p:txBody>
      </p:sp>
      <p:sp>
        <p:nvSpPr>
          <p:cNvPr name="TextBox 14" id="14"/>
          <p:cNvSpPr txBox="true"/>
          <p:nvPr/>
        </p:nvSpPr>
        <p:spPr>
          <a:xfrm rot="0">
            <a:off x="3450746" y="2979877"/>
            <a:ext cx="2855233" cy="472335"/>
          </a:xfrm>
          <a:prstGeom prst="rect">
            <a:avLst/>
          </a:prstGeom>
        </p:spPr>
        <p:txBody>
          <a:bodyPr anchor="t" rtlCol="false" tIns="0" lIns="0" bIns="0" rIns="0">
            <a:spAutoFit/>
          </a:bodyPr>
          <a:lstStyle/>
          <a:p>
            <a:pPr algn="ctr">
              <a:lnSpc>
                <a:spcPts val="2037"/>
              </a:lnSpc>
            </a:pPr>
            <a:r>
              <a:rPr lang="en-US" sz="2176">
                <a:solidFill>
                  <a:srgbClr val="4C4C4D"/>
                </a:solidFill>
                <a:latin typeface="Heebo"/>
                <a:ea typeface="Heebo"/>
                <a:cs typeface="Heebo"/>
                <a:sym typeface="Heebo"/>
              </a:rPr>
              <a:t>Traditional flat-channel device</a:t>
            </a:r>
          </a:p>
        </p:txBody>
      </p:sp>
      <p:sp>
        <p:nvSpPr>
          <p:cNvPr name="TextBox 15" id="15"/>
          <p:cNvSpPr txBox="true"/>
          <p:nvPr/>
        </p:nvSpPr>
        <p:spPr>
          <a:xfrm rot="0">
            <a:off x="6274603" y="7834074"/>
            <a:ext cx="2870921" cy="469811"/>
          </a:xfrm>
          <a:prstGeom prst="rect">
            <a:avLst/>
          </a:prstGeom>
        </p:spPr>
        <p:txBody>
          <a:bodyPr anchor="t" rtlCol="false" tIns="0" lIns="0" bIns="0" rIns="0">
            <a:spAutoFit/>
          </a:bodyPr>
          <a:lstStyle/>
          <a:p>
            <a:pPr algn="ctr">
              <a:lnSpc>
                <a:spcPts val="3465"/>
              </a:lnSpc>
            </a:pPr>
            <a:r>
              <a:rPr lang="en-US" sz="2777">
                <a:solidFill>
                  <a:srgbClr val="4C4C4D"/>
                </a:solidFill>
                <a:latin typeface="Crimson Pro"/>
                <a:ea typeface="Crimson Pro"/>
                <a:cs typeface="Crimson Pro"/>
                <a:sym typeface="Crimson Pro"/>
              </a:rPr>
              <a:t>FinFET</a:t>
            </a:r>
          </a:p>
        </p:txBody>
      </p:sp>
      <p:sp>
        <p:nvSpPr>
          <p:cNvPr name="TextBox 16" id="16"/>
          <p:cNvSpPr txBox="true"/>
          <p:nvPr/>
        </p:nvSpPr>
        <p:spPr>
          <a:xfrm rot="0">
            <a:off x="6274603" y="8486546"/>
            <a:ext cx="2870921" cy="472335"/>
          </a:xfrm>
          <a:prstGeom prst="rect">
            <a:avLst/>
          </a:prstGeom>
        </p:spPr>
        <p:txBody>
          <a:bodyPr anchor="t" rtlCol="false" tIns="0" lIns="0" bIns="0" rIns="0">
            <a:spAutoFit/>
          </a:bodyPr>
          <a:lstStyle/>
          <a:p>
            <a:pPr algn="ctr">
              <a:lnSpc>
                <a:spcPts val="2037"/>
              </a:lnSpc>
            </a:pPr>
            <a:r>
              <a:rPr lang="en-US" sz="2176">
                <a:solidFill>
                  <a:srgbClr val="4C4C4D"/>
                </a:solidFill>
                <a:latin typeface="Heebo"/>
                <a:ea typeface="Heebo"/>
                <a:cs typeface="Heebo"/>
                <a:sym typeface="Heebo"/>
              </a:rPr>
              <a:t>3D fin channel for better control</a:t>
            </a:r>
          </a:p>
        </p:txBody>
      </p:sp>
      <p:sp>
        <p:nvSpPr>
          <p:cNvPr name="TextBox 17" id="17"/>
          <p:cNvSpPr txBox="true"/>
          <p:nvPr/>
        </p:nvSpPr>
        <p:spPr>
          <a:xfrm rot="0">
            <a:off x="9067086" y="2272503"/>
            <a:ext cx="2855233" cy="469811"/>
          </a:xfrm>
          <a:prstGeom prst="rect">
            <a:avLst/>
          </a:prstGeom>
        </p:spPr>
        <p:txBody>
          <a:bodyPr anchor="t" rtlCol="false" tIns="0" lIns="0" bIns="0" rIns="0">
            <a:spAutoFit/>
          </a:bodyPr>
          <a:lstStyle/>
          <a:p>
            <a:pPr algn="ctr">
              <a:lnSpc>
                <a:spcPts val="3465"/>
              </a:lnSpc>
            </a:pPr>
            <a:r>
              <a:rPr lang="en-US" sz="2777">
                <a:solidFill>
                  <a:srgbClr val="4C4C4D"/>
                </a:solidFill>
                <a:latin typeface="Crimson Pro"/>
                <a:ea typeface="Crimson Pro"/>
                <a:cs typeface="Crimson Pro"/>
                <a:sym typeface="Crimson Pro"/>
              </a:rPr>
              <a:t>GAAFET</a:t>
            </a:r>
          </a:p>
        </p:txBody>
      </p:sp>
      <p:sp>
        <p:nvSpPr>
          <p:cNvPr name="TextBox 18" id="18"/>
          <p:cNvSpPr txBox="true"/>
          <p:nvPr/>
        </p:nvSpPr>
        <p:spPr>
          <a:xfrm rot="0">
            <a:off x="9067086" y="2924975"/>
            <a:ext cx="2855233" cy="472335"/>
          </a:xfrm>
          <a:prstGeom prst="rect">
            <a:avLst/>
          </a:prstGeom>
        </p:spPr>
        <p:txBody>
          <a:bodyPr anchor="t" rtlCol="false" tIns="0" lIns="0" bIns="0" rIns="0">
            <a:spAutoFit/>
          </a:bodyPr>
          <a:lstStyle/>
          <a:p>
            <a:pPr algn="ctr">
              <a:lnSpc>
                <a:spcPts val="2037"/>
              </a:lnSpc>
            </a:pPr>
            <a:r>
              <a:rPr lang="en-US" sz="2176">
                <a:solidFill>
                  <a:srgbClr val="4C4C4D"/>
                </a:solidFill>
                <a:latin typeface="Heebo"/>
                <a:ea typeface="Heebo"/>
                <a:cs typeface="Heebo"/>
                <a:sym typeface="Heebo"/>
              </a:rPr>
              <a:t>Gate-all-around for improved scaling</a:t>
            </a:r>
          </a:p>
        </p:txBody>
      </p:sp>
      <p:sp>
        <p:nvSpPr>
          <p:cNvPr name="TextBox 19" id="19"/>
          <p:cNvSpPr txBox="true"/>
          <p:nvPr/>
        </p:nvSpPr>
        <p:spPr>
          <a:xfrm rot="0">
            <a:off x="11890943" y="7834074"/>
            <a:ext cx="2855233" cy="469811"/>
          </a:xfrm>
          <a:prstGeom prst="rect">
            <a:avLst/>
          </a:prstGeom>
        </p:spPr>
        <p:txBody>
          <a:bodyPr anchor="t" rtlCol="false" tIns="0" lIns="0" bIns="0" rIns="0">
            <a:spAutoFit/>
          </a:bodyPr>
          <a:lstStyle/>
          <a:p>
            <a:pPr algn="ctr">
              <a:lnSpc>
                <a:spcPts val="3465"/>
              </a:lnSpc>
            </a:pPr>
            <a:r>
              <a:rPr lang="en-US" sz="2777">
                <a:solidFill>
                  <a:srgbClr val="4C4C4D"/>
                </a:solidFill>
                <a:latin typeface="Crimson Pro"/>
                <a:ea typeface="Crimson Pro"/>
                <a:cs typeface="Crimson Pro"/>
                <a:sym typeface="Crimson Pro"/>
              </a:rPr>
              <a:t>CFET</a:t>
            </a:r>
          </a:p>
        </p:txBody>
      </p:sp>
      <p:sp>
        <p:nvSpPr>
          <p:cNvPr name="TextBox 20" id="20"/>
          <p:cNvSpPr txBox="true"/>
          <p:nvPr/>
        </p:nvSpPr>
        <p:spPr>
          <a:xfrm rot="0">
            <a:off x="11890943" y="8486546"/>
            <a:ext cx="2855233" cy="472335"/>
          </a:xfrm>
          <a:prstGeom prst="rect">
            <a:avLst/>
          </a:prstGeom>
        </p:spPr>
        <p:txBody>
          <a:bodyPr anchor="t" rtlCol="false" tIns="0" lIns="0" bIns="0" rIns="0">
            <a:spAutoFit/>
          </a:bodyPr>
          <a:lstStyle/>
          <a:p>
            <a:pPr algn="ctr">
              <a:lnSpc>
                <a:spcPts val="2037"/>
              </a:lnSpc>
            </a:pPr>
            <a:r>
              <a:rPr lang="en-US" sz="2176">
                <a:solidFill>
                  <a:srgbClr val="4C4C4D"/>
                </a:solidFill>
                <a:latin typeface="Heebo"/>
                <a:ea typeface="Heebo"/>
                <a:cs typeface="Heebo"/>
                <a:sym typeface="Heebo"/>
              </a:rPr>
              <a:t>Stacked devices for density gains</a:t>
            </a:r>
          </a:p>
        </p:txBody>
      </p:sp>
      <p:sp>
        <p:nvSpPr>
          <p:cNvPr name="TextBox 21" id="21"/>
          <p:cNvSpPr txBox="true"/>
          <p:nvPr/>
        </p:nvSpPr>
        <p:spPr>
          <a:xfrm rot="0">
            <a:off x="992991" y="9382782"/>
            <a:ext cx="16315868" cy="383210"/>
          </a:xfrm>
          <a:prstGeom prst="rect">
            <a:avLst/>
          </a:prstGeom>
        </p:spPr>
        <p:txBody>
          <a:bodyPr anchor="t" rtlCol="false" tIns="0" lIns="0" bIns="0" rIns="0">
            <a:spAutoFit/>
          </a:bodyPr>
          <a:lstStyle/>
          <a:p>
            <a:pPr algn="l">
              <a:lnSpc>
                <a:spcPts val="2716"/>
              </a:lnSpc>
            </a:pPr>
            <a:r>
              <a:rPr lang="en-US" sz="2176">
                <a:solidFill>
                  <a:srgbClr val="152D47"/>
                </a:solidFill>
                <a:latin typeface="Crimson Pro"/>
                <a:ea typeface="Crimson Pro"/>
                <a:cs typeface="Crimson Pro"/>
                <a:sym typeface="Crimson Pro"/>
              </a:rPr>
              <a:t>Evolution of Transistor Technologies (Comparison Table)</a:t>
            </a:r>
          </a:p>
        </p:txBody>
      </p:sp>
      <p:grpSp>
        <p:nvGrpSpPr>
          <p:cNvPr name="Group 22" id="22"/>
          <p:cNvGrpSpPr/>
          <p:nvPr/>
        </p:nvGrpSpPr>
        <p:grpSpPr>
          <a:xfrm rot="0">
            <a:off x="988219" y="9867576"/>
            <a:ext cx="16325393" cy="2118731"/>
            <a:chOff x="0" y="0"/>
            <a:chExt cx="21767190" cy="2824975"/>
          </a:xfrm>
        </p:grpSpPr>
        <p:sp>
          <p:nvSpPr>
            <p:cNvPr name="Freeform 23" id="23"/>
            <p:cNvSpPr/>
            <p:nvPr/>
          </p:nvSpPr>
          <p:spPr>
            <a:xfrm flipH="false" flipV="false" rot="0">
              <a:off x="0" y="0"/>
              <a:ext cx="21767164" cy="2824988"/>
            </a:xfrm>
            <a:custGeom>
              <a:avLst/>
              <a:gdLst/>
              <a:ahLst/>
              <a:cxnLst/>
              <a:rect r="r" b="b" t="t" l="l"/>
              <a:pathLst>
                <a:path h="2824988" w="21767164">
                  <a:moveTo>
                    <a:pt x="0" y="28448"/>
                  </a:moveTo>
                  <a:cubicBezTo>
                    <a:pt x="0" y="12700"/>
                    <a:pt x="12700" y="0"/>
                    <a:pt x="28448" y="0"/>
                  </a:cubicBezTo>
                  <a:lnTo>
                    <a:pt x="21738717" y="0"/>
                  </a:lnTo>
                  <a:cubicBezTo>
                    <a:pt x="21754464" y="0"/>
                    <a:pt x="21767164" y="12700"/>
                    <a:pt x="21767164" y="28448"/>
                  </a:cubicBezTo>
                  <a:lnTo>
                    <a:pt x="21767164" y="2796540"/>
                  </a:lnTo>
                  <a:cubicBezTo>
                    <a:pt x="21767164" y="2812288"/>
                    <a:pt x="21754464" y="2824988"/>
                    <a:pt x="21738717" y="2824988"/>
                  </a:cubicBezTo>
                  <a:lnTo>
                    <a:pt x="28448" y="2824988"/>
                  </a:lnTo>
                  <a:cubicBezTo>
                    <a:pt x="12700" y="2824988"/>
                    <a:pt x="0" y="2812288"/>
                    <a:pt x="0" y="2796540"/>
                  </a:cubicBezTo>
                  <a:close/>
                </a:path>
              </a:pathLst>
            </a:custGeom>
            <a:blipFill>
              <a:blip r:embed="rId6">
                <a:alphaModFix amt="0"/>
              </a:blip>
              <a:stretch>
                <a:fillRect l="0" t="-100136" r="0" b="-100136"/>
              </a:stretch>
            </a:blipFill>
            <a:ln w="9532" cap="sq">
              <a:solidFill>
                <a:srgbClr val="000000"/>
              </a:solidFill>
              <a:prstDash val="solid"/>
              <a:miter/>
            </a:ln>
          </p:spPr>
        </p:sp>
      </p:grpSp>
      <p:grpSp>
        <p:nvGrpSpPr>
          <p:cNvPr name="Group 24" id="24"/>
          <p:cNvGrpSpPr/>
          <p:nvPr/>
        </p:nvGrpSpPr>
        <p:grpSpPr>
          <a:xfrm rot="0">
            <a:off x="992991" y="10160841"/>
            <a:ext cx="16315868" cy="9535"/>
            <a:chOff x="0" y="0"/>
            <a:chExt cx="21754490" cy="12713"/>
          </a:xfrm>
        </p:grpSpPr>
        <p:sp>
          <p:nvSpPr>
            <p:cNvPr name="Freeform 25" id="25"/>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26" id="26"/>
          <p:cNvGrpSpPr/>
          <p:nvPr/>
        </p:nvGrpSpPr>
        <p:grpSpPr>
          <a:xfrm rot="0">
            <a:off x="992991" y="10614831"/>
            <a:ext cx="16315868" cy="9535"/>
            <a:chOff x="0" y="0"/>
            <a:chExt cx="21754490" cy="12713"/>
          </a:xfrm>
        </p:grpSpPr>
        <p:sp>
          <p:nvSpPr>
            <p:cNvPr name="Freeform 27" id="27"/>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28" id="28"/>
          <p:cNvGrpSpPr/>
          <p:nvPr/>
        </p:nvGrpSpPr>
        <p:grpSpPr>
          <a:xfrm rot="0">
            <a:off x="992991" y="11068812"/>
            <a:ext cx="16315868" cy="9535"/>
            <a:chOff x="0" y="0"/>
            <a:chExt cx="21754490" cy="12713"/>
          </a:xfrm>
        </p:grpSpPr>
        <p:sp>
          <p:nvSpPr>
            <p:cNvPr name="Freeform 29" id="29"/>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30" id="30"/>
          <p:cNvGrpSpPr/>
          <p:nvPr/>
        </p:nvGrpSpPr>
        <p:grpSpPr>
          <a:xfrm rot="0">
            <a:off x="992991" y="11522793"/>
            <a:ext cx="16315868" cy="9535"/>
            <a:chOff x="0" y="0"/>
            <a:chExt cx="21754490" cy="12713"/>
          </a:xfrm>
        </p:grpSpPr>
        <p:sp>
          <p:nvSpPr>
            <p:cNvPr name="Freeform 31" id="31"/>
            <p:cNvSpPr/>
            <p:nvPr/>
          </p:nvSpPr>
          <p:spPr>
            <a:xfrm flipH="false" flipV="false" rot="0">
              <a:off x="0" y="0"/>
              <a:ext cx="21754464" cy="12700"/>
            </a:xfrm>
            <a:custGeom>
              <a:avLst/>
              <a:gdLst/>
              <a:ahLst/>
              <a:cxnLst/>
              <a:rect r="r" b="b" t="t" l="l"/>
              <a:pathLst>
                <a:path h="12700" w="21754464">
                  <a:moveTo>
                    <a:pt x="0" y="0"/>
                  </a:moveTo>
                  <a:lnTo>
                    <a:pt x="21754464" y="0"/>
                  </a:lnTo>
                  <a:lnTo>
                    <a:pt x="21754464" y="12700"/>
                  </a:lnTo>
                  <a:lnTo>
                    <a:pt x="0" y="12700"/>
                  </a:lnTo>
                  <a:close/>
                </a:path>
              </a:pathLst>
            </a:custGeom>
            <a:solidFill>
              <a:srgbClr val="000000">
                <a:alpha val="392"/>
              </a:srgbClr>
            </a:solidFill>
          </p:spPr>
        </p:sp>
      </p:grpSp>
      <p:grpSp>
        <p:nvGrpSpPr>
          <p:cNvPr name="Group 32" id="32"/>
          <p:cNvGrpSpPr/>
          <p:nvPr/>
        </p:nvGrpSpPr>
        <p:grpSpPr>
          <a:xfrm rot="0">
            <a:off x="6380626" y="9872339"/>
            <a:ext cx="9535" cy="2109206"/>
            <a:chOff x="0" y="0"/>
            <a:chExt cx="12713" cy="2812275"/>
          </a:xfrm>
        </p:grpSpPr>
        <p:sp>
          <p:nvSpPr>
            <p:cNvPr name="Freeform 33" id="33"/>
            <p:cNvSpPr/>
            <p:nvPr/>
          </p:nvSpPr>
          <p:spPr>
            <a:xfrm flipH="false" flipV="false" rot="0">
              <a:off x="0" y="0"/>
              <a:ext cx="12700" cy="2812288"/>
            </a:xfrm>
            <a:custGeom>
              <a:avLst/>
              <a:gdLst/>
              <a:ahLst/>
              <a:cxnLst/>
              <a:rect r="r" b="b" t="t" l="l"/>
              <a:pathLst>
                <a:path h="2812288" w="12700">
                  <a:moveTo>
                    <a:pt x="0" y="0"/>
                  </a:moveTo>
                  <a:lnTo>
                    <a:pt x="12700" y="0"/>
                  </a:lnTo>
                  <a:lnTo>
                    <a:pt x="12700" y="2812288"/>
                  </a:lnTo>
                  <a:lnTo>
                    <a:pt x="0" y="2812288"/>
                  </a:lnTo>
                  <a:close/>
                </a:path>
              </a:pathLst>
            </a:custGeom>
            <a:solidFill>
              <a:srgbClr val="000000">
                <a:alpha val="392"/>
              </a:srgbClr>
            </a:solidFill>
          </p:spPr>
        </p:sp>
      </p:grpSp>
      <p:grpSp>
        <p:nvGrpSpPr>
          <p:cNvPr name="Group 34" id="34"/>
          <p:cNvGrpSpPr/>
          <p:nvPr/>
        </p:nvGrpSpPr>
        <p:grpSpPr>
          <a:xfrm rot="0">
            <a:off x="11921519" y="9872339"/>
            <a:ext cx="9535" cy="2109206"/>
            <a:chOff x="0" y="0"/>
            <a:chExt cx="12713" cy="2812275"/>
          </a:xfrm>
        </p:grpSpPr>
        <p:sp>
          <p:nvSpPr>
            <p:cNvPr name="Freeform 35" id="35"/>
            <p:cNvSpPr/>
            <p:nvPr/>
          </p:nvSpPr>
          <p:spPr>
            <a:xfrm flipH="false" flipV="false" rot="0">
              <a:off x="0" y="0"/>
              <a:ext cx="12700" cy="2812288"/>
            </a:xfrm>
            <a:custGeom>
              <a:avLst/>
              <a:gdLst/>
              <a:ahLst/>
              <a:cxnLst/>
              <a:rect r="r" b="b" t="t" l="l"/>
              <a:pathLst>
                <a:path h="2812288" w="12700">
                  <a:moveTo>
                    <a:pt x="0" y="0"/>
                  </a:moveTo>
                  <a:lnTo>
                    <a:pt x="12700" y="0"/>
                  </a:lnTo>
                  <a:lnTo>
                    <a:pt x="12700" y="2812288"/>
                  </a:lnTo>
                  <a:lnTo>
                    <a:pt x="0" y="2812288"/>
                  </a:lnTo>
                  <a:close/>
                </a:path>
              </a:pathLst>
            </a:custGeom>
            <a:solidFill>
              <a:srgbClr val="000000">
                <a:alpha val="392"/>
              </a:srgbClr>
            </a:solidFill>
          </p:spPr>
        </p:sp>
      </p:grpSp>
      <p:sp>
        <p:nvSpPr>
          <p:cNvPr name="TextBox 36" id="36"/>
          <p:cNvSpPr txBox="true"/>
          <p:nvPr/>
        </p:nvSpPr>
        <p:spPr>
          <a:xfrm rot="0">
            <a:off x="1144610" y="9943376"/>
            <a:ext cx="6004550"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Technology</a:t>
            </a:r>
          </a:p>
        </p:txBody>
      </p:sp>
      <p:sp>
        <p:nvSpPr>
          <p:cNvPr name="TextBox 37" id="37"/>
          <p:cNvSpPr txBox="true"/>
          <p:nvPr/>
        </p:nvSpPr>
        <p:spPr>
          <a:xfrm rot="0">
            <a:off x="6527178" y="9943376"/>
            <a:ext cx="6162875"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Structure</a:t>
            </a:r>
          </a:p>
        </p:txBody>
      </p:sp>
      <p:sp>
        <p:nvSpPr>
          <p:cNvPr name="TextBox 38" id="38"/>
          <p:cNvSpPr txBox="true"/>
          <p:nvPr/>
        </p:nvSpPr>
        <p:spPr>
          <a:xfrm rot="0">
            <a:off x="12068070" y="9943376"/>
            <a:ext cx="6004550"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Industrial Advantages</a:t>
            </a:r>
          </a:p>
        </p:txBody>
      </p:sp>
      <p:sp>
        <p:nvSpPr>
          <p:cNvPr name="TextBox 39" id="39"/>
          <p:cNvSpPr txBox="true"/>
          <p:nvPr/>
        </p:nvSpPr>
        <p:spPr>
          <a:xfrm rot="0">
            <a:off x="1144610" y="10227116"/>
            <a:ext cx="6004550"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Planar MOSFET</a:t>
            </a:r>
          </a:p>
        </p:txBody>
      </p:sp>
      <p:sp>
        <p:nvSpPr>
          <p:cNvPr name="TextBox 40" id="40"/>
          <p:cNvSpPr txBox="true"/>
          <p:nvPr/>
        </p:nvSpPr>
        <p:spPr>
          <a:xfrm rot="0">
            <a:off x="6527178" y="10227116"/>
            <a:ext cx="6162875"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Single planar channel with gate on the top surface</a:t>
            </a:r>
          </a:p>
        </p:txBody>
      </p:sp>
      <p:sp>
        <p:nvSpPr>
          <p:cNvPr name="TextBox 41" id="41"/>
          <p:cNvSpPr txBox="true"/>
          <p:nvPr/>
        </p:nvSpPr>
        <p:spPr>
          <a:xfrm rot="0">
            <a:off x="12068070" y="10227116"/>
            <a:ext cx="5089455" cy="33096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Simple fabrication, low cost, widely used in conventional industrial power converters</a:t>
            </a:r>
          </a:p>
        </p:txBody>
      </p:sp>
      <p:sp>
        <p:nvSpPr>
          <p:cNvPr name="TextBox 42" id="42"/>
          <p:cNvSpPr txBox="true"/>
          <p:nvPr/>
        </p:nvSpPr>
        <p:spPr>
          <a:xfrm rot="0">
            <a:off x="1144610" y="10681097"/>
            <a:ext cx="6004550"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FinFET</a:t>
            </a:r>
          </a:p>
        </p:txBody>
      </p:sp>
      <p:sp>
        <p:nvSpPr>
          <p:cNvPr name="TextBox 43" id="43"/>
          <p:cNvSpPr txBox="true"/>
          <p:nvPr/>
        </p:nvSpPr>
        <p:spPr>
          <a:xfrm rot="0">
            <a:off x="6527178" y="10681097"/>
            <a:ext cx="6162875"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Vertical fin-shaped channel with the gate surrounding three sides</a:t>
            </a:r>
          </a:p>
        </p:txBody>
      </p:sp>
      <p:sp>
        <p:nvSpPr>
          <p:cNvPr name="TextBox 44" id="44"/>
          <p:cNvSpPr txBox="true"/>
          <p:nvPr/>
        </p:nvSpPr>
        <p:spPr>
          <a:xfrm rot="0">
            <a:off x="12068070" y="10681097"/>
            <a:ext cx="5089455" cy="33096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Better electrostatic control, lower leakage current, reduced effective RDS(on), improved switching efficiency, higher reliability</a:t>
            </a:r>
          </a:p>
        </p:txBody>
      </p:sp>
      <p:sp>
        <p:nvSpPr>
          <p:cNvPr name="TextBox 45" id="45"/>
          <p:cNvSpPr txBox="true"/>
          <p:nvPr/>
        </p:nvSpPr>
        <p:spPr>
          <a:xfrm rot="0">
            <a:off x="1144610" y="11135087"/>
            <a:ext cx="6004550"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GAAFET (Gate-All-Around FET)</a:t>
            </a:r>
          </a:p>
        </p:txBody>
      </p:sp>
      <p:sp>
        <p:nvSpPr>
          <p:cNvPr name="TextBox 46" id="46"/>
          <p:cNvSpPr txBox="true"/>
          <p:nvPr/>
        </p:nvSpPr>
        <p:spPr>
          <a:xfrm rot="0">
            <a:off x="6527178" y="11135087"/>
            <a:ext cx="6162875"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Gate completely surrounds the nanosheet or nanowire channel</a:t>
            </a:r>
          </a:p>
        </p:txBody>
      </p:sp>
      <p:sp>
        <p:nvSpPr>
          <p:cNvPr name="TextBox 47" id="47"/>
          <p:cNvSpPr txBox="true"/>
          <p:nvPr/>
        </p:nvSpPr>
        <p:spPr>
          <a:xfrm rot="0">
            <a:off x="12068070" y="11135087"/>
            <a:ext cx="5089455" cy="33096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Superior gate control, lower leakage current, higher drive current, improved power efficiency, excellent scalability for advanced industrial ICs</a:t>
            </a:r>
          </a:p>
        </p:txBody>
      </p:sp>
      <p:sp>
        <p:nvSpPr>
          <p:cNvPr name="TextBox 48" id="48"/>
          <p:cNvSpPr txBox="true"/>
          <p:nvPr/>
        </p:nvSpPr>
        <p:spPr>
          <a:xfrm rot="0">
            <a:off x="1144610" y="11589068"/>
            <a:ext cx="6004550"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CFET (Complementary FET)</a:t>
            </a:r>
          </a:p>
        </p:txBody>
      </p:sp>
      <p:sp>
        <p:nvSpPr>
          <p:cNvPr name="TextBox 49" id="49"/>
          <p:cNvSpPr txBox="true"/>
          <p:nvPr/>
        </p:nvSpPr>
        <p:spPr>
          <a:xfrm rot="0">
            <a:off x="6527178" y="11589068"/>
            <a:ext cx="6162875"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Vertically stacked NMOS and PMOS transistors</a:t>
            </a:r>
          </a:p>
        </p:txBody>
      </p:sp>
      <p:sp>
        <p:nvSpPr>
          <p:cNvPr name="TextBox 50" id="50"/>
          <p:cNvSpPr txBox="true"/>
          <p:nvPr/>
        </p:nvSpPr>
        <p:spPr>
          <a:xfrm rot="0">
            <a:off x="12068070" y="11589068"/>
            <a:ext cx="5089455" cy="33096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Highest integration density, compact chip area, reduced parasitic capacitance, improved switching speed, enhanced power density</a:t>
            </a:r>
          </a:p>
        </p:txBody>
      </p:sp>
      <p:sp>
        <p:nvSpPr>
          <p:cNvPr name="TextBox 51" id="51"/>
          <p:cNvSpPr txBox="true"/>
          <p:nvPr/>
        </p:nvSpPr>
        <p:spPr>
          <a:xfrm rot="0">
            <a:off x="992991" y="12059317"/>
            <a:ext cx="16315868" cy="383210"/>
          </a:xfrm>
          <a:prstGeom prst="rect">
            <a:avLst/>
          </a:prstGeom>
        </p:spPr>
        <p:txBody>
          <a:bodyPr anchor="t" rtlCol="false" tIns="0" lIns="0" bIns="0" rIns="0">
            <a:spAutoFit/>
          </a:bodyPr>
          <a:lstStyle/>
          <a:p>
            <a:pPr algn="l">
              <a:lnSpc>
                <a:spcPts val="2716"/>
              </a:lnSpc>
            </a:pPr>
            <a:r>
              <a:rPr lang="en-US" sz="2176">
                <a:solidFill>
                  <a:srgbClr val="152D47"/>
                </a:solidFill>
                <a:latin typeface="Crimson Pro"/>
                <a:ea typeface="Crimson Pro"/>
                <a:cs typeface="Crimson Pro"/>
                <a:sym typeface="Crimson Pro"/>
              </a:rPr>
              <a:t>Industrial Perspective</a:t>
            </a:r>
          </a:p>
        </p:txBody>
      </p:sp>
      <p:sp>
        <p:nvSpPr>
          <p:cNvPr name="TextBox 52" id="52"/>
          <p:cNvSpPr txBox="true"/>
          <p:nvPr/>
        </p:nvSpPr>
        <p:spPr>
          <a:xfrm rot="0">
            <a:off x="992991" y="12558398"/>
            <a:ext cx="1723095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The evolution from Planar MOSFET → FinFET → GAAFET → CFET represents continuous improvements in device performance:</a:t>
            </a:r>
          </a:p>
        </p:txBody>
      </p:sp>
      <p:sp>
        <p:nvSpPr>
          <p:cNvPr name="TextBox 53" id="53"/>
          <p:cNvSpPr txBox="true"/>
          <p:nvPr/>
        </p:nvSpPr>
        <p:spPr>
          <a:xfrm rot="0">
            <a:off x="992991" y="12808325"/>
            <a:ext cx="16315868" cy="1135561"/>
          </a:xfrm>
          <a:prstGeom prst="rect">
            <a:avLst/>
          </a:prstGeom>
        </p:spPr>
        <p:txBody>
          <a:bodyPr anchor="t" rtlCol="false" tIns="0" lIns="0" bIns="0" rIns="0">
            <a:spAutoFit/>
          </a:bodyPr>
          <a:lstStyle/>
          <a:p>
            <a:pPr algn="l" marL="190321" indent="-95161" lvl="1">
              <a:lnSpc>
                <a:spcPts val="1260"/>
              </a:lnSpc>
              <a:buFont typeface="Arial"/>
              <a:buChar char="•"/>
            </a:pPr>
            <a:r>
              <a:rPr lang="en-US" sz="1050">
                <a:solidFill>
                  <a:srgbClr val="000000"/>
                </a:solidFill>
                <a:latin typeface="Heebo"/>
                <a:ea typeface="Heebo"/>
                <a:cs typeface="Heebo"/>
                <a:sym typeface="Heebo"/>
              </a:rPr>
              <a:t>✔</a:t>
            </a:r>
            <a:r>
              <a:rPr lang="en-US" sz="1050">
                <a:solidFill>
                  <a:srgbClr val="4C4C4D"/>
                </a:solidFill>
                <a:latin typeface="Heebo"/>
                <a:ea typeface="Heebo"/>
                <a:cs typeface="Heebo"/>
                <a:sym typeface="Heebo"/>
              </a:rPr>
              <a:t> Lower effective channel resistance</a:t>
            </a:r>
          </a:p>
          <a:p>
            <a:pPr algn="l" marL="190321" indent="-95161" lvl="1">
              <a:lnSpc>
                <a:spcPts val="1260"/>
              </a:lnSpc>
              <a:buFont typeface="Arial"/>
              <a:buChar char="•"/>
            </a:pPr>
            <a:r>
              <a:rPr lang="en-US" sz="1050">
                <a:solidFill>
                  <a:srgbClr val="000000"/>
                </a:solidFill>
                <a:latin typeface="Heebo"/>
                <a:ea typeface="Heebo"/>
                <a:cs typeface="Heebo"/>
                <a:sym typeface="Heebo"/>
              </a:rPr>
              <a:t>✔</a:t>
            </a:r>
            <a:r>
              <a:rPr lang="en-US" sz="1050">
                <a:solidFill>
                  <a:srgbClr val="4C4C4D"/>
                </a:solidFill>
                <a:latin typeface="Heebo"/>
                <a:ea typeface="Heebo"/>
                <a:cs typeface="Heebo"/>
                <a:sym typeface="Heebo"/>
              </a:rPr>
              <a:t> Reduced conduction losses</a:t>
            </a:r>
          </a:p>
          <a:p>
            <a:pPr algn="l" marL="190321" indent="-95161" lvl="1">
              <a:lnSpc>
                <a:spcPts val="1260"/>
              </a:lnSpc>
              <a:buFont typeface="Arial"/>
              <a:buChar char="•"/>
            </a:pPr>
            <a:r>
              <a:rPr lang="en-US" sz="1050">
                <a:solidFill>
                  <a:srgbClr val="000000"/>
                </a:solidFill>
                <a:latin typeface="Heebo"/>
                <a:ea typeface="Heebo"/>
                <a:cs typeface="Heebo"/>
                <a:sym typeface="Heebo"/>
              </a:rPr>
              <a:t>✔</a:t>
            </a:r>
            <a:r>
              <a:rPr lang="en-US" sz="1050">
                <a:solidFill>
                  <a:srgbClr val="4C4C4D"/>
                </a:solidFill>
                <a:latin typeface="Heebo"/>
                <a:ea typeface="Heebo"/>
                <a:cs typeface="Heebo"/>
                <a:sym typeface="Heebo"/>
              </a:rPr>
              <a:t> Lower leakage current</a:t>
            </a:r>
          </a:p>
          <a:p>
            <a:pPr algn="l" marL="190321" indent="-95161" lvl="1">
              <a:lnSpc>
                <a:spcPts val="1260"/>
              </a:lnSpc>
              <a:buFont typeface="Arial"/>
              <a:buChar char="•"/>
            </a:pPr>
            <a:r>
              <a:rPr lang="en-US" sz="1050">
                <a:solidFill>
                  <a:srgbClr val="000000"/>
                </a:solidFill>
                <a:latin typeface="Heebo"/>
                <a:ea typeface="Heebo"/>
                <a:cs typeface="Heebo"/>
                <a:sym typeface="Heebo"/>
              </a:rPr>
              <a:t>✔</a:t>
            </a:r>
            <a:r>
              <a:rPr lang="en-US" sz="1050">
                <a:solidFill>
                  <a:srgbClr val="4C4C4D"/>
                </a:solidFill>
                <a:latin typeface="Heebo"/>
                <a:ea typeface="Heebo"/>
                <a:cs typeface="Heebo"/>
                <a:sym typeface="Heebo"/>
              </a:rPr>
              <a:t> Faster switching speed</a:t>
            </a:r>
          </a:p>
          <a:p>
            <a:pPr algn="l" marL="190321" indent="-95161" lvl="1">
              <a:lnSpc>
                <a:spcPts val="1260"/>
              </a:lnSpc>
              <a:buFont typeface="Arial"/>
              <a:buChar char="•"/>
            </a:pPr>
            <a:r>
              <a:rPr lang="en-US" sz="1050">
                <a:solidFill>
                  <a:srgbClr val="000000"/>
                </a:solidFill>
                <a:latin typeface="Heebo"/>
                <a:ea typeface="Heebo"/>
                <a:cs typeface="Heebo"/>
                <a:sym typeface="Heebo"/>
              </a:rPr>
              <a:t>✔</a:t>
            </a:r>
            <a:r>
              <a:rPr lang="en-US" sz="1050">
                <a:solidFill>
                  <a:srgbClr val="4C4C4D"/>
                </a:solidFill>
                <a:latin typeface="Heebo"/>
                <a:ea typeface="Heebo"/>
                <a:cs typeface="Heebo"/>
                <a:sym typeface="Heebo"/>
              </a:rPr>
              <a:t> Improved thermal performance</a:t>
            </a:r>
          </a:p>
          <a:p>
            <a:pPr algn="l" marL="190321" indent="-95161" lvl="1">
              <a:lnSpc>
                <a:spcPts val="1260"/>
              </a:lnSpc>
              <a:buFont typeface="Arial"/>
              <a:buChar char="•"/>
            </a:pPr>
            <a:r>
              <a:rPr lang="en-US" sz="1050">
                <a:solidFill>
                  <a:srgbClr val="000000"/>
                </a:solidFill>
                <a:latin typeface="Heebo"/>
                <a:ea typeface="Heebo"/>
                <a:cs typeface="Heebo"/>
                <a:sym typeface="Heebo"/>
              </a:rPr>
              <a:t>✔</a:t>
            </a:r>
            <a:r>
              <a:rPr lang="en-US" sz="1050">
                <a:solidFill>
                  <a:srgbClr val="4C4C4D"/>
                </a:solidFill>
                <a:latin typeface="Heebo"/>
                <a:ea typeface="Heebo"/>
                <a:cs typeface="Heebo"/>
                <a:sym typeface="Heebo"/>
              </a:rPr>
              <a:t> Higher reliability</a:t>
            </a:r>
          </a:p>
        </p:txBody>
      </p:sp>
      <p:sp>
        <p:nvSpPr>
          <p:cNvPr name="TextBox 54" id="54"/>
          <p:cNvSpPr txBox="true"/>
          <p:nvPr/>
        </p:nvSpPr>
        <p:spPr>
          <a:xfrm rot="0">
            <a:off x="992991" y="14033097"/>
            <a:ext cx="1723095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These technologies are well-suited for next-generation industrial automation and power electronics applications.</a:t>
            </a:r>
          </a:p>
        </p:txBody>
      </p:sp>
      <p:sp>
        <p:nvSpPr>
          <p:cNvPr name="TextBox 55" id="55"/>
          <p:cNvSpPr txBox="true"/>
          <p:nvPr/>
        </p:nvSpPr>
        <p:spPr>
          <a:xfrm rot="0">
            <a:off x="992991" y="14271584"/>
            <a:ext cx="16315868" cy="383210"/>
          </a:xfrm>
          <a:prstGeom prst="rect">
            <a:avLst/>
          </a:prstGeom>
        </p:spPr>
        <p:txBody>
          <a:bodyPr anchor="t" rtlCol="false" tIns="0" lIns="0" bIns="0" rIns="0">
            <a:spAutoFit/>
          </a:bodyPr>
          <a:lstStyle/>
          <a:p>
            <a:pPr algn="l">
              <a:lnSpc>
                <a:spcPts val="2716"/>
              </a:lnSpc>
            </a:pPr>
            <a:r>
              <a:rPr lang="en-US" sz="2176">
                <a:solidFill>
                  <a:srgbClr val="152D47"/>
                </a:solidFill>
                <a:latin typeface="Crimson Pro"/>
                <a:ea typeface="Crimson Pro"/>
                <a:cs typeface="Crimson Pro"/>
                <a:sym typeface="Crimson Pro"/>
              </a:rPr>
              <a:t>Key Performance Improvements</a:t>
            </a:r>
          </a:p>
        </p:txBody>
      </p:sp>
      <p:grpSp>
        <p:nvGrpSpPr>
          <p:cNvPr name="Group 56" id="56"/>
          <p:cNvGrpSpPr/>
          <p:nvPr/>
        </p:nvGrpSpPr>
        <p:grpSpPr>
          <a:xfrm rot="0">
            <a:off x="983456" y="14751615"/>
            <a:ext cx="8141551" cy="1165041"/>
            <a:chOff x="0" y="0"/>
            <a:chExt cx="10855401" cy="1553388"/>
          </a:xfrm>
        </p:grpSpPr>
        <p:sp>
          <p:nvSpPr>
            <p:cNvPr name="Freeform 57" id="57"/>
            <p:cNvSpPr/>
            <p:nvPr/>
          </p:nvSpPr>
          <p:spPr>
            <a:xfrm flipH="false" flipV="false" rot="0">
              <a:off x="0" y="0"/>
              <a:ext cx="10855325" cy="1553337"/>
            </a:xfrm>
            <a:custGeom>
              <a:avLst/>
              <a:gdLst/>
              <a:ahLst/>
              <a:cxnLst/>
              <a:rect r="r" b="b" t="t" l="l"/>
              <a:pathLst>
                <a:path h="1553337" w="10855325">
                  <a:moveTo>
                    <a:pt x="0" y="28829"/>
                  </a:moveTo>
                  <a:cubicBezTo>
                    <a:pt x="0" y="12954"/>
                    <a:pt x="12954" y="0"/>
                    <a:pt x="28829" y="0"/>
                  </a:cubicBezTo>
                  <a:lnTo>
                    <a:pt x="10826496" y="0"/>
                  </a:lnTo>
                  <a:cubicBezTo>
                    <a:pt x="10842371" y="0"/>
                    <a:pt x="10855325" y="12954"/>
                    <a:pt x="10855325" y="28829"/>
                  </a:cubicBezTo>
                  <a:lnTo>
                    <a:pt x="10855325" y="1524508"/>
                  </a:lnTo>
                  <a:cubicBezTo>
                    <a:pt x="10855325" y="1540383"/>
                    <a:pt x="10842371" y="1553337"/>
                    <a:pt x="10826496" y="1553337"/>
                  </a:cubicBezTo>
                  <a:lnTo>
                    <a:pt x="28829" y="1553337"/>
                  </a:lnTo>
                  <a:cubicBezTo>
                    <a:pt x="12954" y="1553337"/>
                    <a:pt x="0" y="1540383"/>
                    <a:pt x="0" y="1524508"/>
                  </a:cubicBezTo>
                  <a:close/>
                </a:path>
              </a:pathLst>
            </a:custGeom>
            <a:solidFill>
              <a:srgbClr val="FFFFFF"/>
            </a:solidFill>
            <a:ln w="19065" cap="sq">
              <a:solidFill>
                <a:srgbClr val="D8D4D4"/>
              </a:solidFill>
              <a:prstDash val="solid"/>
              <a:miter/>
            </a:ln>
          </p:spPr>
        </p:sp>
      </p:grpSp>
      <p:sp>
        <p:nvSpPr>
          <p:cNvPr name="TextBox 58" id="58"/>
          <p:cNvSpPr txBox="true"/>
          <p:nvPr/>
        </p:nvSpPr>
        <p:spPr>
          <a:xfrm rot="0">
            <a:off x="1153839" y="14912473"/>
            <a:ext cx="7800775" cy="231153"/>
          </a:xfrm>
          <a:prstGeom prst="rect">
            <a:avLst/>
          </a:prstGeom>
        </p:spPr>
        <p:txBody>
          <a:bodyPr anchor="t" rtlCol="false" tIns="0" lIns="0" bIns="0" rIns="0">
            <a:spAutoFit/>
          </a:bodyPr>
          <a:lstStyle/>
          <a:p>
            <a:pPr algn="l">
              <a:lnSpc>
                <a:spcPts val="1686"/>
              </a:lnSpc>
            </a:pPr>
            <a:r>
              <a:rPr lang="en-US" sz="1351">
                <a:solidFill>
                  <a:srgbClr val="4C4C4D"/>
                </a:solidFill>
                <a:latin typeface="Crimson Pro"/>
                <a:ea typeface="Crimson Pro"/>
                <a:cs typeface="Crimson Pro"/>
                <a:sym typeface="Crimson Pro"/>
              </a:rPr>
              <a:t>Planar MOSFET</a:t>
            </a:r>
          </a:p>
        </p:txBody>
      </p:sp>
      <p:sp>
        <p:nvSpPr>
          <p:cNvPr name="TextBox 59" id="59"/>
          <p:cNvSpPr txBox="true"/>
          <p:nvPr/>
        </p:nvSpPr>
        <p:spPr>
          <a:xfrm rot="0">
            <a:off x="1153839" y="15195604"/>
            <a:ext cx="7800775" cy="550659"/>
          </a:xfrm>
          <a:prstGeom prst="rect">
            <a:avLst/>
          </a:prstGeom>
        </p:spPr>
        <p:txBody>
          <a:bodyPr anchor="t" rtlCol="false" tIns="0" lIns="0" bIns="0" rIns="0">
            <a:spAutoFit/>
          </a:bodyPr>
          <a:lstStyle/>
          <a:p>
            <a:pPr algn="l" marL="190321" indent="-95161" lvl="1">
              <a:lnSpc>
                <a:spcPts val="1260"/>
              </a:lnSpc>
              <a:buFont typeface="Arial"/>
              <a:buChar char="•"/>
            </a:pPr>
            <a:r>
              <a:rPr lang="en-US" sz="1050">
                <a:solidFill>
                  <a:srgbClr val="4C4C4D"/>
                </a:solidFill>
                <a:latin typeface="Heebo"/>
                <a:ea typeface="Heebo"/>
                <a:cs typeface="Heebo"/>
                <a:sym typeface="Heebo"/>
              </a:rPr>
              <a:t>Baseline technology</a:t>
            </a:r>
          </a:p>
          <a:p>
            <a:pPr algn="l" marL="190321" indent="-95161" lvl="1">
              <a:lnSpc>
                <a:spcPts val="1260"/>
              </a:lnSpc>
              <a:buFont typeface="Arial"/>
              <a:buChar char="•"/>
            </a:pPr>
            <a:r>
              <a:rPr lang="en-US" sz="1050">
                <a:solidFill>
                  <a:srgbClr val="4C4C4D"/>
                </a:solidFill>
                <a:latin typeface="Heebo"/>
                <a:ea typeface="Heebo"/>
                <a:cs typeface="Heebo"/>
                <a:sym typeface="Heebo"/>
              </a:rPr>
              <a:t>Cost-effective</a:t>
            </a:r>
          </a:p>
          <a:p>
            <a:pPr algn="l" marL="190321" indent="-95161" lvl="1">
              <a:lnSpc>
                <a:spcPts val="1260"/>
              </a:lnSpc>
              <a:buFont typeface="Arial"/>
              <a:buChar char="•"/>
            </a:pPr>
            <a:r>
              <a:rPr lang="en-US" sz="1050">
                <a:solidFill>
                  <a:srgbClr val="4C4C4D"/>
                </a:solidFill>
                <a:latin typeface="Heebo"/>
                <a:ea typeface="Heebo"/>
                <a:cs typeface="Heebo"/>
                <a:sym typeface="Heebo"/>
              </a:rPr>
              <a:t>Established manufacturing</a:t>
            </a:r>
          </a:p>
        </p:txBody>
      </p:sp>
      <p:grpSp>
        <p:nvGrpSpPr>
          <p:cNvPr name="Group 60" id="60"/>
          <p:cNvGrpSpPr/>
          <p:nvPr/>
        </p:nvGrpSpPr>
        <p:grpSpPr>
          <a:xfrm rot="0">
            <a:off x="9176833" y="14751615"/>
            <a:ext cx="8141551" cy="1165041"/>
            <a:chOff x="0" y="0"/>
            <a:chExt cx="10855401" cy="1553388"/>
          </a:xfrm>
        </p:grpSpPr>
        <p:sp>
          <p:nvSpPr>
            <p:cNvPr name="Freeform 61" id="61"/>
            <p:cNvSpPr/>
            <p:nvPr/>
          </p:nvSpPr>
          <p:spPr>
            <a:xfrm flipH="false" flipV="false" rot="0">
              <a:off x="0" y="0"/>
              <a:ext cx="10855325" cy="1553337"/>
            </a:xfrm>
            <a:custGeom>
              <a:avLst/>
              <a:gdLst/>
              <a:ahLst/>
              <a:cxnLst/>
              <a:rect r="r" b="b" t="t" l="l"/>
              <a:pathLst>
                <a:path h="1553337" w="10855325">
                  <a:moveTo>
                    <a:pt x="0" y="28829"/>
                  </a:moveTo>
                  <a:cubicBezTo>
                    <a:pt x="0" y="12954"/>
                    <a:pt x="12954" y="0"/>
                    <a:pt x="28829" y="0"/>
                  </a:cubicBezTo>
                  <a:lnTo>
                    <a:pt x="10826496" y="0"/>
                  </a:lnTo>
                  <a:cubicBezTo>
                    <a:pt x="10842371" y="0"/>
                    <a:pt x="10855325" y="12954"/>
                    <a:pt x="10855325" y="28829"/>
                  </a:cubicBezTo>
                  <a:lnTo>
                    <a:pt x="10855325" y="1524508"/>
                  </a:lnTo>
                  <a:cubicBezTo>
                    <a:pt x="10855325" y="1540383"/>
                    <a:pt x="10842371" y="1553337"/>
                    <a:pt x="10826496" y="1553337"/>
                  </a:cubicBezTo>
                  <a:lnTo>
                    <a:pt x="28829" y="1553337"/>
                  </a:lnTo>
                  <a:cubicBezTo>
                    <a:pt x="12954" y="1553337"/>
                    <a:pt x="0" y="1540383"/>
                    <a:pt x="0" y="1524508"/>
                  </a:cubicBezTo>
                  <a:close/>
                </a:path>
              </a:pathLst>
            </a:custGeom>
            <a:solidFill>
              <a:srgbClr val="FFFFFF"/>
            </a:solidFill>
            <a:ln w="19065" cap="sq">
              <a:solidFill>
                <a:srgbClr val="D8D4D4"/>
              </a:solidFill>
              <a:prstDash val="solid"/>
              <a:miter/>
            </a:ln>
          </p:spPr>
        </p:sp>
      </p:grpSp>
      <p:sp>
        <p:nvSpPr>
          <p:cNvPr name="TextBox 62" id="62"/>
          <p:cNvSpPr txBox="true"/>
          <p:nvPr/>
        </p:nvSpPr>
        <p:spPr>
          <a:xfrm rot="0">
            <a:off x="9347225" y="14912473"/>
            <a:ext cx="7800775" cy="231153"/>
          </a:xfrm>
          <a:prstGeom prst="rect">
            <a:avLst/>
          </a:prstGeom>
        </p:spPr>
        <p:txBody>
          <a:bodyPr anchor="t" rtlCol="false" tIns="0" lIns="0" bIns="0" rIns="0">
            <a:spAutoFit/>
          </a:bodyPr>
          <a:lstStyle/>
          <a:p>
            <a:pPr algn="l">
              <a:lnSpc>
                <a:spcPts val="1686"/>
              </a:lnSpc>
            </a:pPr>
            <a:r>
              <a:rPr lang="en-US" sz="1351">
                <a:solidFill>
                  <a:srgbClr val="4C4C4D"/>
                </a:solidFill>
                <a:latin typeface="Crimson Pro"/>
                <a:ea typeface="Crimson Pro"/>
                <a:cs typeface="Crimson Pro"/>
                <a:sym typeface="Crimson Pro"/>
              </a:rPr>
              <a:t>FinFET</a:t>
            </a:r>
          </a:p>
        </p:txBody>
      </p:sp>
      <p:sp>
        <p:nvSpPr>
          <p:cNvPr name="TextBox 63" id="63"/>
          <p:cNvSpPr txBox="true"/>
          <p:nvPr/>
        </p:nvSpPr>
        <p:spPr>
          <a:xfrm rot="0">
            <a:off x="9347225" y="15195604"/>
            <a:ext cx="7800775" cy="550659"/>
          </a:xfrm>
          <a:prstGeom prst="rect">
            <a:avLst/>
          </a:prstGeom>
        </p:spPr>
        <p:txBody>
          <a:bodyPr anchor="t" rtlCol="false" tIns="0" lIns="0" bIns="0" rIns="0">
            <a:spAutoFit/>
          </a:bodyPr>
          <a:lstStyle/>
          <a:p>
            <a:pPr algn="l" marL="190321" indent="-95161" lvl="1">
              <a:lnSpc>
                <a:spcPts val="1260"/>
              </a:lnSpc>
              <a:buFont typeface="Arial"/>
              <a:buChar char="•"/>
            </a:pPr>
            <a:r>
              <a:rPr lang="en-US" sz="1050">
                <a:solidFill>
                  <a:srgbClr val="4C4C4D"/>
                </a:solidFill>
                <a:latin typeface="Heebo"/>
                <a:ea typeface="Heebo"/>
                <a:cs typeface="Heebo"/>
                <a:sym typeface="Heebo"/>
              </a:rPr>
              <a:t>30-40% reduction in leakage</a:t>
            </a:r>
          </a:p>
          <a:p>
            <a:pPr algn="l" marL="190321" indent="-95161" lvl="1">
              <a:lnSpc>
                <a:spcPts val="1260"/>
              </a:lnSpc>
              <a:buFont typeface="Arial"/>
              <a:buChar char="•"/>
            </a:pPr>
            <a:r>
              <a:rPr lang="en-US" sz="1050">
                <a:solidFill>
                  <a:srgbClr val="4C4C4D"/>
                </a:solidFill>
                <a:latin typeface="Heebo"/>
                <a:ea typeface="Heebo"/>
                <a:cs typeface="Heebo"/>
                <a:sym typeface="Heebo"/>
              </a:rPr>
              <a:t>Improved gate control</a:t>
            </a:r>
          </a:p>
          <a:p>
            <a:pPr algn="l" marL="190321" indent="-95161" lvl="1">
              <a:lnSpc>
                <a:spcPts val="1260"/>
              </a:lnSpc>
              <a:buFont typeface="Arial"/>
              <a:buChar char="•"/>
            </a:pPr>
            <a:r>
              <a:rPr lang="en-US" sz="1050">
                <a:solidFill>
                  <a:srgbClr val="4C4C4D"/>
                </a:solidFill>
                <a:latin typeface="Heebo"/>
                <a:ea typeface="Heebo"/>
                <a:cs typeface="Heebo"/>
                <a:sym typeface="Heebo"/>
              </a:rPr>
              <a:t>Better switching efficiency</a:t>
            </a:r>
          </a:p>
        </p:txBody>
      </p:sp>
      <p:grpSp>
        <p:nvGrpSpPr>
          <p:cNvPr name="Group 64" id="64"/>
          <p:cNvGrpSpPr/>
          <p:nvPr/>
        </p:nvGrpSpPr>
        <p:grpSpPr>
          <a:xfrm rot="0">
            <a:off x="983456" y="15968491"/>
            <a:ext cx="8141551" cy="1165041"/>
            <a:chOff x="0" y="0"/>
            <a:chExt cx="10855401" cy="1553388"/>
          </a:xfrm>
        </p:grpSpPr>
        <p:sp>
          <p:nvSpPr>
            <p:cNvPr name="Freeform 65" id="65"/>
            <p:cNvSpPr/>
            <p:nvPr/>
          </p:nvSpPr>
          <p:spPr>
            <a:xfrm flipH="false" flipV="false" rot="0">
              <a:off x="0" y="0"/>
              <a:ext cx="10855325" cy="1553337"/>
            </a:xfrm>
            <a:custGeom>
              <a:avLst/>
              <a:gdLst/>
              <a:ahLst/>
              <a:cxnLst/>
              <a:rect r="r" b="b" t="t" l="l"/>
              <a:pathLst>
                <a:path h="1553337" w="10855325">
                  <a:moveTo>
                    <a:pt x="0" y="28829"/>
                  </a:moveTo>
                  <a:cubicBezTo>
                    <a:pt x="0" y="12954"/>
                    <a:pt x="12954" y="0"/>
                    <a:pt x="28829" y="0"/>
                  </a:cubicBezTo>
                  <a:lnTo>
                    <a:pt x="10826496" y="0"/>
                  </a:lnTo>
                  <a:cubicBezTo>
                    <a:pt x="10842371" y="0"/>
                    <a:pt x="10855325" y="12954"/>
                    <a:pt x="10855325" y="28829"/>
                  </a:cubicBezTo>
                  <a:lnTo>
                    <a:pt x="10855325" y="1524508"/>
                  </a:lnTo>
                  <a:cubicBezTo>
                    <a:pt x="10855325" y="1540383"/>
                    <a:pt x="10842371" y="1553337"/>
                    <a:pt x="10826496" y="1553337"/>
                  </a:cubicBezTo>
                  <a:lnTo>
                    <a:pt x="28829" y="1553337"/>
                  </a:lnTo>
                  <a:cubicBezTo>
                    <a:pt x="12954" y="1553337"/>
                    <a:pt x="0" y="1540383"/>
                    <a:pt x="0" y="1524508"/>
                  </a:cubicBezTo>
                  <a:close/>
                </a:path>
              </a:pathLst>
            </a:custGeom>
            <a:solidFill>
              <a:srgbClr val="FFFFFF"/>
            </a:solidFill>
            <a:ln w="19065" cap="sq">
              <a:solidFill>
                <a:srgbClr val="D8D4D4"/>
              </a:solidFill>
              <a:prstDash val="solid"/>
              <a:miter/>
            </a:ln>
          </p:spPr>
        </p:sp>
      </p:grpSp>
      <p:sp>
        <p:nvSpPr>
          <p:cNvPr name="TextBox 66" id="66"/>
          <p:cNvSpPr txBox="true"/>
          <p:nvPr/>
        </p:nvSpPr>
        <p:spPr>
          <a:xfrm rot="0">
            <a:off x="1153839" y="16129359"/>
            <a:ext cx="7800775" cy="231153"/>
          </a:xfrm>
          <a:prstGeom prst="rect">
            <a:avLst/>
          </a:prstGeom>
        </p:spPr>
        <p:txBody>
          <a:bodyPr anchor="t" rtlCol="false" tIns="0" lIns="0" bIns="0" rIns="0">
            <a:spAutoFit/>
          </a:bodyPr>
          <a:lstStyle/>
          <a:p>
            <a:pPr algn="l">
              <a:lnSpc>
                <a:spcPts val="1686"/>
              </a:lnSpc>
            </a:pPr>
            <a:r>
              <a:rPr lang="en-US" sz="1351">
                <a:solidFill>
                  <a:srgbClr val="4C4C4D"/>
                </a:solidFill>
                <a:latin typeface="Crimson Pro"/>
                <a:ea typeface="Crimson Pro"/>
                <a:cs typeface="Crimson Pro"/>
                <a:sym typeface="Crimson Pro"/>
              </a:rPr>
              <a:t>GAAFET</a:t>
            </a:r>
          </a:p>
        </p:txBody>
      </p:sp>
      <p:sp>
        <p:nvSpPr>
          <p:cNvPr name="TextBox 67" id="67"/>
          <p:cNvSpPr txBox="true"/>
          <p:nvPr/>
        </p:nvSpPr>
        <p:spPr>
          <a:xfrm rot="0">
            <a:off x="1153839" y="16412480"/>
            <a:ext cx="7800775" cy="550659"/>
          </a:xfrm>
          <a:prstGeom prst="rect">
            <a:avLst/>
          </a:prstGeom>
        </p:spPr>
        <p:txBody>
          <a:bodyPr anchor="t" rtlCol="false" tIns="0" lIns="0" bIns="0" rIns="0">
            <a:spAutoFit/>
          </a:bodyPr>
          <a:lstStyle/>
          <a:p>
            <a:pPr algn="l" marL="190321" indent="-95161" lvl="1">
              <a:lnSpc>
                <a:spcPts val="1260"/>
              </a:lnSpc>
              <a:buFont typeface="Arial"/>
              <a:buChar char="•"/>
            </a:pPr>
            <a:r>
              <a:rPr lang="en-US" sz="1050">
                <a:solidFill>
                  <a:srgbClr val="4C4C4D"/>
                </a:solidFill>
                <a:latin typeface="Heebo"/>
                <a:ea typeface="Heebo"/>
                <a:cs typeface="Heebo"/>
                <a:sym typeface="Heebo"/>
              </a:rPr>
              <a:t>50-60% lower leakage</a:t>
            </a:r>
          </a:p>
          <a:p>
            <a:pPr algn="l" marL="190321" indent="-95161" lvl="1">
              <a:lnSpc>
                <a:spcPts val="1260"/>
              </a:lnSpc>
              <a:buFont typeface="Arial"/>
              <a:buChar char="•"/>
            </a:pPr>
            <a:r>
              <a:rPr lang="en-US" sz="1050">
                <a:solidFill>
                  <a:srgbClr val="4C4C4D"/>
                </a:solidFill>
                <a:latin typeface="Heebo"/>
                <a:ea typeface="Heebo"/>
                <a:cs typeface="Heebo"/>
                <a:sym typeface="Heebo"/>
              </a:rPr>
              <a:t>Higher drive current</a:t>
            </a:r>
          </a:p>
          <a:p>
            <a:pPr algn="l" marL="190321" indent="-95161" lvl="1">
              <a:lnSpc>
                <a:spcPts val="1260"/>
              </a:lnSpc>
              <a:buFont typeface="Arial"/>
              <a:buChar char="•"/>
            </a:pPr>
            <a:r>
              <a:rPr lang="en-US" sz="1050">
                <a:solidFill>
                  <a:srgbClr val="4C4C4D"/>
                </a:solidFill>
                <a:latin typeface="Heebo"/>
                <a:ea typeface="Heebo"/>
                <a:cs typeface="Heebo"/>
                <a:sym typeface="Heebo"/>
              </a:rPr>
              <a:t>Superior scalability</a:t>
            </a:r>
          </a:p>
        </p:txBody>
      </p:sp>
      <p:grpSp>
        <p:nvGrpSpPr>
          <p:cNvPr name="Group 68" id="68"/>
          <p:cNvGrpSpPr/>
          <p:nvPr/>
        </p:nvGrpSpPr>
        <p:grpSpPr>
          <a:xfrm rot="0">
            <a:off x="9176833" y="15968491"/>
            <a:ext cx="8141551" cy="1165041"/>
            <a:chOff x="0" y="0"/>
            <a:chExt cx="10855401" cy="1553388"/>
          </a:xfrm>
        </p:grpSpPr>
        <p:sp>
          <p:nvSpPr>
            <p:cNvPr name="Freeform 69" id="69"/>
            <p:cNvSpPr/>
            <p:nvPr/>
          </p:nvSpPr>
          <p:spPr>
            <a:xfrm flipH="false" flipV="false" rot="0">
              <a:off x="0" y="0"/>
              <a:ext cx="10855325" cy="1553337"/>
            </a:xfrm>
            <a:custGeom>
              <a:avLst/>
              <a:gdLst/>
              <a:ahLst/>
              <a:cxnLst/>
              <a:rect r="r" b="b" t="t" l="l"/>
              <a:pathLst>
                <a:path h="1553337" w="10855325">
                  <a:moveTo>
                    <a:pt x="0" y="28829"/>
                  </a:moveTo>
                  <a:cubicBezTo>
                    <a:pt x="0" y="12954"/>
                    <a:pt x="12954" y="0"/>
                    <a:pt x="28829" y="0"/>
                  </a:cubicBezTo>
                  <a:lnTo>
                    <a:pt x="10826496" y="0"/>
                  </a:lnTo>
                  <a:cubicBezTo>
                    <a:pt x="10842371" y="0"/>
                    <a:pt x="10855325" y="12954"/>
                    <a:pt x="10855325" y="28829"/>
                  </a:cubicBezTo>
                  <a:lnTo>
                    <a:pt x="10855325" y="1524508"/>
                  </a:lnTo>
                  <a:cubicBezTo>
                    <a:pt x="10855325" y="1540383"/>
                    <a:pt x="10842371" y="1553337"/>
                    <a:pt x="10826496" y="1553337"/>
                  </a:cubicBezTo>
                  <a:lnTo>
                    <a:pt x="28829" y="1553337"/>
                  </a:lnTo>
                  <a:cubicBezTo>
                    <a:pt x="12954" y="1553337"/>
                    <a:pt x="0" y="1540383"/>
                    <a:pt x="0" y="1524508"/>
                  </a:cubicBezTo>
                  <a:close/>
                </a:path>
              </a:pathLst>
            </a:custGeom>
            <a:solidFill>
              <a:srgbClr val="FFFFFF"/>
            </a:solidFill>
            <a:ln w="19065" cap="sq">
              <a:solidFill>
                <a:srgbClr val="D8D4D4"/>
              </a:solidFill>
              <a:prstDash val="solid"/>
              <a:miter/>
            </a:ln>
          </p:spPr>
        </p:sp>
      </p:grpSp>
      <p:sp>
        <p:nvSpPr>
          <p:cNvPr name="TextBox 70" id="70"/>
          <p:cNvSpPr txBox="true"/>
          <p:nvPr/>
        </p:nvSpPr>
        <p:spPr>
          <a:xfrm rot="0">
            <a:off x="9347225" y="16129359"/>
            <a:ext cx="7800775" cy="231153"/>
          </a:xfrm>
          <a:prstGeom prst="rect">
            <a:avLst/>
          </a:prstGeom>
        </p:spPr>
        <p:txBody>
          <a:bodyPr anchor="t" rtlCol="false" tIns="0" lIns="0" bIns="0" rIns="0">
            <a:spAutoFit/>
          </a:bodyPr>
          <a:lstStyle/>
          <a:p>
            <a:pPr algn="l">
              <a:lnSpc>
                <a:spcPts val="1686"/>
              </a:lnSpc>
            </a:pPr>
            <a:r>
              <a:rPr lang="en-US" sz="1351">
                <a:solidFill>
                  <a:srgbClr val="4C4C4D"/>
                </a:solidFill>
                <a:latin typeface="Crimson Pro"/>
                <a:ea typeface="Crimson Pro"/>
                <a:cs typeface="Crimson Pro"/>
                <a:sym typeface="Crimson Pro"/>
              </a:rPr>
              <a:t>CFET</a:t>
            </a:r>
          </a:p>
        </p:txBody>
      </p:sp>
      <p:sp>
        <p:nvSpPr>
          <p:cNvPr name="TextBox 71" id="71"/>
          <p:cNvSpPr txBox="true"/>
          <p:nvPr/>
        </p:nvSpPr>
        <p:spPr>
          <a:xfrm rot="0">
            <a:off x="9347225" y="16412480"/>
            <a:ext cx="7800775" cy="550659"/>
          </a:xfrm>
          <a:prstGeom prst="rect">
            <a:avLst/>
          </a:prstGeom>
        </p:spPr>
        <p:txBody>
          <a:bodyPr anchor="t" rtlCol="false" tIns="0" lIns="0" bIns="0" rIns="0">
            <a:spAutoFit/>
          </a:bodyPr>
          <a:lstStyle/>
          <a:p>
            <a:pPr algn="l" marL="190321" indent="-95161" lvl="1">
              <a:lnSpc>
                <a:spcPts val="1260"/>
              </a:lnSpc>
              <a:buFont typeface="Arial"/>
              <a:buChar char="•"/>
            </a:pPr>
            <a:r>
              <a:rPr lang="en-US" sz="1050">
                <a:solidFill>
                  <a:srgbClr val="4C4C4D"/>
                </a:solidFill>
                <a:latin typeface="Heebo"/>
                <a:ea typeface="Heebo"/>
                <a:cs typeface="Heebo"/>
                <a:sym typeface="Heebo"/>
              </a:rPr>
              <a:t>2x integration density</a:t>
            </a:r>
          </a:p>
          <a:p>
            <a:pPr algn="l" marL="190321" indent="-95161" lvl="1">
              <a:lnSpc>
                <a:spcPts val="1260"/>
              </a:lnSpc>
              <a:buFont typeface="Arial"/>
              <a:buChar char="•"/>
            </a:pPr>
            <a:r>
              <a:rPr lang="en-US" sz="1050">
                <a:solidFill>
                  <a:srgbClr val="4C4C4D"/>
                </a:solidFill>
                <a:latin typeface="Heebo"/>
                <a:ea typeface="Heebo"/>
                <a:cs typeface="Heebo"/>
                <a:sym typeface="Heebo"/>
              </a:rPr>
              <a:t>Reduced parasitic effects</a:t>
            </a:r>
          </a:p>
          <a:p>
            <a:pPr algn="l" marL="190321" indent="-95161" lvl="1">
              <a:lnSpc>
                <a:spcPts val="1260"/>
              </a:lnSpc>
              <a:buFont typeface="Arial"/>
              <a:buChar char="•"/>
            </a:pPr>
            <a:r>
              <a:rPr lang="en-US" sz="1050">
                <a:solidFill>
                  <a:srgbClr val="4C4C4D"/>
                </a:solidFill>
                <a:latin typeface="Heebo"/>
                <a:ea typeface="Heebo"/>
                <a:cs typeface="Heebo"/>
                <a:sym typeface="Heebo"/>
              </a:rPr>
              <a:t>Highest performance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0" y="0"/>
            <a:ext cx="18301840" cy="10295039"/>
            <a:chOff x="0" y="0"/>
            <a:chExt cx="24402453" cy="13726719"/>
          </a:xfrm>
        </p:grpSpPr>
        <p:sp>
          <p:nvSpPr>
            <p:cNvPr name="Freeform 3" id="3"/>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0F0F1"/>
            </a:solidFill>
          </p:spPr>
        </p:sp>
      </p:grpSp>
      <p:grpSp>
        <p:nvGrpSpPr>
          <p:cNvPr name="Group 4" id="4"/>
          <p:cNvGrpSpPr/>
          <p:nvPr/>
        </p:nvGrpSpPr>
        <p:grpSpPr>
          <a:xfrm rot="0">
            <a:off x="0" y="0"/>
            <a:ext cx="18301840" cy="10295039"/>
            <a:chOff x="0" y="0"/>
            <a:chExt cx="24402453" cy="13726719"/>
          </a:xfrm>
        </p:grpSpPr>
        <p:sp>
          <p:nvSpPr>
            <p:cNvPr name="Freeform 5" id="5"/>
            <p:cNvSpPr/>
            <p:nvPr/>
          </p:nvSpPr>
          <p:spPr>
            <a:xfrm flipH="false" flipV="false" rot="0">
              <a:off x="0" y="0"/>
              <a:ext cx="24402414" cy="13726668"/>
            </a:xfrm>
            <a:custGeom>
              <a:avLst/>
              <a:gdLst/>
              <a:ahLst/>
              <a:cxnLst/>
              <a:rect r="r" b="b" t="t" l="l"/>
              <a:pathLst>
                <a:path h="13726668" w="24402414">
                  <a:moveTo>
                    <a:pt x="0" y="0"/>
                  </a:moveTo>
                  <a:lnTo>
                    <a:pt x="24402414" y="0"/>
                  </a:lnTo>
                  <a:lnTo>
                    <a:pt x="24402414" y="13726668"/>
                  </a:lnTo>
                  <a:lnTo>
                    <a:pt x="0" y="13726668"/>
                  </a:lnTo>
                  <a:close/>
                </a:path>
              </a:pathLst>
            </a:custGeom>
            <a:solidFill>
              <a:srgbClr val="FFFFFF"/>
            </a:solidFill>
          </p:spPr>
        </p:sp>
      </p:grpSp>
      <p:grpSp>
        <p:nvGrpSpPr>
          <p:cNvPr name="Group 6" id="6"/>
          <p:cNvGrpSpPr/>
          <p:nvPr/>
        </p:nvGrpSpPr>
        <p:grpSpPr>
          <a:xfrm rot="0">
            <a:off x="16628307" y="9846183"/>
            <a:ext cx="1609020" cy="384353"/>
            <a:chOff x="0" y="0"/>
            <a:chExt cx="2145360" cy="512470"/>
          </a:xfrm>
        </p:grpSpPr>
        <p:sp>
          <p:nvSpPr>
            <p:cNvPr name="Freeform 7" id="7" descr="preencoded.png">
              <a:hlinkClick r:id="rId3" tooltip="https://gamma.app/?utm_source=made-with-gamma"/>
            </p:cNvPr>
            <p:cNvSpPr/>
            <p:nvPr/>
          </p:nvSpPr>
          <p:spPr>
            <a:xfrm flipH="false" flipV="false" rot="0">
              <a:off x="0" y="0"/>
              <a:ext cx="2145411" cy="512445"/>
            </a:xfrm>
            <a:custGeom>
              <a:avLst/>
              <a:gdLst/>
              <a:ahLst/>
              <a:cxnLst/>
              <a:rect r="r" b="b" t="t" l="l"/>
              <a:pathLst>
                <a:path h="512445" w="2145411">
                  <a:moveTo>
                    <a:pt x="0" y="0"/>
                  </a:moveTo>
                  <a:lnTo>
                    <a:pt x="2145411" y="0"/>
                  </a:lnTo>
                  <a:lnTo>
                    <a:pt x="2145411" y="512445"/>
                  </a:lnTo>
                  <a:lnTo>
                    <a:pt x="0" y="512445"/>
                  </a:lnTo>
                  <a:lnTo>
                    <a:pt x="0" y="0"/>
                  </a:lnTo>
                  <a:close/>
                </a:path>
              </a:pathLst>
            </a:custGeom>
            <a:blipFill>
              <a:blip r:embed="rId4"/>
              <a:stretch>
                <a:fillRect l="0" t="0" r="2" b="-4"/>
              </a:stretch>
            </a:blipFill>
          </p:spPr>
        </p:sp>
      </p:grpSp>
      <p:sp>
        <p:nvSpPr>
          <p:cNvPr name="TextBox 8" id="8"/>
          <p:cNvSpPr txBox="true"/>
          <p:nvPr/>
        </p:nvSpPr>
        <p:spPr>
          <a:xfrm rot="0">
            <a:off x="992991" y="751742"/>
            <a:ext cx="16315868" cy="471830"/>
          </a:xfrm>
          <a:prstGeom prst="rect">
            <a:avLst/>
          </a:prstGeom>
        </p:spPr>
        <p:txBody>
          <a:bodyPr anchor="t" rtlCol="false" tIns="0" lIns="0" bIns="0" rIns="0">
            <a:spAutoFit/>
          </a:bodyPr>
          <a:lstStyle/>
          <a:p>
            <a:pPr algn="l">
              <a:lnSpc>
                <a:spcPts val="3465"/>
              </a:lnSpc>
            </a:pPr>
            <a:r>
              <a:rPr lang="en-US" sz="2777">
                <a:solidFill>
                  <a:srgbClr val="152D47"/>
                </a:solidFill>
                <a:latin typeface="Crimson Pro"/>
                <a:ea typeface="Crimson Pro"/>
                <a:cs typeface="Crimson Pro"/>
                <a:sym typeface="Crimson Pro"/>
              </a:rPr>
              <a:t>Future Scope for Industrial High-Side Driver Circuits</a:t>
            </a:r>
          </a:p>
        </p:txBody>
      </p:sp>
      <p:sp>
        <p:nvSpPr>
          <p:cNvPr name="TextBox 9" id="9"/>
          <p:cNvSpPr txBox="true"/>
          <p:nvPr/>
        </p:nvSpPr>
        <p:spPr>
          <a:xfrm rot="0">
            <a:off x="992991" y="1223305"/>
            <a:ext cx="16315868" cy="383210"/>
          </a:xfrm>
          <a:prstGeom prst="rect">
            <a:avLst/>
          </a:prstGeom>
        </p:spPr>
        <p:txBody>
          <a:bodyPr anchor="t" rtlCol="false" tIns="0" lIns="0" bIns="0" rIns="0">
            <a:spAutoFit/>
          </a:bodyPr>
          <a:lstStyle/>
          <a:p>
            <a:pPr algn="l">
              <a:lnSpc>
                <a:spcPts val="2716"/>
              </a:lnSpc>
            </a:pPr>
            <a:r>
              <a:rPr lang="en-US" sz="2176">
                <a:solidFill>
                  <a:srgbClr val="152D47"/>
                </a:solidFill>
                <a:latin typeface="Crimson Pro"/>
                <a:ea typeface="Crimson Pro"/>
                <a:cs typeface="Crimson Pro"/>
                <a:sym typeface="Crimson Pro"/>
              </a:rPr>
              <a:t>Future Research Directions</a:t>
            </a:r>
          </a:p>
        </p:txBody>
      </p:sp>
      <p:sp>
        <p:nvSpPr>
          <p:cNvPr name="TextBox 10" id="10"/>
          <p:cNvSpPr txBox="true"/>
          <p:nvPr/>
        </p:nvSpPr>
        <p:spPr>
          <a:xfrm rot="0">
            <a:off x="992991" y="1774231"/>
            <a:ext cx="7984865" cy="231153"/>
          </a:xfrm>
          <a:prstGeom prst="rect">
            <a:avLst/>
          </a:prstGeom>
        </p:spPr>
        <p:txBody>
          <a:bodyPr anchor="t" rtlCol="false" tIns="0" lIns="0" bIns="0" rIns="0">
            <a:spAutoFit/>
          </a:bodyPr>
          <a:lstStyle/>
          <a:p>
            <a:pPr algn="l">
              <a:lnSpc>
                <a:spcPts val="1686"/>
              </a:lnSpc>
            </a:pPr>
            <a:r>
              <a:rPr lang="en-US" sz="1351">
                <a:solidFill>
                  <a:srgbClr val="152D47"/>
                </a:solidFill>
                <a:latin typeface="Crimson Pro"/>
                <a:ea typeface="Crimson Pro"/>
                <a:cs typeface="Crimson Pro"/>
                <a:sym typeface="Crimson Pro"/>
              </a:rPr>
              <a:t>Technology Enhancements:</a:t>
            </a:r>
          </a:p>
        </p:txBody>
      </p:sp>
      <p:sp>
        <p:nvSpPr>
          <p:cNvPr name="TextBox 11" id="11"/>
          <p:cNvSpPr txBox="true"/>
          <p:nvPr/>
        </p:nvSpPr>
        <p:spPr>
          <a:xfrm rot="0">
            <a:off x="992991" y="2085813"/>
            <a:ext cx="7984865" cy="2305374"/>
          </a:xfrm>
          <a:prstGeom prst="rect">
            <a:avLst/>
          </a:prstGeom>
        </p:spPr>
        <p:txBody>
          <a:bodyPr anchor="t" rtlCol="false" tIns="0" lIns="0" bIns="0" rIns="0">
            <a:spAutoFit/>
          </a:bodyPr>
          <a:lstStyle/>
          <a:p>
            <a:pPr algn="l" marL="190321" indent="-95161" lvl="1">
              <a:lnSpc>
                <a:spcPts val="1260"/>
              </a:lnSpc>
              <a:buFont typeface="Arial"/>
              <a:buChar char="•"/>
            </a:pPr>
            <a:r>
              <a:rPr lang="en-US" sz="1050">
                <a:solidFill>
                  <a:srgbClr val="4C4C4D"/>
                </a:solidFill>
                <a:latin typeface="Heebo"/>
                <a:ea typeface="Heebo"/>
                <a:cs typeface="Heebo"/>
                <a:sym typeface="Heebo"/>
              </a:rPr>
              <a:t>Replace Planar MOSFET with FinFET/GAAFET/CFET             </a:t>
            </a:r>
          </a:p>
          <a:p>
            <a:pPr algn="l" marL="403848" indent="-134616" lvl="2">
              <a:lnSpc>
                <a:spcPts val="1260"/>
              </a:lnSpc>
              <a:buFont typeface="Arial"/>
              <a:buChar char="⚬"/>
            </a:pPr>
            <a:r>
              <a:rPr lang="en-US" sz="1050">
                <a:solidFill>
                  <a:srgbClr val="4C4C4D"/>
                </a:solidFill>
                <a:latin typeface="Heebo"/>
                <a:ea typeface="Heebo"/>
                <a:cs typeface="Heebo"/>
                <a:sym typeface="Heebo"/>
              </a:rPr>
              <a:t>Improved switching performance</a:t>
            </a:r>
          </a:p>
          <a:p>
            <a:pPr algn="l" marL="403848" indent="-134616" lvl="2">
              <a:lnSpc>
                <a:spcPts val="1260"/>
              </a:lnSpc>
              <a:buFont typeface="Arial"/>
              <a:buChar char="⚬"/>
            </a:pPr>
            <a:r>
              <a:rPr lang="en-US" sz="1050">
                <a:solidFill>
                  <a:srgbClr val="4C4C4D"/>
                </a:solidFill>
                <a:latin typeface="Heebo"/>
                <a:ea typeface="Heebo"/>
                <a:cs typeface="Heebo"/>
                <a:sym typeface="Heebo"/>
              </a:rPr>
              <a:t>Enhanced overall efficiency</a:t>
            </a:r>
          </a:p>
          <a:p>
            <a:pPr algn="l" marL="403848" indent="-134616" lvl="2">
              <a:lnSpc>
                <a:spcPts val="1260"/>
              </a:lnSpc>
              <a:buFont typeface="Arial"/>
              <a:buChar char="⚬"/>
            </a:pPr>
            <a:r>
              <a:rPr lang="en-US" sz="1050">
                <a:solidFill>
                  <a:srgbClr val="4C4C4D"/>
                </a:solidFill>
                <a:latin typeface="Heebo"/>
                <a:ea typeface="Heebo"/>
                <a:cs typeface="Heebo"/>
                <a:sym typeface="Heebo"/>
              </a:rPr>
              <a:t>Better thermal management</a:t>
            </a:r>
          </a:p>
          <a:p>
            <a:pPr algn="l" marL="190321" indent="-95161" lvl="1">
              <a:lnSpc>
                <a:spcPts val="1260"/>
              </a:lnSpc>
              <a:buFont typeface="Arial"/>
              <a:buChar char="•"/>
            </a:pPr>
            <a:r>
              <a:rPr lang="en-US" sz="1050">
                <a:solidFill>
                  <a:srgbClr val="4C4C4D"/>
                </a:solidFill>
                <a:latin typeface="Heebo"/>
                <a:ea typeface="Heebo"/>
                <a:cs typeface="Heebo"/>
                <a:sym typeface="Heebo"/>
              </a:rPr>
              <a:t>Develop Integrated Gate-Driver IC             </a:t>
            </a:r>
          </a:p>
          <a:p>
            <a:pPr algn="l" marL="403848" indent="-134616" lvl="2">
              <a:lnSpc>
                <a:spcPts val="1260"/>
              </a:lnSpc>
              <a:buFont typeface="Arial"/>
              <a:buChar char="⚬"/>
            </a:pPr>
            <a:r>
              <a:rPr lang="en-US" sz="1050">
                <a:solidFill>
                  <a:srgbClr val="4C4C4D"/>
                </a:solidFill>
                <a:latin typeface="Heebo"/>
                <a:ea typeface="Heebo"/>
                <a:cs typeface="Heebo"/>
                <a:sym typeface="Heebo"/>
              </a:rPr>
              <a:t>Advanced semiconductor technologies</a:t>
            </a:r>
          </a:p>
          <a:p>
            <a:pPr algn="l" marL="403848" indent="-134616" lvl="2">
              <a:lnSpc>
                <a:spcPts val="1260"/>
              </a:lnSpc>
              <a:buFont typeface="Arial"/>
              <a:buChar char="⚬"/>
            </a:pPr>
            <a:r>
              <a:rPr lang="en-US" sz="1050">
                <a:solidFill>
                  <a:srgbClr val="4C4C4D"/>
                </a:solidFill>
                <a:latin typeface="Heebo"/>
                <a:ea typeface="Heebo"/>
                <a:cs typeface="Heebo"/>
                <a:sym typeface="Heebo"/>
              </a:rPr>
              <a:t>Compact industrial applications</a:t>
            </a:r>
          </a:p>
          <a:p>
            <a:pPr algn="l" marL="403848" indent="-134616" lvl="2">
              <a:lnSpc>
                <a:spcPts val="1260"/>
              </a:lnSpc>
              <a:buFont typeface="Arial"/>
              <a:buChar char="⚬"/>
            </a:pPr>
            <a:r>
              <a:rPr lang="en-US" sz="1050">
                <a:solidFill>
                  <a:srgbClr val="4C4C4D"/>
                </a:solidFill>
                <a:latin typeface="Heebo"/>
                <a:ea typeface="Heebo"/>
                <a:cs typeface="Heebo"/>
                <a:sym typeface="Heebo"/>
              </a:rPr>
              <a:t>Reduced PCB footprint</a:t>
            </a:r>
          </a:p>
          <a:p>
            <a:pPr algn="l" marL="190321" indent="-95161" lvl="1">
              <a:lnSpc>
                <a:spcPts val="1260"/>
              </a:lnSpc>
              <a:buFont typeface="Arial"/>
              <a:buChar char="•"/>
            </a:pPr>
            <a:r>
              <a:rPr lang="en-US" sz="1050">
                <a:solidFill>
                  <a:srgbClr val="4C4C4D"/>
                </a:solidFill>
                <a:latin typeface="Heebo"/>
                <a:ea typeface="Heebo"/>
                <a:cs typeface="Heebo"/>
                <a:sym typeface="Heebo"/>
              </a:rPr>
              <a:t>Incorporate SiC/GaN Power Devices             </a:t>
            </a:r>
          </a:p>
          <a:p>
            <a:pPr algn="l" marL="403848" indent="-134616" lvl="2">
              <a:lnSpc>
                <a:spcPts val="1260"/>
              </a:lnSpc>
              <a:buFont typeface="Arial"/>
              <a:buChar char="⚬"/>
            </a:pPr>
            <a:r>
              <a:rPr lang="en-US" sz="1050">
                <a:solidFill>
                  <a:srgbClr val="4C4C4D"/>
                </a:solidFill>
                <a:latin typeface="Heebo"/>
                <a:ea typeface="Heebo"/>
                <a:cs typeface="Heebo"/>
                <a:sym typeface="Heebo"/>
              </a:rPr>
              <a:t>Higher-voltage operation</a:t>
            </a:r>
          </a:p>
          <a:p>
            <a:pPr algn="l" marL="403848" indent="-134616" lvl="2">
              <a:lnSpc>
                <a:spcPts val="1260"/>
              </a:lnSpc>
              <a:buFont typeface="Arial"/>
              <a:buChar char="⚬"/>
            </a:pPr>
            <a:r>
              <a:rPr lang="en-US" sz="1050">
                <a:solidFill>
                  <a:srgbClr val="4C4C4D"/>
                </a:solidFill>
                <a:latin typeface="Heebo"/>
                <a:ea typeface="Heebo"/>
                <a:cs typeface="Heebo"/>
                <a:sym typeface="Heebo"/>
              </a:rPr>
              <a:t>Higher-frequency switching</a:t>
            </a:r>
          </a:p>
          <a:p>
            <a:pPr algn="l" marL="403848" indent="-134616" lvl="2">
              <a:lnSpc>
                <a:spcPts val="1260"/>
              </a:lnSpc>
              <a:buFont typeface="Arial"/>
              <a:buChar char="⚬"/>
            </a:pPr>
            <a:r>
              <a:rPr lang="en-US" sz="1050">
                <a:solidFill>
                  <a:srgbClr val="4C4C4D"/>
                </a:solidFill>
                <a:latin typeface="Heebo"/>
                <a:ea typeface="Heebo"/>
                <a:cs typeface="Heebo"/>
                <a:sym typeface="Heebo"/>
              </a:rPr>
              <a:t>Improved power density</a:t>
            </a:r>
          </a:p>
        </p:txBody>
      </p:sp>
      <p:sp>
        <p:nvSpPr>
          <p:cNvPr name="TextBox 12" id="12"/>
          <p:cNvSpPr txBox="true"/>
          <p:nvPr/>
        </p:nvSpPr>
        <p:spPr>
          <a:xfrm rot="0">
            <a:off x="9333519" y="1774231"/>
            <a:ext cx="7984865" cy="231153"/>
          </a:xfrm>
          <a:prstGeom prst="rect">
            <a:avLst/>
          </a:prstGeom>
        </p:spPr>
        <p:txBody>
          <a:bodyPr anchor="t" rtlCol="false" tIns="0" lIns="0" bIns="0" rIns="0">
            <a:spAutoFit/>
          </a:bodyPr>
          <a:lstStyle/>
          <a:p>
            <a:pPr algn="l">
              <a:lnSpc>
                <a:spcPts val="1686"/>
              </a:lnSpc>
            </a:pPr>
            <a:r>
              <a:rPr lang="en-US" sz="1351">
                <a:solidFill>
                  <a:srgbClr val="152D47"/>
                </a:solidFill>
                <a:latin typeface="Crimson Pro"/>
                <a:ea typeface="Crimson Pro"/>
                <a:cs typeface="Crimson Pro"/>
                <a:sym typeface="Crimson Pro"/>
              </a:rPr>
              <a:t>Protection &amp; Integration:</a:t>
            </a:r>
          </a:p>
        </p:txBody>
      </p:sp>
      <p:sp>
        <p:nvSpPr>
          <p:cNvPr name="TextBox 13" id="13"/>
          <p:cNvSpPr txBox="true"/>
          <p:nvPr/>
        </p:nvSpPr>
        <p:spPr>
          <a:xfrm rot="0">
            <a:off x="9333519" y="2085813"/>
            <a:ext cx="7984865" cy="2500341"/>
          </a:xfrm>
          <a:prstGeom prst="rect">
            <a:avLst/>
          </a:prstGeom>
        </p:spPr>
        <p:txBody>
          <a:bodyPr anchor="t" rtlCol="false" tIns="0" lIns="0" bIns="0" rIns="0">
            <a:spAutoFit/>
          </a:bodyPr>
          <a:lstStyle/>
          <a:p>
            <a:pPr algn="l" marL="190321" indent="-95161" lvl="1">
              <a:lnSpc>
                <a:spcPts val="1260"/>
              </a:lnSpc>
              <a:buFont typeface="Arial"/>
              <a:buChar char="•"/>
            </a:pPr>
            <a:r>
              <a:rPr lang="en-US" sz="1050">
                <a:solidFill>
                  <a:srgbClr val="4C4C4D"/>
                </a:solidFill>
                <a:latin typeface="Heebo"/>
                <a:ea typeface="Heebo"/>
                <a:cs typeface="Heebo"/>
                <a:sym typeface="Heebo"/>
              </a:rPr>
              <a:t>Integrate Industrial Protection Features             </a:t>
            </a:r>
          </a:p>
          <a:p>
            <a:pPr algn="l" marL="403848" indent="-134616" lvl="2">
              <a:lnSpc>
                <a:spcPts val="1260"/>
              </a:lnSpc>
              <a:buFont typeface="Arial"/>
              <a:buChar char="⚬"/>
            </a:pPr>
            <a:r>
              <a:rPr lang="en-US" sz="1050">
                <a:solidFill>
                  <a:srgbClr val="4C4C4D"/>
                </a:solidFill>
                <a:latin typeface="Heebo"/>
                <a:ea typeface="Heebo"/>
                <a:cs typeface="Heebo"/>
                <a:sym typeface="Heebo"/>
              </a:rPr>
              <a:t>Overcurrent protection (OCP)</a:t>
            </a:r>
          </a:p>
          <a:p>
            <a:pPr algn="l" marL="403848" indent="-134616" lvl="2">
              <a:lnSpc>
                <a:spcPts val="1260"/>
              </a:lnSpc>
              <a:buFont typeface="Arial"/>
              <a:buChar char="⚬"/>
            </a:pPr>
            <a:r>
              <a:rPr lang="en-US" sz="1050">
                <a:solidFill>
                  <a:srgbClr val="4C4C4D"/>
                </a:solidFill>
                <a:latin typeface="Heebo"/>
                <a:ea typeface="Heebo"/>
                <a:cs typeface="Heebo"/>
                <a:sym typeface="Heebo"/>
              </a:rPr>
              <a:t>Overvoltage protection (OVP)</a:t>
            </a:r>
          </a:p>
          <a:p>
            <a:pPr algn="l" marL="403848" indent="-134616" lvl="2">
              <a:lnSpc>
                <a:spcPts val="1260"/>
              </a:lnSpc>
              <a:buFont typeface="Arial"/>
              <a:buChar char="⚬"/>
            </a:pPr>
            <a:r>
              <a:rPr lang="en-US" sz="1050">
                <a:solidFill>
                  <a:srgbClr val="4C4C4D"/>
                </a:solidFill>
                <a:latin typeface="Heebo"/>
                <a:ea typeface="Heebo"/>
                <a:cs typeface="Heebo"/>
                <a:sym typeface="Heebo"/>
              </a:rPr>
              <a:t>Thermal shutdown (TSD)</a:t>
            </a:r>
          </a:p>
          <a:p>
            <a:pPr algn="l" marL="403848" indent="-134616" lvl="2">
              <a:lnSpc>
                <a:spcPts val="1260"/>
              </a:lnSpc>
              <a:buFont typeface="Arial"/>
              <a:buChar char="⚬"/>
            </a:pPr>
            <a:r>
              <a:rPr lang="en-US" sz="1050">
                <a:solidFill>
                  <a:srgbClr val="4C4C4D"/>
                </a:solidFill>
                <a:latin typeface="Heebo"/>
                <a:ea typeface="Heebo"/>
                <a:cs typeface="Heebo"/>
                <a:sym typeface="Heebo"/>
              </a:rPr>
              <a:t>Short-circuit protection (SCP)</a:t>
            </a:r>
          </a:p>
          <a:p>
            <a:pPr algn="l" marL="190321" indent="-95161" lvl="1">
              <a:lnSpc>
                <a:spcPts val="1260"/>
              </a:lnSpc>
              <a:buFont typeface="Arial"/>
              <a:buChar char="•"/>
            </a:pPr>
            <a:r>
              <a:rPr lang="en-US" sz="1050">
                <a:solidFill>
                  <a:srgbClr val="4C4C4D"/>
                </a:solidFill>
                <a:latin typeface="Heebo"/>
                <a:ea typeface="Heebo"/>
                <a:cs typeface="Heebo"/>
                <a:sym typeface="Heebo"/>
              </a:rPr>
              <a:t>Optimize PCB Layout             </a:t>
            </a:r>
          </a:p>
          <a:p>
            <a:pPr algn="l" marL="403848" indent="-134616" lvl="2">
              <a:lnSpc>
                <a:spcPts val="1260"/>
              </a:lnSpc>
              <a:buFont typeface="Arial"/>
              <a:buChar char="⚬"/>
            </a:pPr>
            <a:r>
              <a:rPr lang="en-US" sz="1050">
                <a:solidFill>
                  <a:srgbClr val="4C4C4D"/>
                </a:solidFill>
                <a:latin typeface="Heebo"/>
                <a:ea typeface="Heebo"/>
                <a:cs typeface="Heebo"/>
                <a:sym typeface="Heebo"/>
              </a:rPr>
              <a:t>Minimize electromagnetic interference (EMI)</a:t>
            </a:r>
          </a:p>
          <a:p>
            <a:pPr algn="l" marL="403848" indent="-134616" lvl="2">
              <a:lnSpc>
                <a:spcPts val="1260"/>
              </a:lnSpc>
              <a:buFont typeface="Arial"/>
              <a:buChar char="⚬"/>
            </a:pPr>
            <a:r>
              <a:rPr lang="en-US" sz="1050">
                <a:solidFill>
                  <a:srgbClr val="4C4C4D"/>
                </a:solidFill>
                <a:latin typeface="Heebo"/>
                <a:ea typeface="Heebo"/>
                <a:cs typeface="Heebo"/>
                <a:sym typeface="Heebo"/>
              </a:rPr>
              <a:t>Improve electromagnetic compatibility (EMC)</a:t>
            </a:r>
          </a:p>
          <a:p>
            <a:pPr algn="l" marL="403848" indent="-134616" lvl="2">
              <a:lnSpc>
                <a:spcPts val="1260"/>
              </a:lnSpc>
              <a:buFont typeface="Arial"/>
              <a:buChar char="⚬"/>
            </a:pPr>
            <a:r>
              <a:rPr lang="en-US" sz="1050">
                <a:solidFill>
                  <a:srgbClr val="4C4C4D"/>
                </a:solidFill>
                <a:latin typeface="Heebo"/>
                <a:ea typeface="Heebo"/>
                <a:cs typeface="Heebo"/>
                <a:sym typeface="Heebo"/>
              </a:rPr>
              <a:t>Reduce parasitic effects</a:t>
            </a:r>
          </a:p>
          <a:p>
            <a:pPr algn="l" marL="190321" indent="-95161" lvl="1">
              <a:lnSpc>
                <a:spcPts val="1260"/>
              </a:lnSpc>
              <a:buFont typeface="Arial"/>
              <a:buChar char="•"/>
            </a:pPr>
            <a:r>
              <a:rPr lang="en-US" sz="1050">
                <a:solidFill>
                  <a:srgbClr val="4C4C4D"/>
                </a:solidFill>
                <a:latin typeface="Heebo"/>
                <a:ea typeface="Heebo"/>
                <a:cs typeface="Heebo"/>
                <a:sym typeface="Heebo"/>
              </a:rPr>
              <a:t>Enable Industry 4.0 Features             </a:t>
            </a:r>
          </a:p>
          <a:p>
            <a:pPr algn="l" marL="403848" indent="-134616" lvl="2">
              <a:lnSpc>
                <a:spcPts val="1260"/>
              </a:lnSpc>
              <a:buFont typeface="Arial"/>
              <a:buChar char="⚬"/>
            </a:pPr>
            <a:r>
              <a:rPr lang="en-US" sz="1050">
                <a:solidFill>
                  <a:srgbClr val="4C4C4D"/>
                </a:solidFill>
                <a:latin typeface="Heebo"/>
                <a:ea typeface="Heebo"/>
                <a:cs typeface="Heebo"/>
                <a:sym typeface="Heebo"/>
              </a:rPr>
              <a:t>IoT-based remote monitoring</a:t>
            </a:r>
          </a:p>
          <a:p>
            <a:pPr algn="l" marL="403848" indent="-134616" lvl="2">
              <a:lnSpc>
                <a:spcPts val="1260"/>
              </a:lnSpc>
              <a:buFont typeface="Arial"/>
              <a:buChar char="⚬"/>
            </a:pPr>
            <a:r>
              <a:rPr lang="en-US" sz="1050">
                <a:solidFill>
                  <a:srgbClr val="4C4C4D"/>
                </a:solidFill>
                <a:latin typeface="Heebo"/>
                <a:ea typeface="Heebo"/>
                <a:cs typeface="Heebo"/>
                <a:sym typeface="Heebo"/>
              </a:rPr>
              <a:t>Predictive maintenance</a:t>
            </a:r>
          </a:p>
          <a:p>
            <a:pPr algn="l" marL="403848" indent="-134616" lvl="2">
              <a:lnSpc>
                <a:spcPts val="1260"/>
              </a:lnSpc>
              <a:buFont typeface="Arial"/>
              <a:buChar char="⚬"/>
            </a:pPr>
            <a:r>
              <a:rPr lang="en-US" sz="1050">
                <a:solidFill>
                  <a:srgbClr val="4C4C4D"/>
                </a:solidFill>
                <a:latin typeface="Heebo"/>
                <a:ea typeface="Heebo"/>
                <a:cs typeface="Heebo"/>
                <a:sym typeface="Heebo"/>
              </a:rPr>
              <a:t>Real-time fault diagnostics</a:t>
            </a:r>
          </a:p>
        </p:txBody>
      </p:sp>
      <p:sp>
        <p:nvSpPr>
          <p:cNvPr name="TextBox 14" id="14"/>
          <p:cNvSpPr txBox="true"/>
          <p:nvPr/>
        </p:nvSpPr>
        <p:spPr>
          <a:xfrm rot="0">
            <a:off x="992991" y="4688643"/>
            <a:ext cx="16315868" cy="383210"/>
          </a:xfrm>
          <a:prstGeom prst="rect">
            <a:avLst/>
          </a:prstGeom>
        </p:spPr>
        <p:txBody>
          <a:bodyPr anchor="t" rtlCol="false" tIns="0" lIns="0" bIns="0" rIns="0">
            <a:spAutoFit/>
          </a:bodyPr>
          <a:lstStyle/>
          <a:p>
            <a:pPr algn="l">
              <a:lnSpc>
                <a:spcPts val="2716"/>
              </a:lnSpc>
            </a:pPr>
            <a:r>
              <a:rPr lang="en-US" sz="2176">
                <a:solidFill>
                  <a:srgbClr val="152D47"/>
                </a:solidFill>
                <a:latin typeface="Crimson Pro"/>
                <a:ea typeface="Crimson Pro"/>
                <a:cs typeface="Crimson Pro"/>
                <a:sym typeface="Crimson Pro"/>
              </a:rPr>
              <a:t>Expected Industrial Benefits</a:t>
            </a:r>
          </a:p>
        </p:txBody>
      </p:sp>
      <p:sp>
        <p:nvSpPr>
          <p:cNvPr name="TextBox 15" id="15"/>
          <p:cNvSpPr txBox="true"/>
          <p:nvPr/>
        </p:nvSpPr>
        <p:spPr>
          <a:xfrm rot="0">
            <a:off x="992991" y="5239579"/>
            <a:ext cx="7984865" cy="231153"/>
          </a:xfrm>
          <a:prstGeom prst="rect">
            <a:avLst/>
          </a:prstGeom>
        </p:spPr>
        <p:txBody>
          <a:bodyPr anchor="t" rtlCol="false" tIns="0" lIns="0" bIns="0" rIns="0">
            <a:spAutoFit/>
          </a:bodyPr>
          <a:lstStyle/>
          <a:p>
            <a:pPr algn="l">
              <a:lnSpc>
                <a:spcPts val="1686"/>
              </a:lnSpc>
            </a:pPr>
            <a:r>
              <a:rPr lang="en-US" sz="1351">
                <a:solidFill>
                  <a:srgbClr val="152D47"/>
                </a:solidFill>
                <a:latin typeface="Crimson Pro"/>
                <a:ea typeface="Crimson Pro"/>
                <a:cs typeface="Crimson Pro"/>
                <a:sym typeface="Crimson Pro"/>
              </a:rPr>
              <a:t>Performance Metrics:</a:t>
            </a:r>
          </a:p>
        </p:txBody>
      </p:sp>
      <p:sp>
        <p:nvSpPr>
          <p:cNvPr name="TextBox 16" id="16"/>
          <p:cNvSpPr txBox="true"/>
          <p:nvPr/>
        </p:nvSpPr>
        <p:spPr>
          <a:xfrm rot="0">
            <a:off x="992991" y="5551151"/>
            <a:ext cx="7984865" cy="1720463"/>
          </a:xfrm>
          <a:prstGeom prst="rect">
            <a:avLst/>
          </a:prstGeom>
        </p:spPr>
        <p:txBody>
          <a:bodyPr anchor="t" rtlCol="false" tIns="0" lIns="0" bIns="0" rIns="0">
            <a:spAutoFit/>
          </a:bodyPr>
          <a:lstStyle/>
          <a:p>
            <a:pPr algn="l" marL="190321" indent="-95161" lvl="1">
              <a:lnSpc>
                <a:spcPts val="1260"/>
              </a:lnSpc>
              <a:buFont typeface="Arial"/>
              <a:buChar char="•"/>
            </a:pPr>
            <a:r>
              <a:rPr lang="en-US" sz="1050">
                <a:solidFill>
                  <a:srgbClr val="000000"/>
                </a:solidFill>
                <a:latin typeface="Heebo"/>
                <a:ea typeface="Heebo"/>
                <a:cs typeface="Heebo"/>
                <a:sym typeface="Heebo"/>
              </a:rPr>
              <a:t>⚡</a:t>
            </a:r>
            <a:r>
              <a:rPr lang="en-US" sz="1050">
                <a:solidFill>
                  <a:srgbClr val="4C4C4D"/>
                </a:solidFill>
                <a:latin typeface="Heebo"/>
                <a:ea typeface="Heebo"/>
                <a:cs typeface="Heebo"/>
                <a:sym typeface="Heebo"/>
              </a:rPr>
              <a:t> Lower RDS(on)             </a:t>
            </a:r>
          </a:p>
          <a:p>
            <a:pPr algn="l" marL="403848" indent="-134616" lvl="2">
              <a:lnSpc>
                <a:spcPts val="1260"/>
              </a:lnSpc>
              <a:buFont typeface="Arial"/>
              <a:buChar char="⚬"/>
            </a:pPr>
            <a:r>
              <a:rPr lang="en-US" sz="1050">
                <a:solidFill>
                  <a:srgbClr val="4C4C4D"/>
                </a:solidFill>
                <a:latin typeface="Heebo"/>
                <a:ea typeface="Heebo"/>
                <a:cs typeface="Heebo"/>
                <a:sym typeface="Heebo"/>
              </a:rPr>
              <a:t>Reduced conduction losses</a:t>
            </a:r>
          </a:p>
          <a:p>
            <a:pPr algn="l" marL="403848" indent="-134616" lvl="2">
              <a:lnSpc>
                <a:spcPts val="1260"/>
              </a:lnSpc>
              <a:buFont typeface="Arial"/>
              <a:buChar char="⚬"/>
            </a:pPr>
            <a:r>
              <a:rPr lang="en-US" sz="1050">
                <a:solidFill>
                  <a:srgbClr val="4C4C4D"/>
                </a:solidFill>
                <a:latin typeface="Heebo"/>
                <a:ea typeface="Heebo"/>
                <a:cs typeface="Heebo"/>
                <a:sym typeface="Heebo"/>
              </a:rPr>
              <a:t>Improved efficiency</a:t>
            </a:r>
          </a:p>
          <a:p>
            <a:pPr algn="l" marL="190321" indent="-95161" lvl="1">
              <a:lnSpc>
                <a:spcPts val="1260"/>
              </a:lnSpc>
              <a:buFont typeface="Arial"/>
              <a:buChar char="•"/>
            </a:pPr>
            <a:r>
              <a:rPr lang="en-US" sz="1050">
                <a:solidFill>
                  <a:srgbClr val="000000"/>
                </a:solidFill>
                <a:latin typeface="Heebo"/>
                <a:ea typeface="Heebo"/>
                <a:cs typeface="Heebo"/>
                <a:sym typeface="Heebo"/>
              </a:rPr>
              <a:t>🔄</a:t>
            </a:r>
            <a:r>
              <a:rPr lang="en-US" sz="1050">
                <a:solidFill>
                  <a:srgbClr val="4C4C4D"/>
                </a:solidFill>
                <a:latin typeface="Heebo"/>
                <a:ea typeface="Heebo"/>
                <a:cs typeface="Heebo"/>
                <a:sym typeface="Heebo"/>
              </a:rPr>
              <a:t> Faster Switching             </a:t>
            </a:r>
          </a:p>
          <a:p>
            <a:pPr algn="l" marL="403848" indent="-134616" lvl="2">
              <a:lnSpc>
                <a:spcPts val="1260"/>
              </a:lnSpc>
              <a:buFont typeface="Arial"/>
              <a:buChar char="⚬"/>
            </a:pPr>
            <a:r>
              <a:rPr lang="en-US" sz="1050">
                <a:solidFill>
                  <a:srgbClr val="4C4C4D"/>
                </a:solidFill>
                <a:latin typeface="Heebo"/>
                <a:ea typeface="Heebo"/>
                <a:cs typeface="Heebo"/>
                <a:sym typeface="Heebo"/>
              </a:rPr>
              <a:t>Higher frequency operation</a:t>
            </a:r>
          </a:p>
          <a:p>
            <a:pPr algn="l" marL="403848" indent="-134616" lvl="2">
              <a:lnSpc>
                <a:spcPts val="1260"/>
              </a:lnSpc>
              <a:buFont typeface="Arial"/>
              <a:buChar char="⚬"/>
            </a:pPr>
            <a:r>
              <a:rPr lang="en-US" sz="1050">
                <a:solidFill>
                  <a:srgbClr val="4C4C4D"/>
                </a:solidFill>
                <a:latin typeface="Heebo"/>
                <a:ea typeface="Heebo"/>
                <a:cs typeface="Heebo"/>
                <a:sym typeface="Heebo"/>
              </a:rPr>
              <a:t>Better power conversion</a:t>
            </a:r>
          </a:p>
          <a:p>
            <a:pPr algn="l" marL="190321" indent="-95161" lvl="1">
              <a:lnSpc>
                <a:spcPts val="1260"/>
              </a:lnSpc>
              <a:buFont typeface="Arial"/>
              <a:buChar char="•"/>
            </a:pPr>
            <a:r>
              <a:rPr lang="en-US" sz="1050">
                <a:solidFill>
                  <a:srgbClr val="000000"/>
                </a:solidFill>
                <a:latin typeface="Heebo"/>
                <a:ea typeface="Heebo"/>
                <a:cs typeface="Heebo"/>
                <a:sym typeface="Heebo"/>
              </a:rPr>
              <a:t>❄️</a:t>
            </a:r>
            <a:r>
              <a:rPr lang="en-US" sz="1050">
                <a:solidFill>
                  <a:srgbClr val="4C4C4D"/>
                </a:solidFill>
                <a:latin typeface="Heebo"/>
                <a:ea typeface="Heebo"/>
                <a:cs typeface="Heebo"/>
                <a:sym typeface="Heebo"/>
              </a:rPr>
              <a:t> Enhanced Thermal Management             </a:t>
            </a:r>
          </a:p>
          <a:p>
            <a:pPr algn="l" marL="403848" indent="-134616" lvl="2">
              <a:lnSpc>
                <a:spcPts val="1260"/>
              </a:lnSpc>
              <a:buFont typeface="Arial"/>
              <a:buChar char="⚬"/>
            </a:pPr>
            <a:r>
              <a:rPr lang="en-US" sz="1050">
                <a:solidFill>
                  <a:srgbClr val="4C4C4D"/>
                </a:solidFill>
                <a:latin typeface="Heebo"/>
                <a:ea typeface="Heebo"/>
                <a:cs typeface="Heebo"/>
                <a:sym typeface="Heebo"/>
              </a:rPr>
              <a:t>Lower leakage current</a:t>
            </a:r>
          </a:p>
          <a:p>
            <a:pPr algn="l" marL="403848" indent="-134616" lvl="2">
              <a:lnSpc>
                <a:spcPts val="1260"/>
              </a:lnSpc>
              <a:buFont typeface="Arial"/>
              <a:buChar char="⚬"/>
            </a:pPr>
            <a:r>
              <a:rPr lang="en-US" sz="1050">
                <a:solidFill>
                  <a:srgbClr val="4C4C4D"/>
                </a:solidFill>
                <a:latin typeface="Heebo"/>
                <a:ea typeface="Heebo"/>
                <a:cs typeface="Heebo"/>
                <a:sym typeface="Heebo"/>
              </a:rPr>
              <a:t>Improved heat dissipation</a:t>
            </a:r>
          </a:p>
        </p:txBody>
      </p:sp>
      <p:sp>
        <p:nvSpPr>
          <p:cNvPr name="TextBox 17" id="17"/>
          <p:cNvSpPr txBox="true"/>
          <p:nvPr/>
        </p:nvSpPr>
        <p:spPr>
          <a:xfrm rot="0">
            <a:off x="9333519" y="5239579"/>
            <a:ext cx="7984865" cy="231153"/>
          </a:xfrm>
          <a:prstGeom prst="rect">
            <a:avLst/>
          </a:prstGeom>
        </p:spPr>
        <p:txBody>
          <a:bodyPr anchor="t" rtlCol="false" tIns="0" lIns="0" bIns="0" rIns="0">
            <a:spAutoFit/>
          </a:bodyPr>
          <a:lstStyle/>
          <a:p>
            <a:pPr algn="l">
              <a:lnSpc>
                <a:spcPts val="1686"/>
              </a:lnSpc>
            </a:pPr>
            <a:r>
              <a:rPr lang="en-US" sz="1351">
                <a:solidFill>
                  <a:srgbClr val="152D47"/>
                </a:solidFill>
                <a:latin typeface="Crimson Pro"/>
                <a:ea typeface="Crimson Pro"/>
                <a:cs typeface="Crimson Pro"/>
                <a:sym typeface="Crimson Pro"/>
              </a:rPr>
              <a:t>System Benefits:</a:t>
            </a:r>
          </a:p>
        </p:txBody>
      </p:sp>
      <p:sp>
        <p:nvSpPr>
          <p:cNvPr name="TextBox 18" id="18"/>
          <p:cNvSpPr txBox="true"/>
          <p:nvPr/>
        </p:nvSpPr>
        <p:spPr>
          <a:xfrm rot="0">
            <a:off x="9333519" y="5551151"/>
            <a:ext cx="7984865" cy="1915430"/>
          </a:xfrm>
          <a:prstGeom prst="rect">
            <a:avLst/>
          </a:prstGeom>
        </p:spPr>
        <p:txBody>
          <a:bodyPr anchor="t" rtlCol="false" tIns="0" lIns="0" bIns="0" rIns="0">
            <a:spAutoFit/>
          </a:bodyPr>
          <a:lstStyle/>
          <a:p>
            <a:pPr algn="l" marL="190321" indent="-95161" lvl="1">
              <a:lnSpc>
                <a:spcPts val="1260"/>
              </a:lnSpc>
              <a:buFont typeface="Arial"/>
              <a:buChar char="•"/>
            </a:pPr>
            <a:r>
              <a:rPr lang="en-US" sz="1050">
                <a:solidFill>
                  <a:srgbClr val="000000"/>
                </a:solidFill>
                <a:latin typeface="Heebo"/>
                <a:ea typeface="Heebo"/>
                <a:cs typeface="Heebo"/>
                <a:sym typeface="Heebo"/>
              </a:rPr>
              <a:t>📦</a:t>
            </a:r>
            <a:r>
              <a:rPr lang="en-US" sz="1050">
                <a:solidFill>
                  <a:srgbClr val="4C4C4D"/>
                </a:solidFill>
                <a:latin typeface="Heebo"/>
                <a:ea typeface="Heebo"/>
                <a:cs typeface="Heebo"/>
                <a:sym typeface="Heebo"/>
              </a:rPr>
              <a:t> Higher Power Density             </a:t>
            </a:r>
          </a:p>
          <a:p>
            <a:pPr algn="l" marL="403848" indent="-134616" lvl="2">
              <a:lnSpc>
                <a:spcPts val="1260"/>
              </a:lnSpc>
              <a:buFont typeface="Arial"/>
              <a:buChar char="⚬"/>
            </a:pPr>
            <a:r>
              <a:rPr lang="en-US" sz="1050">
                <a:solidFill>
                  <a:srgbClr val="4C4C4D"/>
                </a:solidFill>
                <a:latin typeface="Heebo"/>
                <a:ea typeface="Heebo"/>
                <a:cs typeface="Heebo"/>
                <a:sym typeface="Heebo"/>
              </a:rPr>
              <a:t>Compact circuit implementation</a:t>
            </a:r>
          </a:p>
          <a:p>
            <a:pPr algn="l" marL="403848" indent="-134616" lvl="2">
              <a:lnSpc>
                <a:spcPts val="1260"/>
              </a:lnSpc>
              <a:buFont typeface="Arial"/>
              <a:buChar char="⚬"/>
            </a:pPr>
            <a:r>
              <a:rPr lang="en-US" sz="1050">
                <a:solidFill>
                  <a:srgbClr val="4C4C4D"/>
                </a:solidFill>
                <a:latin typeface="Heebo"/>
                <a:ea typeface="Heebo"/>
                <a:cs typeface="Heebo"/>
                <a:sym typeface="Heebo"/>
              </a:rPr>
              <a:t>Reduced component count</a:t>
            </a:r>
          </a:p>
          <a:p>
            <a:pPr algn="l" marL="190321" indent="-95161" lvl="1">
              <a:lnSpc>
                <a:spcPts val="1260"/>
              </a:lnSpc>
              <a:buFont typeface="Arial"/>
              <a:buChar char="•"/>
            </a:pPr>
            <a:r>
              <a:rPr lang="en-US" sz="1050">
                <a:solidFill>
                  <a:srgbClr val="000000"/>
                </a:solidFill>
                <a:latin typeface="Heebo"/>
                <a:ea typeface="Heebo"/>
                <a:cs typeface="Heebo"/>
                <a:sym typeface="Heebo"/>
              </a:rPr>
              <a:t>🛡️</a:t>
            </a:r>
            <a:r>
              <a:rPr lang="en-US" sz="1050">
                <a:solidFill>
                  <a:srgbClr val="4C4C4D"/>
                </a:solidFill>
                <a:latin typeface="Heebo"/>
                <a:ea typeface="Heebo"/>
                <a:cs typeface="Heebo"/>
                <a:sym typeface="Heebo"/>
              </a:rPr>
              <a:t> Increased Reliability             </a:t>
            </a:r>
          </a:p>
          <a:p>
            <a:pPr algn="l" marL="403848" indent="-134616" lvl="2">
              <a:lnSpc>
                <a:spcPts val="1260"/>
              </a:lnSpc>
              <a:buFont typeface="Arial"/>
              <a:buChar char="⚬"/>
            </a:pPr>
            <a:r>
              <a:rPr lang="en-US" sz="1050">
                <a:solidFill>
                  <a:srgbClr val="4C4C4D"/>
                </a:solidFill>
                <a:latin typeface="Heebo"/>
                <a:ea typeface="Heebo"/>
                <a:cs typeface="Heebo"/>
                <a:sym typeface="Heebo"/>
              </a:rPr>
              <a:t>Extended system lifetime</a:t>
            </a:r>
          </a:p>
          <a:p>
            <a:pPr algn="l" marL="403848" indent="-134616" lvl="2">
              <a:lnSpc>
                <a:spcPts val="1260"/>
              </a:lnSpc>
              <a:buFont typeface="Arial"/>
              <a:buChar char="⚬"/>
            </a:pPr>
            <a:r>
              <a:rPr lang="en-US" sz="1050">
                <a:solidFill>
                  <a:srgbClr val="4C4C4D"/>
                </a:solidFill>
                <a:latin typeface="Heebo"/>
                <a:ea typeface="Heebo"/>
                <a:cs typeface="Heebo"/>
                <a:sym typeface="Heebo"/>
              </a:rPr>
              <a:t>Mission-critical performance</a:t>
            </a:r>
          </a:p>
          <a:p>
            <a:pPr algn="l" marL="190321" indent="-95161" lvl="1">
              <a:lnSpc>
                <a:spcPts val="1260"/>
              </a:lnSpc>
              <a:buFont typeface="Arial"/>
              <a:buChar char="•"/>
            </a:pPr>
            <a:r>
              <a:rPr lang="en-US" sz="1050">
                <a:solidFill>
                  <a:srgbClr val="000000"/>
                </a:solidFill>
                <a:latin typeface="Heebo"/>
                <a:ea typeface="Heebo"/>
                <a:cs typeface="Heebo"/>
                <a:sym typeface="Heebo"/>
              </a:rPr>
              <a:t>🌐</a:t>
            </a:r>
            <a:r>
              <a:rPr lang="en-US" sz="1050">
                <a:solidFill>
                  <a:srgbClr val="4C4C4D"/>
                </a:solidFill>
                <a:latin typeface="Heebo"/>
                <a:ea typeface="Heebo"/>
                <a:cs typeface="Heebo"/>
                <a:sym typeface="Heebo"/>
              </a:rPr>
              <a:t> Industry 4.0 Ready             </a:t>
            </a:r>
          </a:p>
          <a:p>
            <a:pPr algn="l" marL="403848" indent="-134616" lvl="2">
              <a:lnSpc>
                <a:spcPts val="1260"/>
              </a:lnSpc>
              <a:buFont typeface="Arial"/>
              <a:buChar char="⚬"/>
            </a:pPr>
            <a:r>
              <a:rPr lang="en-US" sz="1050">
                <a:solidFill>
                  <a:srgbClr val="4C4C4D"/>
                </a:solidFill>
                <a:latin typeface="Heebo"/>
                <a:ea typeface="Heebo"/>
                <a:cs typeface="Heebo"/>
                <a:sym typeface="Heebo"/>
              </a:rPr>
              <a:t>Remote monitoring capability</a:t>
            </a:r>
          </a:p>
          <a:p>
            <a:pPr algn="l" marL="403848" indent="-134616" lvl="2">
              <a:lnSpc>
                <a:spcPts val="1260"/>
              </a:lnSpc>
              <a:buFont typeface="Arial"/>
              <a:buChar char="⚬"/>
            </a:pPr>
            <a:r>
              <a:rPr lang="en-US" sz="1050">
                <a:solidFill>
                  <a:srgbClr val="4C4C4D"/>
                </a:solidFill>
                <a:latin typeface="Heebo"/>
                <a:ea typeface="Heebo"/>
                <a:cs typeface="Heebo"/>
                <a:sym typeface="Heebo"/>
              </a:rPr>
              <a:t>Predictive maintenance</a:t>
            </a:r>
          </a:p>
          <a:p>
            <a:pPr algn="l" marL="403848" indent="-134616" lvl="2">
              <a:lnSpc>
                <a:spcPts val="1260"/>
              </a:lnSpc>
              <a:buFont typeface="Arial"/>
              <a:buChar char="⚬"/>
            </a:pPr>
            <a:r>
              <a:rPr lang="en-US" sz="1050">
                <a:solidFill>
                  <a:srgbClr val="4C4C4D"/>
                </a:solidFill>
                <a:latin typeface="Heebo"/>
                <a:ea typeface="Heebo"/>
                <a:cs typeface="Heebo"/>
                <a:sym typeface="Heebo"/>
              </a:rPr>
              <a:t>Smart diagnostics</a:t>
            </a:r>
          </a:p>
        </p:txBody>
      </p:sp>
      <p:sp>
        <p:nvSpPr>
          <p:cNvPr name="TextBox 19" id="19"/>
          <p:cNvSpPr txBox="true"/>
          <p:nvPr/>
        </p:nvSpPr>
        <p:spPr>
          <a:xfrm rot="0">
            <a:off x="992991" y="7569079"/>
            <a:ext cx="16315868" cy="383210"/>
          </a:xfrm>
          <a:prstGeom prst="rect">
            <a:avLst/>
          </a:prstGeom>
        </p:spPr>
        <p:txBody>
          <a:bodyPr anchor="t" rtlCol="false" tIns="0" lIns="0" bIns="0" rIns="0">
            <a:spAutoFit/>
          </a:bodyPr>
          <a:lstStyle/>
          <a:p>
            <a:pPr algn="l">
              <a:lnSpc>
                <a:spcPts val="2716"/>
              </a:lnSpc>
            </a:pPr>
            <a:r>
              <a:rPr lang="en-US" sz="2176">
                <a:solidFill>
                  <a:srgbClr val="152D47"/>
                </a:solidFill>
                <a:latin typeface="Crimson Pro"/>
                <a:ea typeface="Crimson Pro"/>
                <a:cs typeface="Crimson Pro"/>
                <a:sym typeface="Crimson Pro"/>
              </a:rPr>
              <a:t>Application Domains</a:t>
            </a:r>
          </a:p>
        </p:txBody>
      </p:sp>
      <p:sp>
        <p:nvSpPr>
          <p:cNvPr name="TextBox 20" id="20"/>
          <p:cNvSpPr txBox="true"/>
          <p:nvPr/>
        </p:nvSpPr>
        <p:spPr>
          <a:xfrm rot="0">
            <a:off x="992991" y="8068170"/>
            <a:ext cx="1723095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The proposed PMOS high-side driver is suitable for:</a:t>
            </a:r>
          </a:p>
        </p:txBody>
      </p:sp>
      <p:sp>
        <p:nvSpPr>
          <p:cNvPr name="TextBox 21" id="21"/>
          <p:cNvSpPr txBox="true"/>
          <p:nvPr/>
        </p:nvSpPr>
        <p:spPr>
          <a:xfrm rot="0">
            <a:off x="992991" y="8318097"/>
            <a:ext cx="16315868" cy="1525495"/>
          </a:xfrm>
          <a:prstGeom prst="rect">
            <a:avLst/>
          </a:prstGeom>
        </p:spPr>
        <p:txBody>
          <a:bodyPr anchor="t" rtlCol="false" tIns="0" lIns="0" bIns="0" rIns="0">
            <a:spAutoFit/>
          </a:bodyPr>
          <a:lstStyle/>
          <a:p>
            <a:pPr algn="l" marL="190321" indent="-95161" lvl="1">
              <a:lnSpc>
                <a:spcPts val="1260"/>
              </a:lnSpc>
              <a:buFont typeface="Arial"/>
              <a:buChar char="•"/>
            </a:pPr>
            <a:r>
              <a:rPr lang="en-US" sz="1050">
                <a:solidFill>
                  <a:srgbClr val="000000"/>
                </a:solidFill>
                <a:latin typeface="Heebo"/>
                <a:ea typeface="Heebo"/>
                <a:cs typeface="Heebo"/>
                <a:sym typeface="Heebo"/>
              </a:rPr>
              <a:t>✔</a:t>
            </a:r>
            <a:r>
              <a:rPr lang="en-US" sz="1050">
                <a:solidFill>
                  <a:srgbClr val="4C4C4D"/>
                </a:solidFill>
                <a:latin typeface="Heebo"/>
                <a:ea typeface="Heebo"/>
                <a:cs typeface="Heebo"/>
                <a:sym typeface="Heebo"/>
              </a:rPr>
              <a:t> Industrial automation and PLC systems</a:t>
            </a:r>
          </a:p>
          <a:p>
            <a:pPr algn="l" marL="190321" indent="-95161" lvl="1">
              <a:lnSpc>
                <a:spcPts val="1260"/>
              </a:lnSpc>
              <a:buFont typeface="Arial"/>
              <a:buChar char="•"/>
            </a:pPr>
            <a:r>
              <a:rPr lang="en-US" sz="1050">
                <a:solidFill>
                  <a:srgbClr val="000000"/>
                </a:solidFill>
                <a:latin typeface="Heebo"/>
                <a:ea typeface="Heebo"/>
                <a:cs typeface="Heebo"/>
                <a:sym typeface="Heebo"/>
              </a:rPr>
              <a:t>✔</a:t>
            </a:r>
            <a:r>
              <a:rPr lang="en-US" sz="1050">
                <a:solidFill>
                  <a:srgbClr val="4C4C4D"/>
                </a:solidFill>
                <a:latin typeface="Heebo"/>
                <a:ea typeface="Heebo"/>
                <a:cs typeface="Heebo"/>
                <a:sym typeface="Heebo"/>
              </a:rPr>
              <a:t> Motor drives and servo control</a:t>
            </a:r>
          </a:p>
          <a:p>
            <a:pPr algn="l" marL="190321" indent="-95161" lvl="1">
              <a:lnSpc>
                <a:spcPts val="1260"/>
              </a:lnSpc>
              <a:buFont typeface="Arial"/>
              <a:buChar char="•"/>
            </a:pPr>
            <a:r>
              <a:rPr lang="en-US" sz="1050">
                <a:solidFill>
                  <a:srgbClr val="000000"/>
                </a:solidFill>
                <a:latin typeface="Heebo"/>
                <a:ea typeface="Heebo"/>
                <a:cs typeface="Heebo"/>
                <a:sym typeface="Heebo"/>
              </a:rPr>
              <a:t>✔</a:t>
            </a:r>
            <a:r>
              <a:rPr lang="en-US" sz="1050">
                <a:solidFill>
                  <a:srgbClr val="4C4C4D"/>
                </a:solidFill>
                <a:latin typeface="Heebo"/>
                <a:ea typeface="Heebo"/>
                <a:cs typeface="Heebo"/>
                <a:sym typeface="Heebo"/>
              </a:rPr>
              <a:t> Battery management systems (BMS)</a:t>
            </a:r>
          </a:p>
          <a:p>
            <a:pPr algn="l" marL="190321" indent="-95161" lvl="1">
              <a:lnSpc>
                <a:spcPts val="1260"/>
              </a:lnSpc>
              <a:buFont typeface="Arial"/>
              <a:buChar char="•"/>
            </a:pPr>
            <a:r>
              <a:rPr lang="en-US" sz="1050">
                <a:solidFill>
                  <a:srgbClr val="000000"/>
                </a:solidFill>
                <a:latin typeface="Heebo"/>
                <a:ea typeface="Heebo"/>
                <a:cs typeface="Heebo"/>
                <a:sym typeface="Heebo"/>
              </a:rPr>
              <a:t>✔</a:t>
            </a:r>
            <a:r>
              <a:rPr lang="en-US" sz="1050">
                <a:solidFill>
                  <a:srgbClr val="4C4C4D"/>
                </a:solidFill>
                <a:latin typeface="Heebo"/>
                <a:ea typeface="Heebo"/>
                <a:cs typeface="Heebo"/>
                <a:sym typeface="Heebo"/>
              </a:rPr>
              <a:t> Renewable energy converters (solar, wind)</a:t>
            </a:r>
          </a:p>
          <a:p>
            <a:pPr algn="l" marL="190321" indent="-95161" lvl="1">
              <a:lnSpc>
                <a:spcPts val="1260"/>
              </a:lnSpc>
              <a:buFont typeface="Arial"/>
              <a:buChar char="•"/>
            </a:pPr>
            <a:r>
              <a:rPr lang="en-US" sz="1050">
                <a:solidFill>
                  <a:srgbClr val="000000"/>
                </a:solidFill>
                <a:latin typeface="Heebo"/>
                <a:ea typeface="Heebo"/>
                <a:cs typeface="Heebo"/>
                <a:sym typeface="Heebo"/>
              </a:rPr>
              <a:t>✔</a:t>
            </a:r>
            <a:r>
              <a:rPr lang="en-US" sz="1050">
                <a:solidFill>
                  <a:srgbClr val="4C4C4D"/>
                </a:solidFill>
                <a:latin typeface="Heebo"/>
                <a:ea typeface="Heebo"/>
                <a:cs typeface="Heebo"/>
                <a:sym typeface="Heebo"/>
              </a:rPr>
              <a:t> Electric vehicle power electronics</a:t>
            </a:r>
          </a:p>
          <a:p>
            <a:pPr algn="l" marL="190321" indent="-95161" lvl="1">
              <a:lnSpc>
                <a:spcPts val="1260"/>
              </a:lnSpc>
              <a:buFont typeface="Arial"/>
              <a:buChar char="•"/>
            </a:pPr>
            <a:r>
              <a:rPr lang="en-US" sz="1050">
                <a:solidFill>
                  <a:srgbClr val="000000"/>
                </a:solidFill>
                <a:latin typeface="Heebo"/>
                <a:ea typeface="Heebo"/>
                <a:cs typeface="Heebo"/>
                <a:sym typeface="Heebo"/>
              </a:rPr>
              <a:t>✔</a:t>
            </a:r>
            <a:r>
              <a:rPr lang="en-US" sz="1050">
                <a:solidFill>
                  <a:srgbClr val="4C4C4D"/>
                </a:solidFill>
                <a:latin typeface="Heebo"/>
                <a:ea typeface="Heebo"/>
                <a:cs typeface="Heebo"/>
                <a:sym typeface="Heebo"/>
              </a:rPr>
              <a:t> Robotics and smart manufacturing</a:t>
            </a:r>
          </a:p>
          <a:p>
            <a:pPr algn="l" marL="190321" indent="-95161" lvl="1">
              <a:lnSpc>
                <a:spcPts val="1260"/>
              </a:lnSpc>
              <a:buFont typeface="Arial"/>
              <a:buChar char="•"/>
            </a:pPr>
            <a:r>
              <a:rPr lang="en-US" sz="1050">
                <a:solidFill>
                  <a:srgbClr val="000000"/>
                </a:solidFill>
                <a:latin typeface="Heebo"/>
                <a:ea typeface="Heebo"/>
                <a:cs typeface="Heebo"/>
                <a:sym typeface="Heebo"/>
              </a:rPr>
              <a:t>✔</a:t>
            </a:r>
            <a:r>
              <a:rPr lang="en-US" sz="1050">
                <a:solidFill>
                  <a:srgbClr val="4C4C4D"/>
                </a:solidFill>
                <a:latin typeface="Heebo"/>
                <a:ea typeface="Heebo"/>
                <a:cs typeface="Heebo"/>
                <a:sym typeface="Heebo"/>
              </a:rPr>
              <a:t> Uninterruptible power supply (UPS)</a:t>
            </a:r>
          </a:p>
          <a:p>
            <a:pPr algn="l" marL="190321" indent="-95161" lvl="1">
              <a:lnSpc>
                <a:spcPts val="1260"/>
              </a:lnSpc>
              <a:buFont typeface="Arial"/>
              <a:buChar char="•"/>
            </a:pPr>
            <a:r>
              <a:rPr lang="en-US" sz="1050">
                <a:solidFill>
                  <a:srgbClr val="000000"/>
                </a:solidFill>
                <a:latin typeface="Heebo"/>
                <a:ea typeface="Heebo"/>
                <a:cs typeface="Heebo"/>
                <a:sym typeface="Heebo"/>
              </a:rPr>
              <a:t>✔</a:t>
            </a:r>
            <a:r>
              <a:rPr lang="en-US" sz="1050">
                <a:solidFill>
                  <a:srgbClr val="4C4C4D"/>
                </a:solidFill>
                <a:latin typeface="Heebo"/>
                <a:ea typeface="Heebo"/>
                <a:cs typeface="Heebo"/>
                <a:sym typeface="Heebo"/>
              </a:rPr>
              <a:t> Power distribution systems</a:t>
            </a:r>
          </a:p>
        </p:txBody>
      </p:sp>
      <p:sp>
        <p:nvSpPr>
          <p:cNvPr name="TextBox 22" id="22"/>
          <p:cNvSpPr txBox="true"/>
          <p:nvPr/>
        </p:nvSpPr>
        <p:spPr>
          <a:xfrm rot="0">
            <a:off x="992991" y="9921364"/>
            <a:ext cx="16315868" cy="383210"/>
          </a:xfrm>
          <a:prstGeom prst="rect">
            <a:avLst/>
          </a:prstGeom>
        </p:spPr>
        <p:txBody>
          <a:bodyPr anchor="t" rtlCol="false" tIns="0" lIns="0" bIns="0" rIns="0">
            <a:spAutoFit/>
          </a:bodyPr>
          <a:lstStyle/>
          <a:p>
            <a:pPr algn="l">
              <a:lnSpc>
                <a:spcPts val="2716"/>
              </a:lnSpc>
            </a:pPr>
            <a:r>
              <a:rPr lang="en-US" sz="2176">
                <a:solidFill>
                  <a:srgbClr val="152D47"/>
                </a:solidFill>
                <a:latin typeface="Crimson Pro"/>
                <a:ea typeface="Crimson Pro"/>
                <a:cs typeface="Crimson Pro"/>
                <a:sym typeface="Crimson Pro"/>
              </a:rPr>
              <a:t>Conclusion</a:t>
            </a:r>
          </a:p>
        </p:txBody>
      </p:sp>
      <p:sp>
        <p:nvSpPr>
          <p:cNvPr name="TextBox 23" id="23"/>
          <p:cNvSpPr txBox="true"/>
          <p:nvPr/>
        </p:nvSpPr>
        <p:spPr>
          <a:xfrm rot="0">
            <a:off x="992991" y="10420445"/>
            <a:ext cx="1723095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Future development of the proposed PMOS high-side driver can leverage FinFET, GAAFET, and CFET technologies to achieve:</a:t>
            </a:r>
          </a:p>
        </p:txBody>
      </p:sp>
      <p:sp>
        <p:nvSpPr>
          <p:cNvPr name="TextBox 24" id="24"/>
          <p:cNvSpPr txBox="true"/>
          <p:nvPr/>
        </p:nvSpPr>
        <p:spPr>
          <a:xfrm rot="0">
            <a:off x="992991" y="10670372"/>
            <a:ext cx="16315868" cy="940594"/>
          </a:xfrm>
          <a:prstGeom prst="rect">
            <a:avLst/>
          </a:prstGeom>
        </p:spPr>
        <p:txBody>
          <a:bodyPr anchor="t" rtlCol="false" tIns="0" lIns="0" bIns="0" rIns="0">
            <a:spAutoFit/>
          </a:bodyPr>
          <a:lstStyle/>
          <a:p>
            <a:pPr algn="l" marL="190321" indent="-95161" lvl="1">
              <a:lnSpc>
                <a:spcPts val="1260"/>
              </a:lnSpc>
              <a:buFont typeface="Arial"/>
              <a:buChar char="•"/>
            </a:pPr>
            <a:r>
              <a:rPr lang="en-US" sz="1050">
                <a:solidFill>
                  <a:srgbClr val="4C4C4D"/>
                </a:solidFill>
                <a:latin typeface="Heebo"/>
                <a:ea typeface="Heebo"/>
                <a:cs typeface="Heebo"/>
                <a:sym typeface="Heebo"/>
              </a:rPr>
              <a:t>Higher efficiency and improved reliability</a:t>
            </a:r>
          </a:p>
          <a:p>
            <a:pPr algn="l" marL="190321" indent="-95161" lvl="1">
              <a:lnSpc>
                <a:spcPts val="1260"/>
              </a:lnSpc>
              <a:buFont typeface="Arial"/>
              <a:buChar char="•"/>
            </a:pPr>
            <a:r>
              <a:rPr lang="en-US" sz="1050">
                <a:solidFill>
                  <a:srgbClr val="4C4C4D"/>
                </a:solidFill>
                <a:latin typeface="Heebo"/>
                <a:ea typeface="Heebo"/>
                <a:cs typeface="Heebo"/>
                <a:sym typeface="Heebo"/>
              </a:rPr>
              <a:t>Greater integration and compact design</a:t>
            </a:r>
          </a:p>
          <a:p>
            <a:pPr algn="l" marL="190321" indent="-95161" lvl="1">
              <a:lnSpc>
                <a:spcPts val="1260"/>
              </a:lnSpc>
              <a:buFont typeface="Arial"/>
              <a:buChar char="•"/>
            </a:pPr>
            <a:r>
              <a:rPr lang="en-US" sz="1050">
                <a:solidFill>
                  <a:srgbClr val="4C4C4D"/>
                </a:solidFill>
                <a:latin typeface="Heebo"/>
                <a:ea typeface="Heebo"/>
                <a:cs typeface="Heebo"/>
                <a:sym typeface="Heebo"/>
              </a:rPr>
              <a:t>Combined with SiC/GaN devices for advanced performance</a:t>
            </a:r>
          </a:p>
          <a:p>
            <a:pPr algn="l" marL="190321" indent="-95161" lvl="1">
              <a:lnSpc>
                <a:spcPts val="1260"/>
              </a:lnSpc>
              <a:buFont typeface="Arial"/>
              <a:buChar char="•"/>
            </a:pPr>
            <a:r>
              <a:rPr lang="en-US" sz="1050">
                <a:solidFill>
                  <a:srgbClr val="4C4C4D"/>
                </a:solidFill>
                <a:latin typeface="Heebo"/>
                <a:ea typeface="Heebo"/>
                <a:cs typeface="Heebo"/>
                <a:sym typeface="Heebo"/>
              </a:rPr>
              <a:t>Industry 4.0 connectivity for intelligent monitoring</a:t>
            </a:r>
          </a:p>
          <a:p>
            <a:pPr algn="l" marL="190321" indent="-95161" lvl="1">
              <a:lnSpc>
                <a:spcPts val="1260"/>
              </a:lnSpc>
              <a:buFont typeface="Arial"/>
              <a:buChar char="•"/>
            </a:pPr>
            <a:r>
              <a:rPr lang="en-US" sz="1050">
                <a:solidFill>
                  <a:srgbClr val="4C4C4D"/>
                </a:solidFill>
                <a:latin typeface="Heebo"/>
                <a:ea typeface="Heebo"/>
                <a:cs typeface="Heebo"/>
                <a:sym typeface="Heebo"/>
              </a:rPr>
              <a:t>Support for compact, intelligent, and high-performance industrial power-switching solutions</a:t>
            </a:r>
          </a:p>
        </p:txBody>
      </p:sp>
      <p:sp>
        <p:nvSpPr>
          <p:cNvPr name="TextBox 25" id="25"/>
          <p:cNvSpPr txBox="true"/>
          <p:nvPr/>
        </p:nvSpPr>
        <p:spPr>
          <a:xfrm rot="0">
            <a:off x="992991" y="11707787"/>
            <a:ext cx="16315868" cy="231153"/>
          </a:xfrm>
          <a:prstGeom prst="rect">
            <a:avLst/>
          </a:prstGeom>
        </p:spPr>
        <p:txBody>
          <a:bodyPr anchor="t" rtlCol="false" tIns="0" lIns="0" bIns="0" rIns="0">
            <a:spAutoFit/>
          </a:bodyPr>
          <a:lstStyle/>
          <a:p>
            <a:pPr algn="l">
              <a:lnSpc>
                <a:spcPts val="1686"/>
              </a:lnSpc>
            </a:pPr>
            <a:r>
              <a:rPr lang="en-US" sz="1351">
                <a:solidFill>
                  <a:srgbClr val="152D47"/>
                </a:solidFill>
                <a:latin typeface="Crimson Pro"/>
                <a:ea typeface="Crimson Pro"/>
                <a:cs typeface="Crimson Pro"/>
                <a:sym typeface="Crimson Pro"/>
              </a:rPr>
              <a:t>Vision:</a:t>
            </a:r>
          </a:p>
        </p:txBody>
      </p:sp>
      <p:sp>
        <p:nvSpPr>
          <p:cNvPr name="TextBox 26" id="26"/>
          <p:cNvSpPr txBox="true"/>
          <p:nvPr/>
        </p:nvSpPr>
        <p:spPr>
          <a:xfrm rot="0">
            <a:off x="992991" y="12054811"/>
            <a:ext cx="17230954" cy="160715"/>
          </a:xfrm>
          <a:prstGeom prst="rect">
            <a:avLst/>
          </a:prstGeom>
        </p:spPr>
        <p:txBody>
          <a:bodyPr anchor="t" rtlCol="false" tIns="0" lIns="0" bIns="0" rIns="0">
            <a:spAutoFit/>
          </a:bodyPr>
          <a:lstStyle/>
          <a:p>
            <a:pPr algn="l">
              <a:lnSpc>
                <a:spcPts val="1260"/>
              </a:lnSpc>
            </a:pPr>
            <a:r>
              <a:rPr lang="en-US" sz="1050">
                <a:solidFill>
                  <a:srgbClr val="4C4C4D"/>
                </a:solidFill>
                <a:latin typeface="Heebo"/>
                <a:ea typeface="Heebo"/>
                <a:cs typeface="Heebo"/>
                <a:sym typeface="Heebo"/>
              </a:rPr>
              <a:t>Next-generation industrial power electronics with enhanced performance, reliability, and intelligence through advanced semiconductor technologies and IoT integration.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DAHRerw4Epk</dc:identifier>
  <dcterms:modified xsi:type="dcterms:W3CDTF">2011-08-01T06:04:30Z</dcterms:modified>
  <cp:revision>1</cp:revision>
  <dc:title>Circuit-01General-PMOS-NMOS-High-Side-Driver.pptx</dc:title>
</cp:coreProperties>
</file>